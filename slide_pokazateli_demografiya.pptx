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перечень составлен по содержимому слайдов 22 и 23 презентации (демографический прогноз Великого Новгорода с суммарным коэффициентом рождаемости и половозрастная структура), без привязки к конкретным слайдам. Источники данных в презентации для этих примеров указаны на самих слайдах (Новгородстат, Башкортостанстат), поэтому отдельной колонки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ПОКАЗАТЕЛИ ДЕМОГРАФИЧЕСКОГО АНАЛИЗА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Динамика, половозрастная структура и нагрузка на трудоспособное население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Заголовок колонки"/>
          <p:cNvSpPr txBox="1"/>
          <p:nvPr/>
        </p:nvSpPr>
        <p:spPr>
          <a:xfrm>
            <a:off x="1417320" y="2057400"/>
            <a:ext cx="6766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ПОКАЗАТЕЛЬ</a:t>
            </a:r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8412480" y="2057400"/>
            <a:ext cx="3566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ЕДИНИЦА</a:t>
            </a:r>
          </a:p>
        </p:txBody>
      </p:sp>
      <p:sp>
        <p:nvSpPr>
          <p:cNvPr id="205" name="Заголовок колонки"/>
          <p:cNvSpPr txBox="1"/>
          <p:nvPr/>
        </p:nvSpPr>
        <p:spPr>
          <a:xfrm>
            <a:off x="12252960" y="2057400"/>
            <a:ext cx="5303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ЧТО ПОКАЗЫВАЕТ</a:t>
            </a:r>
          </a:p>
        </p:txBody>
      </p:sp>
      <p:cxnSp>
        <p:nvCxnSpPr>
          <p:cNvPr id="206" name="Линия заголовка"/>
          <p:cNvCxnSpPr/>
          <p:nvPr/>
        </p:nvCxnSpPr>
        <p:spPr>
          <a:xfrm>
            <a:off x="1069848" y="2514600"/>
            <a:ext cx="16870679" cy="0"/>
          </a:xfrm>
          <a:prstGeom prst="line">
            <a:avLst/>
          </a:prstGeom>
          <a:ln w="19050">
            <a:solidFill>
              <a:srgbClr val="062D3F"/>
            </a:solidFill>
          </a:ln>
        </p:spPr>
      </p:cxnSp>
      <p:sp>
        <p:nvSpPr>
          <p:cNvPr id="207" name="Текст"/>
          <p:cNvSpPr txBox="1"/>
          <p:nvPr/>
        </p:nvSpPr>
        <p:spPr>
          <a:xfrm>
            <a:off x="1417320" y="262432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Численность населения</a:t>
            </a:r>
          </a:p>
        </p:txBody>
      </p:sp>
      <p:sp>
        <p:nvSpPr>
          <p:cNvPr id="208" name="Текст"/>
          <p:cNvSpPr txBox="1"/>
          <p:nvPr/>
        </p:nvSpPr>
        <p:spPr>
          <a:xfrm>
            <a:off x="8412480" y="262432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тыс. чел.</a:t>
            </a:r>
          </a:p>
        </p:txBody>
      </p:sp>
      <p:sp>
        <p:nvSpPr>
          <p:cNvPr id="209" name="Текст"/>
          <p:cNvSpPr txBox="1"/>
          <p:nvPr/>
        </p:nvSpPr>
        <p:spPr>
          <a:xfrm>
            <a:off x="12252960" y="262432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Динамика и прогноз по четырём сценариям</a:t>
            </a:r>
          </a:p>
        </p:txBody>
      </p:sp>
      <p:cxnSp>
        <p:nvCxnSpPr>
          <p:cNvPr id="210" name="Разделитель"/>
          <p:cNvCxnSpPr/>
          <p:nvPr/>
        </p:nvCxnSpPr>
        <p:spPr>
          <a:xfrm>
            <a:off x="1069848" y="326440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1" name="Текст"/>
          <p:cNvSpPr txBox="1"/>
          <p:nvPr/>
        </p:nvSpPr>
        <p:spPr>
          <a:xfrm>
            <a:off x="1417320" y="326440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Среднегодовая численность населения</a:t>
            </a:r>
          </a:p>
        </p:txBody>
      </p:sp>
      <p:sp>
        <p:nvSpPr>
          <p:cNvPr id="212" name="Текст"/>
          <p:cNvSpPr txBox="1"/>
          <p:nvPr/>
        </p:nvSpPr>
        <p:spPr>
          <a:xfrm>
            <a:off x="8412480" y="326440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тыс. чел.</a:t>
            </a:r>
          </a:p>
        </p:txBody>
      </p:sp>
      <p:sp>
        <p:nvSpPr>
          <p:cNvPr id="213" name="Текст"/>
          <p:cNvSpPr txBox="1"/>
          <p:nvPr/>
        </p:nvSpPr>
        <p:spPr>
          <a:xfrm>
            <a:off x="12252960" y="326440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cxnSp>
        <p:nvCxnSpPr>
          <p:cNvPr id="214" name="Разделитель"/>
          <p:cNvCxnSpPr/>
          <p:nvPr/>
        </p:nvCxnSpPr>
        <p:spPr>
          <a:xfrm>
            <a:off x="1069848" y="390448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5" name="Текст"/>
          <p:cNvSpPr txBox="1"/>
          <p:nvPr/>
        </p:nvSpPr>
        <p:spPr>
          <a:xfrm>
            <a:off x="1417320" y="390448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Суммарный коэффициент рождаемости</a:t>
            </a:r>
          </a:p>
        </p:txBody>
      </p:sp>
      <p:sp>
        <p:nvSpPr>
          <p:cNvPr id="216" name="Текст"/>
          <p:cNvSpPr txBox="1"/>
          <p:nvPr/>
        </p:nvSpPr>
        <p:spPr>
          <a:xfrm>
            <a:off x="8412480" y="390448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детей на 1 женщину</a:t>
            </a:r>
          </a:p>
        </p:txBody>
      </p:sp>
      <p:sp>
        <p:nvSpPr>
          <p:cNvPr id="217" name="Текст"/>
          <p:cNvSpPr txBox="1"/>
          <p:nvPr/>
        </p:nvSpPr>
        <p:spPr>
          <a:xfrm>
            <a:off x="12252960" y="390448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Основа сценариев прогноза</a:t>
            </a:r>
          </a:p>
        </p:txBody>
      </p:sp>
      <p:cxnSp>
        <p:nvCxnSpPr>
          <p:cNvPr id="218" name="Разделитель"/>
          <p:cNvCxnSpPr/>
          <p:nvPr/>
        </p:nvCxnSpPr>
        <p:spPr>
          <a:xfrm>
            <a:off x="1069848" y="454456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9" name="Текст"/>
          <p:cNvSpPr txBox="1"/>
          <p:nvPr/>
        </p:nvSpPr>
        <p:spPr>
          <a:xfrm>
            <a:off x="1417320" y="454456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Среднегодовой миграционный прирост</a:t>
            </a:r>
          </a:p>
        </p:txBody>
      </p:sp>
      <p:sp>
        <p:nvSpPr>
          <p:cNvPr id="220" name="Текст"/>
          <p:cNvSpPr txBox="1"/>
          <p:nvPr/>
        </p:nvSpPr>
        <p:spPr>
          <a:xfrm>
            <a:off x="8412480" y="454456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тыс. чел.</a:t>
            </a:r>
          </a:p>
        </p:txBody>
      </p:sp>
      <p:sp>
        <p:nvSpPr>
          <p:cNvPr id="221" name="Текст"/>
          <p:cNvSpPr txBox="1"/>
          <p:nvPr/>
        </p:nvSpPr>
        <p:spPr>
          <a:xfrm>
            <a:off x="12252960" y="454456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Основа сценариев прогноза</a:t>
            </a:r>
          </a:p>
        </p:txBody>
      </p:sp>
      <p:cxnSp>
        <p:nvCxnSpPr>
          <p:cNvPr id="222" name="Разделитель"/>
          <p:cNvCxnSpPr/>
          <p:nvPr/>
        </p:nvCxnSpPr>
        <p:spPr>
          <a:xfrm>
            <a:off x="1069848" y="518464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3" name="Текст"/>
          <p:cNvSpPr txBox="1"/>
          <p:nvPr/>
        </p:nvSpPr>
        <p:spPr>
          <a:xfrm>
            <a:off x="1417320" y="518464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Общий коэффициент рождаемости</a:t>
            </a:r>
          </a:p>
        </p:txBody>
      </p:sp>
      <p:sp>
        <p:nvSpPr>
          <p:cNvPr id="224" name="Текст"/>
          <p:cNvSpPr txBox="1"/>
          <p:nvPr/>
        </p:nvSpPr>
        <p:spPr>
          <a:xfrm>
            <a:off x="8412480" y="518464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родившихся на 1000 населения</a:t>
            </a:r>
          </a:p>
        </p:txBody>
      </p:sp>
      <p:sp>
        <p:nvSpPr>
          <p:cNvPr id="225" name="Текст"/>
          <p:cNvSpPr txBox="1"/>
          <p:nvPr/>
        </p:nvSpPr>
        <p:spPr>
          <a:xfrm>
            <a:off x="12252960" y="518464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cxnSp>
        <p:nvCxnSpPr>
          <p:cNvPr id="226" name="Разделитель"/>
          <p:cNvCxnSpPr/>
          <p:nvPr/>
        </p:nvCxnSpPr>
        <p:spPr>
          <a:xfrm>
            <a:off x="1069848" y="582472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7" name="Текст"/>
          <p:cNvSpPr txBox="1"/>
          <p:nvPr/>
        </p:nvSpPr>
        <p:spPr>
          <a:xfrm>
            <a:off x="1417320" y="582472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Общий коэффициент смертности</a:t>
            </a:r>
          </a:p>
        </p:txBody>
      </p:sp>
      <p:sp>
        <p:nvSpPr>
          <p:cNvPr id="228" name="Текст"/>
          <p:cNvSpPr txBox="1"/>
          <p:nvPr/>
        </p:nvSpPr>
        <p:spPr>
          <a:xfrm>
            <a:off x="8412480" y="582472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умерших на 1000 населения</a:t>
            </a:r>
          </a:p>
        </p:txBody>
      </p:sp>
      <p:sp>
        <p:nvSpPr>
          <p:cNvPr id="229" name="Текст"/>
          <p:cNvSpPr txBox="1"/>
          <p:nvPr/>
        </p:nvSpPr>
        <p:spPr>
          <a:xfrm>
            <a:off x="12252960" y="582472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cxnSp>
        <p:nvCxnSpPr>
          <p:cNvPr id="230" name="Разделитель"/>
          <p:cNvCxnSpPr/>
          <p:nvPr/>
        </p:nvCxnSpPr>
        <p:spPr>
          <a:xfrm>
            <a:off x="1069848" y="646480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31" name="Текст"/>
          <p:cNvSpPr txBox="1"/>
          <p:nvPr/>
        </p:nvSpPr>
        <p:spPr>
          <a:xfrm>
            <a:off x="1417320" y="646480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Коэффициент естественного прироста</a:t>
            </a:r>
          </a:p>
        </p:txBody>
      </p:sp>
      <p:sp>
        <p:nvSpPr>
          <p:cNvPr id="232" name="Текст"/>
          <p:cNvSpPr txBox="1"/>
          <p:nvPr/>
        </p:nvSpPr>
        <p:spPr>
          <a:xfrm>
            <a:off x="8412480" y="646480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на 1000 населения</a:t>
            </a:r>
          </a:p>
        </p:txBody>
      </p:sp>
      <p:sp>
        <p:nvSpPr>
          <p:cNvPr id="233" name="Текст"/>
          <p:cNvSpPr txBox="1"/>
          <p:nvPr/>
        </p:nvSpPr>
        <p:spPr>
          <a:xfrm>
            <a:off x="12252960" y="646480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cxnSp>
        <p:nvCxnSpPr>
          <p:cNvPr id="234" name="Разделитель"/>
          <p:cNvCxnSpPr/>
          <p:nvPr/>
        </p:nvCxnSpPr>
        <p:spPr>
          <a:xfrm>
            <a:off x="1069848" y="710488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35" name="Текст"/>
          <p:cNvSpPr txBox="1"/>
          <p:nvPr/>
        </p:nvSpPr>
        <p:spPr>
          <a:xfrm>
            <a:off x="1417320" y="710488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Коэффициент миграционного прироста</a:t>
            </a:r>
          </a:p>
        </p:txBody>
      </p:sp>
      <p:sp>
        <p:nvSpPr>
          <p:cNvPr id="236" name="Текст"/>
          <p:cNvSpPr txBox="1"/>
          <p:nvPr/>
        </p:nvSpPr>
        <p:spPr>
          <a:xfrm>
            <a:off x="8412480" y="710488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на 1000 населения</a:t>
            </a:r>
          </a:p>
        </p:txBody>
      </p:sp>
      <p:sp>
        <p:nvSpPr>
          <p:cNvPr id="237" name="Текст"/>
          <p:cNvSpPr txBox="1"/>
          <p:nvPr/>
        </p:nvSpPr>
        <p:spPr>
          <a:xfrm>
            <a:off x="12252960" y="710488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cxnSp>
        <p:nvCxnSpPr>
          <p:cNvPr id="238" name="Разделитель"/>
          <p:cNvCxnSpPr/>
          <p:nvPr/>
        </p:nvCxnSpPr>
        <p:spPr>
          <a:xfrm>
            <a:off x="1069848" y="774496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39" name="Текст"/>
          <p:cNvSpPr txBox="1"/>
          <p:nvPr/>
        </p:nvSpPr>
        <p:spPr>
          <a:xfrm>
            <a:off x="1417320" y="774496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Численность населения по полу и однолетним возрастам</a:t>
            </a:r>
          </a:p>
        </p:txBody>
      </p:sp>
      <p:sp>
        <p:nvSpPr>
          <p:cNvPr id="240" name="Текст"/>
          <p:cNvSpPr txBox="1"/>
          <p:nvPr/>
        </p:nvSpPr>
        <p:spPr>
          <a:xfrm>
            <a:off x="8412480" y="774496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чел.</a:t>
            </a:r>
          </a:p>
        </p:txBody>
      </p:sp>
      <p:sp>
        <p:nvSpPr>
          <p:cNvPr id="241" name="Текст"/>
          <p:cNvSpPr txBox="1"/>
          <p:nvPr/>
        </p:nvSpPr>
        <p:spPr>
          <a:xfrm>
            <a:off x="12252960" y="774496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Половозрастная структура на выбранные годы</a:t>
            </a:r>
          </a:p>
        </p:txBody>
      </p:sp>
      <p:cxnSp>
        <p:nvCxnSpPr>
          <p:cNvPr id="242" name="Разделитель"/>
          <p:cNvCxnSpPr/>
          <p:nvPr/>
        </p:nvCxnSpPr>
        <p:spPr>
          <a:xfrm>
            <a:off x="1069848" y="838504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43" name="Текст"/>
          <p:cNvSpPr txBox="1"/>
          <p:nvPr/>
        </p:nvSpPr>
        <p:spPr>
          <a:xfrm>
            <a:off x="1417320" y="838504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Средний возраст населения</a:t>
            </a:r>
          </a:p>
        </p:txBody>
      </p:sp>
      <p:sp>
        <p:nvSpPr>
          <p:cNvPr id="244" name="Текст"/>
          <p:cNvSpPr txBox="1"/>
          <p:nvPr/>
        </p:nvSpPr>
        <p:spPr>
          <a:xfrm>
            <a:off x="8412480" y="838504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лет, всего, мужчины, женщины</a:t>
            </a:r>
          </a:p>
        </p:txBody>
      </p:sp>
      <p:sp>
        <p:nvSpPr>
          <p:cNvPr id="245" name="Текст"/>
          <p:cNvSpPr txBox="1"/>
          <p:nvPr/>
        </p:nvSpPr>
        <p:spPr>
          <a:xfrm>
            <a:off x="12252960" y="838504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Старение населения по годам</a:t>
            </a:r>
          </a:p>
        </p:txBody>
      </p:sp>
      <p:cxnSp>
        <p:nvCxnSpPr>
          <p:cNvPr id="246" name="Разделитель"/>
          <p:cNvCxnSpPr/>
          <p:nvPr/>
        </p:nvCxnSpPr>
        <p:spPr>
          <a:xfrm>
            <a:off x="1069848" y="902512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47" name="Текст"/>
          <p:cNvSpPr txBox="1"/>
          <p:nvPr/>
        </p:nvSpPr>
        <p:spPr>
          <a:xfrm>
            <a:off x="1417320" y="9025128"/>
            <a:ext cx="67665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Демографическая нагрузка</a:t>
            </a:r>
          </a:p>
        </p:txBody>
      </p:sp>
      <p:sp>
        <p:nvSpPr>
          <p:cNvPr id="248" name="Текст"/>
          <p:cNvSpPr txBox="1"/>
          <p:nvPr/>
        </p:nvSpPr>
        <p:spPr>
          <a:xfrm>
            <a:off x="8412480" y="9025128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E6B73"/>
                </a:solidFill>
                <a:latin typeface="Circe"/>
              </a:rPr>
              <a:t>на 1000 трудоспособного населения</a:t>
            </a:r>
          </a:p>
        </p:txBody>
      </p:sp>
      <p:sp>
        <p:nvSpPr>
          <p:cNvPr id="249" name="Текст"/>
          <p:cNvSpPr txBox="1"/>
          <p:nvPr/>
        </p:nvSpPr>
        <p:spPr>
          <a:xfrm>
            <a:off x="12252960" y="9025128"/>
            <a:ext cx="5303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062D3F"/>
                </a:solidFill>
                <a:latin typeface="Circe"/>
              </a:rPr>
              <a:t>Нагрузка пожилыми и детьми</a:t>
            </a:r>
          </a:p>
        </p:txBody>
      </p:sp>
      <p:cxnSp>
        <p:nvCxnSpPr>
          <p:cNvPr id="250" name="Разделитель"/>
          <p:cNvCxnSpPr/>
          <p:nvPr/>
        </p:nvCxnSpPr>
        <p:spPr>
          <a:xfrm>
            <a:off x="1069848" y="9665207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