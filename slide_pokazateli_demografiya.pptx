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перечень составлен по содержимому слайдов 22 и 23 презентации (динамика населения и половозрастная структура), без привязки к конкретным слайдам. Источники данных в презентации для этих примеров указаны на самих слайдах (Новгородстат, Башкортостанстат), поэтому отдельной колонки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ПОКАЗАТЕЛИ ДЕМОГРАФИЧЕСКОГО АНАЛИЗА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46304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Динамика, половозрастная структура и нагрузка на трудоспособное население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Заголовок колонки"/>
          <p:cNvSpPr txBox="1"/>
          <p:nvPr/>
        </p:nvSpPr>
        <p:spPr>
          <a:xfrm>
            <a:off x="1417320" y="2057400"/>
            <a:ext cx="6766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ПОКАЗАТЕЛЬ</a:t>
            </a:r>
          </a:p>
        </p:txBody>
      </p:sp>
      <p:sp>
        <p:nvSpPr>
          <p:cNvPr id="204" name="Заголовок колонки"/>
          <p:cNvSpPr txBox="1"/>
          <p:nvPr/>
        </p:nvSpPr>
        <p:spPr>
          <a:xfrm>
            <a:off x="8412480" y="2057400"/>
            <a:ext cx="3566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ЕДИНИЦА</a:t>
            </a:r>
          </a:p>
        </p:txBody>
      </p:sp>
      <p:sp>
        <p:nvSpPr>
          <p:cNvPr id="205" name="Заголовок колонки"/>
          <p:cNvSpPr txBox="1"/>
          <p:nvPr/>
        </p:nvSpPr>
        <p:spPr>
          <a:xfrm>
            <a:off x="12252960" y="2057400"/>
            <a:ext cx="5303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ЧТО ПОКАЗЫВАЕТ</a:t>
            </a:r>
          </a:p>
        </p:txBody>
      </p:sp>
      <p:cxnSp>
        <p:nvCxnSpPr>
          <p:cNvPr id="206" name="Линия заголовка"/>
          <p:cNvCxnSpPr/>
          <p:nvPr/>
        </p:nvCxnSpPr>
        <p:spPr>
          <a:xfrm>
            <a:off x="1069848" y="2514600"/>
            <a:ext cx="16870679" cy="0"/>
          </a:xfrm>
          <a:prstGeom prst="line">
            <a:avLst/>
          </a:prstGeom>
          <a:ln w="19050">
            <a:solidFill>
              <a:srgbClr val="062D3F"/>
            </a:solidFill>
          </a:ln>
        </p:spPr>
      </p:cxnSp>
      <p:sp>
        <p:nvSpPr>
          <p:cNvPr id="207" name="Текст"/>
          <p:cNvSpPr txBox="1"/>
          <p:nvPr/>
        </p:nvSpPr>
        <p:spPr>
          <a:xfrm>
            <a:off x="1417320" y="2624328"/>
            <a:ext cx="6766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Численность населения</a:t>
            </a:r>
          </a:p>
        </p:txBody>
      </p:sp>
      <p:sp>
        <p:nvSpPr>
          <p:cNvPr id="208" name="Текст"/>
          <p:cNvSpPr txBox="1"/>
          <p:nvPr/>
        </p:nvSpPr>
        <p:spPr>
          <a:xfrm>
            <a:off x="8412480" y="2624328"/>
            <a:ext cx="3566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тыс. чел.</a:t>
            </a:r>
          </a:p>
        </p:txBody>
      </p:sp>
      <p:sp>
        <p:nvSpPr>
          <p:cNvPr id="209" name="Текст"/>
          <p:cNvSpPr txBox="1"/>
          <p:nvPr/>
        </p:nvSpPr>
        <p:spPr>
          <a:xfrm>
            <a:off x="12252960" y="2624328"/>
            <a:ext cx="53035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Значение на начало года и прогноз по сценариям</a:t>
            </a:r>
          </a:p>
        </p:txBody>
      </p:sp>
      <p:cxnSp>
        <p:nvCxnSpPr>
          <p:cNvPr id="210" name="Разделитель"/>
          <p:cNvCxnSpPr/>
          <p:nvPr/>
        </p:nvCxnSpPr>
        <p:spPr>
          <a:xfrm>
            <a:off x="1069848" y="344728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1" name="Текст"/>
          <p:cNvSpPr txBox="1"/>
          <p:nvPr/>
        </p:nvSpPr>
        <p:spPr>
          <a:xfrm>
            <a:off x="1417320" y="3447288"/>
            <a:ext cx="6766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Среднегодовой миграционный прирост</a:t>
            </a:r>
          </a:p>
        </p:txBody>
      </p:sp>
      <p:sp>
        <p:nvSpPr>
          <p:cNvPr id="212" name="Текст"/>
          <p:cNvSpPr txBox="1"/>
          <p:nvPr/>
        </p:nvSpPr>
        <p:spPr>
          <a:xfrm>
            <a:off x="8412480" y="3447288"/>
            <a:ext cx="3566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тыс. чел.</a:t>
            </a:r>
          </a:p>
        </p:txBody>
      </p:sp>
      <p:sp>
        <p:nvSpPr>
          <p:cNvPr id="213" name="Текст"/>
          <p:cNvSpPr txBox="1"/>
          <p:nvPr/>
        </p:nvSpPr>
        <p:spPr>
          <a:xfrm>
            <a:off x="12252960" y="3447288"/>
            <a:ext cx="53035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Основа сценариев прогноза</a:t>
            </a:r>
          </a:p>
        </p:txBody>
      </p:sp>
      <p:cxnSp>
        <p:nvCxnSpPr>
          <p:cNvPr id="214" name="Разделитель"/>
          <p:cNvCxnSpPr/>
          <p:nvPr/>
        </p:nvCxnSpPr>
        <p:spPr>
          <a:xfrm>
            <a:off x="1069848" y="427024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5" name="Текст"/>
          <p:cNvSpPr txBox="1"/>
          <p:nvPr/>
        </p:nvSpPr>
        <p:spPr>
          <a:xfrm>
            <a:off x="1417320" y="4270248"/>
            <a:ext cx="6766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Суммарный коэффициент рождаемости</a:t>
            </a:r>
          </a:p>
        </p:txBody>
      </p:sp>
      <p:sp>
        <p:nvSpPr>
          <p:cNvPr id="216" name="Текст"/>
          <p:cNvSpPr txBox="1"/>
          <p:nvPr/>
        </p:nvSpPr>
        <p:spPr>
          <a:xfrm>
            <a:off x="8412480" y="4270248"/>
            <a:ext cx="3566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детей на 1 женщину</a:t>
            </a:r>
          </a:p>
        </p:txBody>
      </p:sp>
      <p:sp>
        <p:nvSpPr>
          <p:cNvPr id="217" name="Текст"/>
          <p:cNvSpPr txBox="1"/>
          <p:nvPr/>
        </p:nvSpPr>
        <p:spPr>
          <a:xfrm>
            <a:off x="12252960" y="4270248"/>
            <a:ext cx="53035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Целевой показатель прогноза</a:t>
            </a:r>
          </a:p>
        </p:txBody>
      </p:sp>
      <p:cxnSp>
        <p:nvCxnSpPr>
          <p:cNvPr id="218" name="Разделитель"/>
          <p:cNvCxnSpPr/>
          <p:nvPr/>
        </p:nvCxnSpPr>
        <p:spPr>
          <a:xfrm>
            <a:off x="1069848" y="509320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9" name="Текст"/>
          <p:cNvSpPr txBox="1"/>
          <p:nvPr/>
        </p:nvSpPr>
        <p:spPr>
          <a:xfrm>
            <a:off x="1417320" y="5093208"/>
            <a:ext cx="6766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Ожидаемая продолжительность жизни</a:t>
            </a:r>
          </a:p>
        </p:txBody>
      </p:sp>
      <p:sp>
        <p:nvSpPr>
          <p:cNvPr id="220" name="Текст"/>
          <p:cNvSpPr txBox="1"/>
          <p:nvPr/>
        </p:nvSpPr>
        <p:spPr>
          <a:xfrm>
            <a:off x="8412480" y="5093208"/>
            <a:ext cx="3566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лет, мужчины и женщины</a:t>
            </a:r>
          </a:p>
        </p:txBody>
      </p:sp>
      <p:sp>
        <p:nvSpPr>
          <p:cNvPr id="221" name="Текст"/>
          <p:cNvSpPr txBox="1"/>
          <p:nvPr/>
        </p:nvSpPr>
        <p:spPr>
          <a:xfrm>
            <a:off x="12252960" y="5093208"/>
            <a:ext cx="53035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Целевой показатель прогноза</a:t>
            </a:r>
          </a:p>
        </p:txBody>
      </p:sp>
      <p:cxnSp>
        <p:nvCxnSpPr>
          <p:cNvPr id="222" name="Разделитель"/>
          <p:cNvCxnSpPr/>
          <p:nvPr/>
        </p:nvCxnSpPr>
        <p:spPr>
          <a:xfrm>
            <a:off x="1069848" y="591616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3" name="Текст"/>
          <p:cNvSpPr txBox="1"/>
          <p:nvPr/>
        </p:nvSpPr>
        <p:spPr>
          <a:xfrm>
            <a:off x="1417320" y="5916168"/>
            <a:ext cx="6766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Смертность</a:t>
            </a:r>
          </a:p>
        </p:txBody>
      </p:sp>
      <p:sp>
        <p:nvSpPr>
          <p:cNvPr id="224" name="Текст"/>
          <p:cNvSpPr txBox="1"/>
          <p:nvPr/>
        </p:nvSpPr>
        <p:spPr>
          <a:xfrm>
            <a:off x="8412480" y="5916168"/>
            <a:ext cx="3566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умерших на 1000 жителей</a:t>
            </a:r>
          </a:p>
        </p:txBody>
      </p:sp>
      <p:sp>
        <p:nvSpPr>
          <p:cNvPr id="225" name="Текст"/>
          <p:cNvSpPr txBox="1"/>
          <p:nvPr/>
        </p:nvSpPr>
        <p:spPr>
          <a:xfrm>
            <a:off x="12252960" y="5916168"/>
            <a:ext cx="53035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Целевая задача прогноза</a:t>
            </a:r>
          </a:p>
        </p:txBody>
      </p:sp>
      <p:cxnSp>
        <p:nvCxnSpPr>
          <p:cNvPr id="226" name="Разделитель"/>
          <p:cNvCxnSpPr/>
          <p:nvPr/>
        </p:nvCxnSpPr>
        <p:spPr>
          <a:xfrm>
            <a:off x="1069848" y="673912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7" name="Текст"/>
          <p:cNvSpPr txBox="1"/>
          <p:nvPr/>
        </p:nvSpPr>
        <p:spPr>
          <a:xfrm>
            <a:off x="1417320" y="6739128"/>
            <a:ext cx="6766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Численность населения по полу и однолетним возрастам</a:t>
            </a:r>
          </a:p>
        </p:txBody>
      </p:sp>
      <p:sp>
        <p:nvSpPr>
          <p:cNvPr id="228" name="Текст"/>
          <p:cNvSpPr txBox="1"/>
          <p:nvPr/>
        </p:nvSpPr>
        <p:spPr>
          <a:xfrm>
            <a:off x="8412480" y="6739128"/>
            <a:ext cx="3566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чел.</a:t>
            </a:r>
          </a:p>
        </p:txBody>
      </p:sp>
      <p:sp>
        <p:nvSpPr>
          <p:cNvPr id="229" name="Текст"/>
          <p:cNvSpPr txBox="1"/>
          <p:nvPr/>
        </p:nvSpPr>
        <p:spPr>
          <a:xfrm>
            <a:off x="12252960" y="6739128"/>
            <a:ext cx="53035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Половозрастная структура на выбранные годы</a:t>
            </a:r>
          </a:p>
        </p:txBody>
      </p:sp>
      <p:cxnSp>
        <p:nvCxnSpPr>
          <p:cNvPr id="230" name="Разделитель"/>
          <p:cNvCxnSpPr/>
          <p:nvPr/>
        </p:nvCxnSpPr>
        <p:spPr>
          <a:xfrm>
            <a:off x="1069848" y="756208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31" name="Текст"/>
          <p:cNvSpPr txBox="1"/>
          <p:nvPr/>
        </p:nvSpPr>
        <p:spPr>
          <a:xfrm>
            <a:off x="1417320" y="7562088"/>
            <a:ext cx="6766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Средний возраст населения</a:t>
            </a:r>
          </a:p>
        </p:txBody>
      </p:sp>
      <p:sp>
        <p:nvSpPr>
          <p:cNvPr id="232" name="Текст"/>
          <p:cNvSpPr txBox="1"/>
          <p:nvPr/>
        </p:nvSpPr>
        <p:spPr>
          <a:xfrm>
            <a:off x="8412480" y="7562088"/>
            <a:ext cx="3566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лет, всего, мужчины, женщины</a:t>
            </a:r>
          </a:p>
        </p:txBody>
      </p:sp>
      <p:sp>
        <p:nvSpPr>
          <p:cNvPr id="233" name="Текст"/>
          <p:cNvSpPr txBox="1"/>
          <p:nvPr/>
        </p:nvSpPr>
        <p:spPr>
          <a:xfrm>
            <a:off x="12252960" y="7562088"/>
            <a:ext cx="53035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Старение населения по годам</a:t>
            </a:r>
          </a:p>
        </p:txBody>
      </p:sp>
      <p:cxnSp>
        <p:nvCxnSpPr>
          <p:cNvPr id="234" name="Разделитель"/>
          <p:cNvCxnSpPr/>
          <p:nvPr/>
        </p:nvCxnSpPr>
        <p:spPr>
          <a:xfrm>
            <a:off x="1069848" y="838504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35" name="Текст"/>
          <p:cNvSpPr txBox="1"/>
          <p:nvPr/>
        </p:nvSpPr>
        <p:spPr>
          <a:xfrm>
            <a:off x="1417320" y="8385048"/>
            <a:ext cx="6766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Демографическая нагрузка</a:t>
            </a:r>
          </a:p>
        </p:txBody>
      </p:sp>
      <p:sp>
        <p:nvSpPr>
          <p:cNvPr id="236" name="Текст"/>
          <p:cNvSpPr txBox="1"/>
          <p:nvPr/>
        </p:nvSpPr>
        <p:spPr>
          <a:xfrm>
            <a:off x="8412480" y="8385048"/>
            <a:ext cx="3566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на 1000 трудоспособного населения</a:t>
            </a:r>
          </a:p>
        </p:txBody>
      </p:sp>
      <p:sp>
        <p:nvSpPr>
          <p:cNvPr id="237" name="Текст"/>
          <p:cNvSpPr txBox="1"/>
          <p:nvPr/>
        </p:nvSpPr>
        <p:spPr>
          <a:xfrm>
            <a:off x="12252960" y="8385048"/>
            <a:ext cx="53035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Нагрузка пожилыми и детьми</a:t>
            </a:r>
          </a:p>
        </p:txBody>
      </p:sp>
      <p:cxnSp>
        <p:nvCxnSpPr>
          <p:cNvPr id="238" name="Разделитель"/>
          <p:cNvCxnSpPr/>
          <p:nvPr/>
        </p:nvCxnSpPr>
        <p:spPr>
          <a:xfrm>
            <a:off x="1069848" y="920800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