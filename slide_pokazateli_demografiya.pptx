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перечень составлен по содержимому слайдов 22 и 23 презентации. Колонка источников написана по общим сведениям о публикации данных (БД ПМО, ЕМИСС, региональные органы Росстата, итоги ВПН-2020), названия таблиц и доступность данных по муниципалитетам нужно сверить. Ожидаемая продолжительность жизни и суммарный коэффициент рождаемости официально публикуются по региону, на уровне района их берут региональными или считают.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ПОКАЗАТЕЛИ ДЕМОГРАФИЧЕСКОГО АНАЛИЗА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Динамика, половозрастная структура и нагрузка на трудоспособное население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Шапка таблицы"/>
          <p:cNvSpPr/>
          <p:nvPr/>
        </p:nvSpPr>
        <p:spPr>
          <a:xfrm>
            <a:off x="1069848" y="2057400"/>
            <a:ext cx="16870680" cy="502920"/>
          </a:xfrm>
          <a:prstGeom prst="roundRect">
            <a:avLst>
              <a:gd name="adj" fmla="val 25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2011680" y="2057400"/>
            <a:ext cx="5029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ПОКАЗАТЕЛЬ</a:t>
            </a:r>
          </a:p>
        </p:txBody>
      </p:sp>
      <p:sp>
        <p:nvSpPr>
          <p:cNvPr id="205" name="Заголовок колонки"/>
          <p:cNvSpPr txBox="1"/>
          <p:nvPr/>
        </p:nvSpPr>
        <p:spPr>
          <a:xfrm>
            <a:off x="7178040" y="205740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ЕДИНИЦА</a:t>
            </a:r>
          </a:p>
        </p:txBody>
      </p:sp>
      <p:sp>
        <p:nvSpPr>
          <p:cNvPr id="206" name="Заголовок колонки"/>
          <p:cNvSpPr txBox="1"/>
          <p:nvPr/>
        </p:nvSpPr>
        <p:spPr>
          <a:xfrm>
            <a:off x="10058400" y="2057400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ЧТО ПОКАЗЫВАЕТ</a:t>
            </a:r>
          </a:p>
        </p:txBody>
      </p:sp>
      <p:sp>
        <p:nvSpPr>
          <p:cNvPr id="207" name="Заголовок колонки"/>
          <p:cNvSpPr txBox="1"/>
          <p:nvPr/>
        </p:nvSpPr>
        <p:spPr>
          <a:xfrm>
            <a:off x="13853160" y="2057400"/>
            <a:ext cx="4023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irce Bold"/>
              </a:rPr>
              <a:t>ИСТОЧНИК ДАННЫХ</a:t>
            </a:r>
          </a:p>
        </p:txBody>
      </p:sp>
      <p:sp>
        <p:nvSpPr>
          <p:cNvPr id="208" name="Полоса"/>
          <p:cNvSpPr/>
          <p:nvPr/>
        </p:nvSpPr>
        <p:spPr>
          <a:xfrm>
            <a:off x="1069848" y="2706624"/>
            <a:ext cx="16870680" cy="512064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Номер 1"/>
          <p:cNvSpPr/>
          <p:nvPr/>
        </p:nvSpPr>
        <p:spPr>
          <a:xfrm>
            <a:off x="1417320" y="2761488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</a:t>
            </a:r>
          </a:p>
        </p:txBody>
      </p:sp>
      <p:sp>
        <p:nvSpPr>
          <p:cNvPr id="210" name="Текст"/>
          <p:cNvSpPr txBox="1"/>
          <p:nvPr/>
        </p:nvSpPr>
        <p:spPr>
          <a:xfrm>
            <a:off x="2011680" y="2679192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Численность населения</a:t>
            </a:r>
          </a:p>
        </p:txBody>
      </p:sp>
      <p:sp>
        <p:nvSpPr>
          <p:cNvPr id="211" name="Текст"/>
          <p:cNvSpPr txBox="1"/>
          <p:nvPr/>
        </p:nvSpPr>
        <p:spPr>
          <a:xfrm>
            <a:off x="7178040" y="2679192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тыс. чел.</a:t>
            </a:r>
          </a:p>
        </p:txBody>
      </p:sp>
      <p:sp>
        <p:nvSpPr>
          <p:cNvPr id="212" name="Текст"/>
          <p:cNvSpPr txBox="1"/>
          <p:nvPr/>
        </p:nvSpPr>
        <p:spPr>
          <a:xfrm>
            <a:off x="10058400" y="2679192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Динамика и прогноз по четырём сценариям</a:t>
            </a:r>
          </a:p>
        </p:txBody>
      </p:sp>
      <p:sp>
        <p:nvSpPr>
          <p:cNvPr id="213" name="Текст"/>
          <p:cNvSpPr txBox="1"/>
          <p:nvPr/>
        </p:nvSpPr>
        <p:spPr>
          <a:xfrm>
            <a:off x="13853160" y="2679192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ЕМИСС, прогноз Росстата и расчёт по сценариям</a:t>
            </a:r>
          </a:p>
        </p:txBody>
      </p:sp>
      <p:sp>
        <p:nvSpPr>
          <p:cNvPr id="214" name="Номер 2"/>
          <p:cNvSpPr/>
          <p:nvPr/>
        </p:nvSpPr>
        <p:spPr>
          <a:xfrm>
            <a:off x="1417320" y="3328416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2</a:t>
            </a:r>
          </a:p>
        </p:txBody>
      </p:sp>
      <p:sp>
        <p:nvSpPr>
          <p:cNvPr id="215" name="Текст"/>
          <p:cNvSpPr txBox="1"/>
          <p:nvPr/>
        </p:nvSpPr>
        <p:spPr>
          <a:xfrm>
            <a:off x="2011680" y="324612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Среднегодовая численность населения</a:t>
            </a:r>
          </a:p>
        </p:txBody>
      </p:sp>
      <p:sp>
        <p:nvSpPr>
          <p:cNvPr id="216" name="Текст"/>
          <p:cNvSpPr txBox="1"/>
          <p:nvPr/>
        </p:nvSpPr>
        <p:spPr>
          <a:xfrm>
            <a:off x="7178040" y="324612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тыс. чел.</a:t>
            </a:r>
          </a:p>
        </p:txBody>
      </p:sp>
      <p:sp>
        <p:nvSpPr>
          <p:cNvPr id="217" name="Текст"/>
          <p:cNvSpPr txBox="1"/>
          <p:nvPr/>
        </p:nvSpPr>
        <p:spPr>
          <a:xfrm>
            <a:off x="10058400" y="3246120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18" name="Текст"/>
          <p:cNvSpPr txBox="1"/>
          <p:nvPr/>
        </p:nvSpPr>
        <p:spPr>
          <a:xfrm>
            <a:off x="13853160" y="3246120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стратегия СЭР</a:t>
            </a:r>
          </a:p>
        </p:txBody>
      </p:sp>
      <p:sp>
        <p:nvSpPr>
          <p:cNvPr id="219" name="Полоса"/>
          <p:cNvSpPr/>
          <p:nvPr/>
        </p:nvSpPr>
        <p:spPr>
          <a:xfrm>
            <a:off x="1069848" y="3840480"/>
            <a:ext cx="16870680" cy="512064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Номер 3"/>
          <p:cNvSpPr/>
          <p:nvPr/>
        </p:nvSpPr>
        <p:spPr>
          <a:xfrm>
            <a:off x="1417320" y="3895344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3</a:t>
            </a:r>
          </a:p>
        </p:txBody>
      </p:sp>
      <p:sp>
        <p:nvSpPr>
          <p:cNvPr id="221" name="Текст"/>
          <p:cNvSpPr txBox="1"/>
          <p:nvPr/>
        </p:nvSpPr>
        <p:spPr>
          <a:xfrm>
            <a:off x="2011680" y="3813048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Суммарный коэффициент рождаемости</a:t>
            </a:r>
          </a:p>
        </p:txBody>
      </p:sp>
      <p:sp>
        <p:nvSpPr>
          <p:cNvPr id="222" name="Текст"/>
          <p:cNvSpPr txBox="1"/>
          <p:nvPr/>
        </p:nvSpPr>
        <p:spPr>
          <a:xfrm>
            <a:off x="7178040" y="3813048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детей на 1 женщину</a:t>
            </a:r>
          </a:p>
        </p:txBody>
      </p:sp>
      <p:sp>
        <p:nvSpPr>
          <p:cNvPr id="223" name="Текст"/>
          <p:cNvSpPr txBox="1"/>
          <p:nvPr/>
        </p:nvSpPr>
        <p:spPr>
          <a:xfrm>
            <a:off x="10058400" y="3813048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Основа сценариев прогноза</a:t>
            </a:r>
          </a:p>
        </p:txBody>
      </p:sp>
      <p:sp>
        <p:nvSpPr>
          <p:cNvPr id="224" name="Текст"/>
          <p:cNvSpPr txBox="1"/>
          <p:nvPr/>
        </p:nvSpPr>
        <p:spPr>
          <a:xfrm>
            <a:off x="13853160" y="3813048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Расчёт по рождениям и женщинам 15–49 лет, Росстат по региону</a:t>
            </a:r>
          </a:p>
        </p:txBody>
      </p:sp>
      <p:sp>
        <p:nvSpPr>
          <p:cNvPr id="225" name="Номер 4"/>
          <p:cNvSpPr/>
          <p:nvPr/>
        </p:nvSpPr>
        <p:spPr>
          <a:xfrm>
            <a:off x="1417320" y="4462272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4</a:t>
            </a:r>
          </a:p>
        </p:txBody>
      </p:sp>
      <p:sp>
        <p:nvSpPr>
          <p:cNvPr id="226" name="Текст"/>
          <p:cNvSpPr txBox="1"/>
          <p:nvPr/>
        </p:nvSpPr>
        <p:spPr>
          <a:xfrm>
            <a:off x="2011680" y="4379976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Среднегодовой миграционный прирост</a:t>
            </a:r>
          </a:p>
        </p:txBody>
      </p:sp>
      <p:sp>
        <p:nvSpPr>
          <p:cNvPr id="227" name="Текст"/>
          <p:cNvSpPr txBox="1"/>
          <p:nvPr/>
        </p:nvSpPr>
        <p:spPr>
          <a:xfrm>
            <a:off x="7178040" y="4379976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тыс. чел.</a:t>
            </a:r>
          </a:p>
        </p:txBody>
      </p:sp>
      <p:sp>
        <p:nvSpPr>
          <p:cNvPr id="228" name="Текст"/>
          <p:cNvSpPr txBox="1"/>
          <p:nvPr/>
        </p:nvSpPr>
        <p:spPr>
          <a:xfrm>
            <a:off x="10058400" y="4379976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Основа сценариев прогноза</a:t>
            </a:r>
          </a:p>
        </p:txBody>
      </p:sp>
      <p:sp>
        <p:nvSpPr>
          <p:cNvPr id="229" name="Текст"/>
          <p:cNvSpPr txBox="1"/>
          <p:nvPr/>
        </p:nvSpPr>
        <p:spPr>
          <a:xfrm>
            <a:off x="13853160" y="4379976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региональный Росстат</a:t>
            </a:r>
          </a:p>
        </p:txBody>
      </p:sp>
      <p:sp>
        <p:nvSpPr>
          <p:cNvPr id="230" name="Полоса"/>
          <p:cNvSpPr/>
          <p:nvPr/>
        </p:nvSpPr>
        <p:spPr>
          <a:xfrm>
            <a:off x="1069848" y="4974336"/>
            <a:ext cx="16870680" cy="512064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Номер 5"/>
          <p:cNvSpPr/>
          <p:nvPr/>
        </p:nvSpPr>
        <p:spPr>
          <a:xfrm>
            <a:off x="1417320" y="5029200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5</a:t>
            </a:r>
          </a:p>
        </p:txBody>
      </p:sp>
      <p:sp>
        <p:nvSpPr>
          <p:cNvPr id="232" name="Текст"/>
          <p:cNvSpPr txBox="1"/>
          <p:nvPr/>
        </p:nvSpPr>
        <p:spPr>
          <a:xfrm>
            <a:off x="2011680" y="4946904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Общий коэффициент рождаемости</a:t>
            </a:r>
          </a:p>
        </p:txBody>
      </p:sp>
      <p:sp>
        <p:nvSpPr>
          <p:cNvPr id="233" name="Текст"/>
          <p:cNvSpPr txBox="1"/>
          <p:nvPr/>
        </p:nvSpPr>
        <p:spPr>
          <a:xfrm>
            <a:off x="7178040" y="4946904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родившихся на 1000 населения</a:t>
            </a:r>
          </a:p>
        </p:txBody>
      </p:sp>
      <p:sp>
        <p:nvSpPr>
          <p:cNvPr id="234" name="Текст"/>
          <p:cNvSpPr txBox="1"/>
          <p:nvPr/>
        </p:nvSpPr>
        <p:spPr>
          <a:xfrm>
            <a:off x="10058400" y="4946904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35" name="Текст"/>
          <p:cNvSpPr txBox="1"/>
          <p:nvPr/>
        </p:nvSpPr>
        <p:spPr>
          <a:xfrm>
            <a:off x="13853160" y="4946904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стратегия СЭР</a:t>
            </a:r>
          </a:p>
        </p:txBody>
      </p:sp>
      <p:sp>
        <p:nvSpPr>
          <p:cNvPr id="236" name="Номер 6"/>
          <p:cNvSpPr/>
          <p:nvPr/>
        </p:nvSpPr>
        <p:spPr>
          <a:xfrm>
            <a:off x="1417320" y="5596128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6</a:t>
            </a:r>
          </a:p>
        </p:txBody>
      </p:sp>
      <p:sp>
        <p:nvSpPr>
          <p:cNvPr id="237" name="Текст"/>
          <p:cNvSpPr txBox="1"/>
          <p:nvPr/>
        </p:nvSpPr>
        <p:spPr>
          <a:xfrm>
            <a:off x="2011680" y="5513832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Общий коэффициент смертности</a:t>
            </a:r>
          </a:p>
        </p:txBody>
      </p:sp>
      <p:sp>
        <p:nvSpPr>
          <p:cNvPr id="238" name="Текст"/>
          <p:cNvSpPr txBox="1"/>
          <p:nvPr/>
        </p:nvSpPr>
        <p:spPr>
          <a:xfrm>
            <a:off x="7178040" y="5513832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умерших на 1000 населения</a:t>
            </a:r>
          </a:p>
        </p:txBody>
      </p:sp>
      <p:sp>
        <p:nvSpPr>
          <p:cNvPr id="239" name="Текст"/>
          <p:cNvSpPr txBox="1"/>
          <p:nvPr/>
        </p:nvSpPr>
        <p:spPr>
          <a:xfrm>
            <a:off x="10058400" y="5513832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Факт, целевые показатели стратегии и задача по сокращению смертности</a:t>
            </a:r>
          </a:p>
        </p:txBody>
      </p:sp>
      <p:sp>
        <p:nvSpPr>
          <p:cNvPr id="240" name="Текст"/>
          <p:cNvSpPr txBox="1"/>
          <p:nvPr/>
        </p:nvSpPr>
        <p:spPr>
          <a:xfrm>
            <a:off x="13853160" y="5513832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стратегия СЭР</a:t>
            </a:r>
          </a:p>
        </p:txBody>
      </p:sp>
      <p:sp>
        <p:nvSpPr>
          <p:cNvPr id="241" name="Полоса"/>
          <p:cNvSpPr/>
          <p:nvPr/>
        </p:nvSpPr>
        <p:spPr>
          <a:xfrm>
            <a:off x="1069848" y="6108192"/>
            <a:ext cx="16870680" cy="512064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Номер 7"/>
          <p:cNvSpPr/>
          <p:nvPr/>
        </p:nvSpPr>
        <p:spPr>
          <a:xfrm>
            <a:off x="1417320" y="6163056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7</a:t>
            </a:r>
          </a:p>
        </p:txBody>
      </p:sp>
      <p:sp>
        <p:nvSpPr>
          <p:cNvPr id="243" name="Текст"/>
          <p:cNvSpPr txBox="1"/>
          <p:nvPr/>
        </p:nvSpPr>
        <p:spPr>
          <a:xfrm>
            <a:off x="2011680" y="608076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Ожидаемая продолжительность жизни</a:t>
            </a:r>
          </a:p>
        </p:txBody>
      </p:sp>
      <p:sp>
        <p:nvSpPr>
          <p:cNvPr id="244" name="Текст"/>
          <p:cNvSpPr txBox="1"/>
          <p:nvPr/>
        </p:nvSpPr>
        <p:spPr>
          <a:xfrm>
            <a:off x="7178040" y="608076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лет, мужчины и женщины</a:t>
            </a:r>
          </a:p>
        </p:txBody>
      </p:sp>
      <p:sp>
        <p:nvSpPr>
          <p:cNvPr id="245" name="Текст"/>
          <p:cNvSpPr txBox="1"/>
          <p:nvPr/>
        </p:nvSpPr>
        <p:spPr>
          <a:xfrm>
            <a:off x="10058400" y="6080760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Целевой показатель прогноза</a:t>
            </a:r>
          </a:p>
        </p:txBody>
      </p:sp>
      <p:sp>
        <p:nvSpPr>
          <p:cNvPr id="246" name="Текст"/>
          <p:cNvSpPr txBox="1"/>
          <p:nvPr/>
        </p:nvSpPr>
        <p:spPr>
          <a:xfrm>
            <a:off x="13853160" y="6080760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Росстат по региону, стратегия региона</a:t>
            </a:r>
          </a:p>
        </p:txBody>
      </p:sp>
      <p:sp>
        <p:nvSpPr>
          <p:cNvPr id="247" name="Номер 8"/>
          <p:cNvSpPr/>
          <p:nvPr/>
        </p:nvSpPr>
        <p:spPr>
          <a:xfrm>
            <a:off x="1417320" y="6729984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8</a:t>
            </a:r>
          </a:p>
        </p:txBody>
      </p:sp>
      <p:sp>
        <p:nvSpPr>
          <p:cNvPr id="248" name="Текст"/>
          <p:cNvSpPr txBox="1"/>
          <p:nvPr/>
        </p:nvSpPr>
        <p:spPr>
          <a:xfrm>
            <a:off x="2011680" y="6647688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Коэффициент естественного прироста</a:t>
            </a:r>
          </a:p>
        </p:txBody>
      </p:sp>
      <p:sp>
        <p:nvSpPr>
          <p:cNvPr id="249" name="Текст"/>
          <p:cNvSpPr txBox="1"/>
          <p:nvPr/>
        </p:nvSpPr>
        <p:spPr>
          <a:xfrm>
            <a:off x="7178040" y="6647688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на 1000 населения</a:t>
            </a:r>
          </a:p>
        </p:txBody>
      </p:sp>
      <p:sp>
        <p:nvSpPr>
          <p:cNvPr id="250" name="Текст"/>
          <p:cNvSpPr txBox="1"/>
          <p:nvPr/>
        </p:nvSpPr>
        <p:spPr>
          <a:xfrm>
            <a:off x="10058400" y="6647688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51" name="Текст"/>
          <p:cNvSpPr txBox="1"/>
          <p:nvPr/>
        </p:nvSpPr>
        <p:spPr>
          <a:xfrm>
            <a:off x="13853160" y="6647688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стратегия СЭР</a:t>
            </a:r>
          </a:p>
        </p:txBody>
      </p:sp>
      <p:sp>
        <p:nvSpPr>
          <p:cNvPr id="252" name="Полоса"/>
          <p:cNvSpPr/>
          <p:nvPr/>
        </p:nvSpPr>
        <p:spPr>
          <a:xfrm>
            <a:off x="1069848" y="7242048"/>
            <a:ext cx="16870680" cy="512064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Номер 9"/>
          <p:cNvSpPr/>
          <p:nvPr/>
        </p:nvSpPr>
        <p:spPr>
          <a:xfrm>
            <a:off x="1417320" y="7296912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9</a:t>
            </a:r>
          </a:p>
        </p:txBody>
      </p:sp>
      <p:sp>
        <p:nvSpPr>
          <p:cNvPr id="254" name="Текст"/>
          <p:cNvSpPr txBox="1"/>
          <p:nvPr/>
        </p:nvSpPr>
        <p:spPr>
          <a:xfrm>
            <a:off x="2011680" y="7214616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Коэффициент миграционного прироста</a:t>
            </a:r>
          </a:p>
        </p:txBody>
      </p:sp>
      <p:sp>
        <p:nvSpPr>
          <p:cNvPr id="255" name="Текст"/>
          <p:cNvSpPr txBox="1"/>
          <p:nvPr/>
        </p:nvSpPr>
        <p:spPr>
          <a:xfrm>
            <a:off x="7178040" y="7214616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на 1000 населения</a:t>
            </a:r>
          </a:p>
        </p:txBody>
      </p:sp>
      <p:sp>
        <p:nvSpPr>
          <p:cNvPr id="256" name="Текст"/>
          <p:cNvSpPr txBox="1"/>
          <p:nvPr/>
        </p:nvSpPr>
        <p:spPr>
          <a:xfrm>
            <a:off x="10058400" y="7214616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Факт и целевые показатели стратегии</a:t>
            </a:r>
          </a:p>
        </p:txBody>
      </p:sp>
      <p:sp>
        <p:nvSpPr>
          <p:cNvPr id="257" name="Текст"/>
          <p:cNvSpPr txBox="1"/>
          <p:nvPr/>
        </p:nvSpPr>
        <p:spPr>
          <a:xfrm>
            <a:off x="13853160" y="7214616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БД ПМО, стратегия СЭР</a:t>
            </a:r>
          </a:p>
        </p:txBody>
      </p:sp>
      <p:sp>
        <p:nvSpPr>
          <p:cNvPr id="258" name="Номер 10"/>
          <p:cNvSpPr/>
          <p:nvPr/>
        </p:nvSpPr>
        <p:spPr>
          <a:xfrm>
            <a:off x="1417320" y="7863840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10</a:t>
            </a:r>
          </a:p>
        </p:txBody>
      </p:sp>
      <p:sp>
        <p:nvSpPr>
          <p:cNvPr id="259" name="Текст"/>
          <p:cNvSpPr txBox="1"/>
          <p:nvPr/>
        </p:nvSpPr>
        <p:spPr>
          <a:xfrm>
            <a:off x="2011680" y="7781544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Численность населения по полу и однолетним возрастам</a:t>
            </a:r>
          </a:p>
        </p:txBody>
      </p:sp>
      <p:sp>
        <p:nvSpPr>
          <p:cNvPr id="260" name="Текст"/>
          <p:cNvSpPr txBox="1"/>
          <p:nvPr/>
        </p:nvSpPr>
        <p:spPr>
          <a:xfrm>
            <a:off x="7178040" y="7781544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чел.</a:t>
            </a:r>
          </a:p>
        </p:txBody>
      </p:sp>
      <p:sp>
        <p:nvSpPr>
          <p:cNvPr id="261" name="Текст"/>
          <p:cNvSpPr txBox="1"/>
          <p:nvPr/>
        </p:nvSpPr>
        <p:spPr>
          <a:xfrm>
            <a:off x="10058400" y="7781544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Половозрастная структура на выбранные годы</a:t>
            </a:r>
          </a:p>
        </p:txBody>
      </p:sp>
      <p:sp>
        <p:nvSpPr>
          <p:cNvPr id="262" name="Текст"/>
          <p:cNvSpPr txBox="1"/>
          <p:nvPr/>
        </p:nvSpPr>
        <p:spPr>
          <a:xfrm>
            <a:off x="13853160" y="7781544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Региональный Росстат, итоги ВПН-2020</a:t>
            </a:r>
          </a:p>
        </p:txBody>
      </p:sp>
      <p:sp>
        <p:nvSpPr>
          <p:cNvPr id="263" name="Полоса"/>
          <p:cNvSpPr/>
          <p:nvPr/>
        </p:nvSpPr>
        <p:spPr>
          <a:xfrm>
            <a:off x="1069848" y="8375903"/>
            <a:ext cx="16870680" cy="512064"/>
          </a:xfrm>
          <a:prstGeom prst="roundRect">
            <a:avLst>
              <a:gd name="adj" fmla="val 30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Номер 11"/>
          <p:cNvSpPr/>
          <p:nvPr/>
        </p:nvSpPr>
        <p:spPr>
          <a:xfrm>
            <a:off x="1417320" y="8430767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11</a:t>
            </a:r>
          </a:p>
        </p:txBody>
      </p:sp>
      <p:sp>
        <p:nvSpPr>
          <p:cNvPr id="265" name="Текст"/>
          <p:cNvSpPr txBox="1"/>
          <p:nvPr/>
        </p:nvSpPr>
        <p:spPr>
          <a:xfrm>
            <a:off x="2011680" y="8348471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Средний возраст населения</a:t>
            </a:r>
          </a:p>
        </p:txBody>
      </p:sp>
      <p:sp>
        <p:nvSpPr>
          <p:cNvPr id="266" name="Текст"/>
          <p:cNvSpPr txBox="1"/>
          <p:nvPr/>
        </p:nvSpPr>
        <p:spPr>
          <a:xfrm>
            <a:off x="7178040" y="8348471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лет, всего, мужчины, женщины</a:t>
            </a:r>
          </a:p>
        </p:txBody>
      </p:sp>
      <p:sp>
        <p:nvSpPr>
          <p:cNvPr id="267" name="Текст"/>
          <p:cNvSpPr txBox="1"/>
          <p:nvPr/>
        </p:nvSpPr>
        <p:spPr>
          <a:xfrm>
            <a:off x="10058400" y="8348471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Старение населения по годам</a:t>
            </a:r>
          </a:p>
        </p:txBody>
      </p:sp>
      <p:sp>
        <p:nvSpPr>
          <p:cNvPr id="268" name="Текст"/>
          <p:cNvSpPr txBox="1"/>
          <p:nvPr/>
        </p:nvSpPr>
        <p:spPr>
          <a:xfrm>
            <a:off x="13853160" y="8348471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Расчёт по половозрастной структуре</a:t>
            </a:r>
          </a:p>
        </p:txBody>
      </p:sp>
      <p:sp>
        <p:nvSpPr>
          <p:cNvPr id="269" name="Номер 12"/>
          <p:cNvSpPr/>
          <p:nvPr/>
        </p:nvSpPr>
        <p:spPr>
          <a:xfrm>
            <a:off x="1417320" y="8997695"/>
            <a:ext cx="402336" cy="40233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62D3F"/>
                </a:solidFill>
                <a:latin typeface="Circe Bold"/>
              </a:rPr>
              <a:t>12</a:t>
            </a:r>
          </a:p>
        </p:txBody>
      </p:sp>
      <p:sp>
        <p:nvSpPr>
          <p:cNvPr id="270" name="Текст"/>
          <p:cNvSpPr txBox="1"/>
          <p:nvPr/>
        </p:nvSpPr>
        <p:spPr>
          <a:xfrm>
            <a:off x="2011680" y="8915399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Демографическая нагрузка</a:t>
            </a:r>
          </a:p>
        </p:txBody>
      </p:sp>
      <p:sp>
        <p:nvSpPr>
          <p:cNvPr id="271" name="Текст"/>
          <p:cNvSpPr txBox="1"/>
          <p:nvPr/>
        </p:nvSpPr>
        <p:spPr>
          <a:xfrm>
            <a:off x="7178040" y="8915399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на 1000 трудоспособного населения</a:t>
            </a:r>
          </a:p>
        </p:txBody>
      </p:sp>
      <p:sp>
        <p:nvSpPr>
          <p:cNvPr id="272" name="Текст"/>
          <p:cNvSpPr txBox="1"/>
          <p:nvPr/>
        </p:nvSpPr>
        <p:spPr>
          <a:xfrm>
            <a:off x="10058400" y="8915399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Нагрузка пожилыми и детьми</a:t>
            </a:r>
          </a:p>
        </p:txBody>
      </p:sp>
      <p:sp>
        <p:nvSpPr>
          <p:cNvPr id="273" name="Текст"/>
          <p:cNvSpPr txBox="1"/>
          <p:nvPr/>
        </p:nvSpPr>
        <p:spPr>
          <a:xfrm>
            <a:off x="13853160" y="8915399"/>
            <a:ext cx="4023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062D3F"/>
                </a:solidFill>
                <a:latin typeface="Circe"/>
              </a:rPr>
              <a:t>Расчёт по половозрастной структуре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