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418" r:id="rId65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504"/>
    <a:srgbClr val="062D3F"/>
    <a:srgbClr val="FFCC00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52" d="100"/>
          <a:sy n="52" d="100"/>
        </p:scale>
        <p:origin x="1013" y="58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slide" Target="slides/slide5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пересобран по PDF в дизайн-коде института: график и таблицы нативные, слова и компоновка сохранены. В тексте оставлены формулировки оригинала, в том числе «схожие в общероссийскими тенденции» (вероятно, «схожие с общероссийскими») и «в 2021 гг.»; их стоит поправить. Красные значения «Факт» заменены выделением цветом ячейки.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5" y="546101"/>
            <a:ext cx="17631873" cy="461665"/>
          </a:xfrm>
        </p:spPr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irce Bold"/>
                <a:cs typeface="Circ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0516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790311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rgbClr val="44626F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rgbClr val="44626F"/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2694036" y="10091362"/>
            <a:ext cx="581506" cy="246221"/>
          </a:xfrm>
        </p:spPr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pPr marL="67938">
              <a:spcBef>
                <a:spcPts val="105"/>
              </a:spcBef>
            </a:pPr>
            <a:fld id="{81D60167-4931-47E6-BA6A-407CBD079E47}" type="slidenum">
              <a:rPr lang="ru-RU" spc="-25" smtClean="0">
                <a:solidFill>
                  <a:srgbClr val="062D3F"/>
                </a:solidFill>
              </a:rPr>
              <a:pPr marL="67938">
                <a:spcBef>
                  <a:spcPts val="105"/>
                </a:spcBef>
              </a:pPr>
              <a:t>‹#›</a:t>
            </a:fld>
            <a:endParaRPr lang="ru-RU" spc="-25" dirty="0">
              <a:solidFill>
                <a:srgbClr val="062D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46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7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  <p:sldLayoutId id="2147483668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20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ДЕМОГРАФИЧЕСКИЙ ПРОГНОЗ НА ПЕРИОД ДО 2045 Г.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202" name="Rectangle 4"/>
          <p:cNvSpPr/>
          <p:nvPr/>
        </p:nvSpPr>
        <p:spPr>
          <a:xfrm>
            <a:off x="1069330" y="146304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ru-RU" sz="2200" dirty="0">
                <a:solidFill>
                  <a:srgbClr val="062D3F"/>
                </a:solidFill>
                <a:latin typeface="Circe"/>
              </a:rPr>
              <a:t>Г. ВЕЛИКИЙ НОВГОРОД</a:t>
            </a:r>
            <a:endParaRPr sz="2200" b="0" dirty="0">
              <a:solidFill>
                <a:srgbClr val="062D3F"/>
              </a:solidFill>
              <a:latin typeface="Circe"/>
            </a:endParaRPr>
          </a:p>
        </p:txBody>
      </p:sp>
      <p:sp>
        <p:nvSpPr>
          <p:cNvPr id="203" name="Пояснение"/>
          <p:cNvSpPr txBox="1"/>
          <p:nvPr/>
        </p:nvSpPr>
        <p:spPr>
          <a:xfrm>
            <a:off x="1069848" y="192024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(разработан по четырем вариантам: целевому 1, целевому 2, базовому и инерционному)</a:t>
            </a:r>
          </a:p>
        </p:txBody>
      </p:sp>
      <p:sp>
        <p:nvSpPr>
          <p:cNvPr id="204" name="Единицы"/>
          <p:cNvSpPr txBox="1"/>
          <p:nvPr/>
        </p:nvSpPr>
        <p:spPr>
          <a:xfrm>
            <a:off x="1069848" y="2244852"/>
            <a:ext cx="1828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62D3F"/>
                </a:solidFill>
                <a:latin typeface="Circe Bold"/>
              </a:rPr>
              <a:t>тыс. человек</a:t>
            </a:r>
          </a:p>
        </p:txBody>
      </p:sp>
      <p:sp>
        <p:nvSpPr>
          <p:cNvPr id="205" name="Год 2015"/>
          <p:cNvSpPr txBox="1"/>
          <p:nvPr/>
        </p:nvSpPr>
        <p:spPr>
          <a:xfrm>
            <a:off x="1563623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2015</a:t>
            </a:r>
          </a:p>
        </p:txBody>
      </p:sp>
      <p:sp>
        <p:nvSpPr>
          <p:cNvPr id="206" name="Год 2016"/>
          <p:cNvSpPr txBox="1"/>
          <p:nvPr/>
        </p:nvSpPr>
        <p:spPr>
          <a:xfrm>
            <a:off x="2079894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2016</a:t>
            </a:r>
          </a:p>
        </p:txBody>
      </p:sp>
      <p:sp>
        <p:nvSpPr>
          <p:cNvPr id="207" name="Год 2017"/>
          <p:cNvSpPr txBox="1"/>
          <p:nvPr/>
        </p:nvSpPr>
        <p:spPr>
          <a:xfrm>
            <a:off x="2596164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2017</a:t>
            </a:r>
          </a:p>
        </p:txBody>
      </p:sp>
      <p:sp>
        <p:nvSpPr>
          <p:cNvPr id="208" name="Год 2018"/>
          <p:cNvSpPr txBox="1"/>
          <p:nvPr/>
        </p:nvSpPr>
        <p:spPr>
          <a:xfrm>
            <a:off x="3112434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2018</a:t>
            </a:r>
          </a:p>
        </p:txBody>
      </p:sp>
      <p:sp>
        <p:nvSpPr>
          <p:cNvPr id="209" name="Год 2019"/>
          <p:cNvSpPr txBox="1"/>
          <p:nvPr/>
        </p:nvSpPr>
        <p:spPr>
          <a:xfrm>
            <a:off x="3628704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2019</a:t>
            </a:r>
          </a:p>
        </p:txBody>
      </p:sp>
      <p:sp>
        <p:nvSpPr>
          <p:cNvPr id="210" name="Год 2020"/>
          <p:cNvSpPr txBox="1"/>
          <p:nvPr/>
        </p:nvSpPr>
        <p:spPr>
          <a:xfrm>
            <a:off x="4144975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2020</a:t>
            </a:r>
          </a:p>
        </p:txBody>
      </p:sp>
      <p:sp>
        <p:nvSpPr>
          <p:cNvPr id="211" name="Год 2021"/>
          <p:cNvSpPr txBox="1"/>
          <p:nvPr/>
        </p:nvSpPr>
        <p:spPr>
          <a:xfrm>
            <a:off x="4661245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2021</a:t>
            </a:r>
          </a:p>
        </p:txBody>
      </p:sp>
      <p:sp>
        <p:nvSpPr>
          <p:cNvPr id="212" name="Год 2022"/>
          <p:cNvSpPr txBox="1"/>
          <p:nvPr/>
        </p:nvSpPr>
        <p:spPr>
          <a:xfrm>
            <a:off x="5177515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2022</a:t>
            </a:r>
          </a:p>
        </p:txBody>
      </p:sp>
      <p:sp>
        <p:nvSpPr>
          <p:cNvPr id="213" name="Год 2023"/>
          <p:cNvSpPr txBox="1"/>
          <p:nvPr/>
        </p:nvSpPr>
        <p:spPr>
          <a:xfrm>
            <a:off x="5693785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2023</a:t>
            </a:r>
          </a:p>
        </p:txBody>
      </p:sp>
      <p:sp>
        <p:nvSpPr>
          <p:cNvPr id="214" name="Год 2024"/>
          <p:cNvSpPr txBox="1"/>
          <p:nvPr/>
        </p:nvSpPr>
        <p:spPr>
          <a:xfrm>
            <a:off x="6210056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2024</a:t>
            </a:r>
          </a:p>
        </p:txBody>
      </p:sp>
      <p:sp>
        <p:nvSpPr>
          <p:cNvPr id="215" name="Год 2025"/>
          <p:cNvSpPr txBox="1"/>
          <p:nvPr/>
        </p:nvSpPr>
        <p:spPr>
          <a:xfrm>
            <a:off x="6726326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2025</a:t>
            </a:r>
          </a:p>
        </p:txBody>
      </p:sp>
      <p:sp>
        <p:nvSpPr>
          <p:cNvPr id="216" name="Год 2026"/>
          <p:cNvSpPr txBox="1"/>
          <p:nvPr/>
        </p:nvSpPr>
        <p:spPr>
          <a:xfrm>
            <a:off x="7242596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2026</a:t>
            </a:r>
          </a:p>
        </p:txBody>
      </p:sp>
      <p:sp>
        <p:nvSpPr>
          <p:cNvPr id="217" name="Год 2027"/>
          <p:cNvSpPr txBox="1"/>
          <p:nvPr/>
        </p:nvSpPr>
        <p:spPr>
          <a:xfrm>
            <a:off x="7758866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2027</a:t>
            </a:r>
          </a:p>
        </p:txBody>
      </p:sp>
      <p:sp>
        <p:nvSpPr>
          <p:cNvPr id="218" name="Год 2028"/>
          <p:cNvSpPr txBox="1"/>
          <p:nvPr/>
        </p:nvSpPr>
        <p:spPr>
          <a:xfrm>
            <a:off x="8275137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2028</a:t>
            </a:r>
          </a:p>
        </p:txBody>
      </p:sp>
      <p:sp>
        <p:nvSpPr>
          <p:cNvPr id="219" name="Год 2029"/>
          <p:cNvSpPr txBox="1"/>
          <p:nvPr/>
        </p:nvSpPr>
        <p:spPr>
          <a:xfrm>
            <a:off x="8791407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2029</a:t>
            </a:r>
          </a:p>
        </p:txBody>
      </p:sp>
      <p:sp>
        <p:nvSpPr>
          <p:cNvPr id="220" name="Год 2030"/>
          <p:cNvSpPr txBox="1"/>
          <p:nvPr/>
        </p:nvSpPr>
        <p:spPr>
          <a:xfrm>
            <a:off x="9307677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2030</a:t>
            </a:r>
          </a:p>
        </p:txBody>
      </p:sp>
      <p:sp>
        <p:nvSpPr>
          <p:cNvPr id="221" name="Год 2031"/>
          <p:cNvSpPr txBox="1"/>
          <p:nvPr/>
        </p:nvSpPr>
        <p:spPr>
          <a:xfrm>
            <a:off x="9823947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2031</a:t>
            </a:r>
          </a:p>
        </p:txBody>
      </p:sp>
      <p:sp>
        <p:nvSpPr>
          <p:cNvPr id="222" name="Год 2032"/>
          <p:cNvSpPr txBox="1"/>
          <p:nvPr/>
        </p:nvSpPr>
        <p:spPr>
          <a:xfrm>
            <a:off x="10340218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2032</a:t>
            </a:r>
          </a:p>
        </p:txBody>
      </p:sp>
      <p:sp>
        <p:nvSpPr>
          <p:cNvPr id="223" name="Год 2033"/>
          <p:cNvSpPr txBox="1"/>
          <p:nvPr/>
        </p:nvSpPr>
        <p:spPr>
          <a:xfrm>
            <a:off x="10856488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2033</a:t>
            </a:r>
          </a:p>
        </p:txBody>
      </p:sp>
      <p:sp>
        <p:nvSpPr>
          <p:cNvPr id="224" name="Год 2034"/>
          <p:cNvSpPr txBox="1"/>
          <p:nvPr/>
        </p:nvSpPr>
        <p:spPr>
          <a:xfrm>
            <a:off x="11372758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2034</a:t>
            </a:r>
          </a:p>
        </p:txBody>
      </p:sp>
      <p:sp>
        <p:nvSpPr>
          <p:cNvPr id="225" name="Год 2035"/>
          <p:cNvSpPr txBox="1"/>
          <p:nvPr/>
        </p:nvSpPr>
        <p:spPr>
          <a:xfrm>
            <a:off x="11889028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2035</a:t>
            </a:r>
          </a:p>
        </p:txBody>
      </p:sp>
      <p:sp>
        <p:nvSpPr>
          <p:cNvPr id="226" name="Год 2036"/>
          <p:cNvSpPr txBox="1"/>
          <p:nvPr/>
        </p:nvSpPr>
        <p:spPr>
          <a:xfrm>
            <a:off x="12405299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2036</a:t>
            </a:r>
          </a:p>
        </p:txBody>
      </p:sp>
      <p:sp>
        <p:nvSpPr>
          <p:cNvPr id="227" name="Год 2037"/>
          <p:cNvSpPr txBox="1"/>
          <p:nvPr/>
        </p:nvSpPr>
        <p:spPr>
          <a:xfrm>
            <a:off x="12921569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2037</a:t>
            </a:r>
          </a:p>
        </p:txBody>
      </p:sp>
      <p:sp>
        <p:nvSpPr>
          <p:cNvPr id="228" name="Год 2038"/>
          <p:cNvSpPr txBox="1"/>
          <p:nvPr/>
        </p:nvSpPr>
        <p:spPr>
          <a:xfrm>
            <a:off x="13437839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2038</a:t>
            </a:r>
          </a:p>
        </p:txBody>
      </p:sp>
      <p:sp>
        <p:nvSpPr>
          <p:cNvPr id="229" name="Год 2039"/>
          <p:cNvSpPr txBox="1"/>
          <p:nvPr/>
        </p:nvSpPr>
        <p:spPr>
          <a:xfrm>
            <a:off x="13954109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2039</a:t>
            </a:r>
          </a:p>
        </p:txBody>
      </p:sp>
      <p:sp>
        <p:nvSpPr>
          <p:cNvPr id="230" name="Год 2040"/>
          <p:cNvSpPr txBox="1"/>
          <p:nvPr/>
        </p:nvSpPr>
        <p:spPr>
          <a:xfrm>
            <a:off x="14470380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2040</a:t>
            </a:r>
          </a:p>
        </p:txBody>
      </p:sp>
      <p:sp>
        <p:nvSpPr>
          <p:cNvPr id="231" name="Год 2041"/>
          <p:cNvSpPr txBox="1"/>
          <p:nvPr/>
        </p:nvSpPr>
        <p:spPr>
          <a:xfrm>
            <a:off x="14986650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2041</a:t>
            </a:r>
          </a:p>
        </p:txBody>
      </p:sp>
      <p:sp>
        <p:nvSpPr>
          <p:cNvPr id="232" name="Год 2042"/>
          <p:cNvSpPr txBox="1"/>
          <p:nvPr/>
        </p:nvSpPr>
        <p:spPr>
          <a:xfrm>
            <a:off x="15502920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2042</a:t>
            </a:r>
          </a:p>
        </p:txBody>
      </p:sp>
      <p:sp>
        <p:nvSpPr>
          <p:cNvPr id="233" name="Год 2043"/>
          <p:cNvSpPr txBox="1"/>
          <p:nvPr/>
        </p:nvSpPr>
        <p:spPr>
          <a:xfrm>
            <a:off x="16019190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2043</a:t>
            </a:r>
          </a:p>
        </p:txBody>
      </p:sp>
      <p:sp>
        <p:nvSpPr>
          <p:cNvPr id="234" name="Год 2044"/>
          <p:cNvSpPr txBox="1"/>
          <p:nvPr/>
        </p:nvSpPr>
        <p:spPr>
          <a:xfrm>
            <a:off x="16535460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2044</a:t>
            </a:r>
          </a:p>
        </p:txBody>
      </p:sp>
      <p:sp>
        <p:nvSpPr>
          <p:cNvPr id="235" name="Год 2045"/>
          <p:cNvSpPr txBox="1"/>
          <p:nvPr/>
        </p:nvSpPr>
        <p:spPr>
          <a:xfrm>
            <a:off x="17051731" y="3735324"/>
            <a:ext cx="5486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062D3F"/>
                </a:solidFill>
                <a:latin typeface="Circe"/>
              </a:rPr>
              <a:t>2045</a:t>
            </a:r>
          </a:p>
        </p:txBody>
      </p:sp>
      <p:cxnSp>
        <p:nvCxnSpPr>
          <p:cNvPr id="236" name="Ось"/>
          <p:cNvCxnSpPr/>
          <p:nvPr/>
        </p:nvCxnSpPr>
        <p:spPr>
          <a:xfrm>
            <a:off x="1505102" y="3659886"/>
            <a:ext cx="16322040" cy="0"/>
          </a:xfrm>
          <a:prstGeom prst="line">
            <a:avLst/>
          </a:prstGeom>
          <a:ln w="12700">
            <a:solidFill>
              <a:srgbClr val="D9DEE2"/>
            </a:solidFill>
          </a:ln>
        </p:spPr>
      </p:cxnSp>
      <p:sp>
        <p:nvSpPr>
          <p:cNvPr id="2" name="Существующее положение"/>
          <p:cNvSpPr/>
          <p:nvPr/>
        </p:nvSpPr>
        <p:spPr>
          <a:xfrm>
            <a:off x="1837943" y="2854756"/>
            <a:ext cx="4646433" cy="74067"/>
          </a:xfrm>
          <a:custGeom>
            <a:avLst/>
            <a:gdLst/>
            <a:ahLst/>
            <a:cxnLst/>
            <a:rect l="l" t="t" r="r" b="b"/>
            <a:pathLst>
              <a:path w="4646433" h="74067">
                <a:moveTo>
                  <a:pt x="0" y="71324"/>
                </a:moveTo>
                <a:lnTo>
                  <a:pt x="516271" y="74067"/>
                </a:lnTo>
                <a:lnTo>
                  <a:pt x="1032541" y="63094"/>
                </a:lnTo>
                <a:lnTo>
                  <a:pt x="1548811" y="49378"/>
                </a:lnTo>
                <a:lnTo>
                  <a:pt x="2065081" y="24689"/>
                </a:lnTo>
                <a:lnTo>
                  <a:pt x="2581352" y="5487"/>
                </a:lnTo>
                <a:lnTo>
                  <a:pt x="3097622" y="0"/>
                </a:lnTo>
                <a:lnTo>
                  <a:pt x="3613892" y="16460"/>
                </a:lnTo>
                <a:lnTo>
                  <a:pt x="4130162" y="46635"/>
                </a:lnTo>
                <a:lnTo>
                  <a:pt x="4646433" y="63094"/>
                </a:lnTo>
              </a:path>
            </a:pathLst>
          </a:custGeom>
          <a:noFill/>
          <a:ln w="38100">
            <a:solidFill>
              <a:srgbClr val="062D3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СЭР"/>
          <p:cNvSpPr/>
          <p:nvPr/>
        </p:nvSpPr>
        <p:spPr>
          <a:xfrm>
            <a:off x="4935565" y="2665476"/>
            <a:ext cx="4646432" cy="189280"/>
          </a:xfrm>
          <a:custGeom>
            <a:avLst/>
            <a:gdLst/>
            <a:ahLst/>
            <a:cxnLst/>
            <a:rect l="l" t="t" r="r" b="b"/>
            <a:pathLst>
              <a:path w="4646432" h="189280">
                <a:moveTo>
                  <a:pt x="0" y="189280"/>
                </a:moveTo>
                <a:lnTo>
                  <a:pt x="4646432" y="0"/>
                </a:lnTo>
              </a:path>
            </a:pathLst>
          </a:custGeom>
          <a:noFill/>
          <a:ln w="19050">
            <a:solidFill>
              <a:srgbClr val="062D3F"/>
            </a:solidFill>
            <a:prstDash val="sysDot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Целевой (2)"/>
          <p:cNvSpPr/>
          <p:nvPr/>
        </p:nvSpPr>
        <p:spPr>
          <a:xfrm>
            <a:off x="6484376" y="2240280"/>
            <a:ext cx="10841675" cy="677570"/>
          </a:xfrm>
          <a:custGeom>
            <a:avLst/>
            <a:gdLst/>
            <a:ahLst/>
            <a:cxnLst/>
            <a:rect l="l" t="t" r="r" b="b"/>
            <a:pathLst>
              <a:path w="10841675" h="677570">
                <a:moveTo>
                  <a:pt x="0" y="677570"/>
                </a:moveTo>
                <a:lnTo>
                  <a:pt x="5678972" y="194767"/>
                </a:lnTo>
                <a:lnTo>
                  <a:pt x="10841675" y="0"/>
                </a:lnTo>
              </a:path>
            </a:pathLst>
          </a:custGeom>
          <a:noFill/>
          <a:ln w="50800">
            <a:solidFill>
              <a:srgbClr val="FFCC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Целевой (1)"/>
          <p:cNvSpPr/>
          <p:nvPr/>
        </p:nvSpPr>
        <p:spPr>
          <a:xfrm>
            <a:off x="6484376" y="2673705"/>
            <a:ext cx="10841675" cy="244145"/>
          </a:xfrm>
          <a:custGeom>
            <a:avLst/>
            <a:gdLst/>
            <a:ahLst/>
            <a:cxnLst/>
            <a:rect l="l" t="t" r="r" b="b"/>
            <a:pathLst>
              <a:path w="10841675" h="244145">
                <a:moveTo>
                  <a:pt x="0" y="244145"/>
                </a:moveTo>
                <a:lnTo>
                  <a:pt x="5678972" y="0"/>
                </a:lnTo>
                <a:lnTo>
                  <a:pt x="10841675" y="5487"/>
                </a:lnTo>
              </a:path>
            </a:pathLst>
          </a:custGeom>
          <a:noFill/>
          <a:ln w="28575">
            <a:solidFill>
              <a:srgbClr val="062D3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Базовый"/>
          <p:cNvSpPr/>
          <p:nvPr/>
        </p:nvSpPr>
        <p:spPr>
          <a:xfrm>
            <a:off x="6484376" y="2852013"/>
            <a:ext cx="10841675" cy="161849"/>
          </a:xfrm>
          <a:custGeom>
            <a:avLst/>
            <a:gdLst/>
            <a:ahLst/>
            <a:cxnLst/>
            <a:rect l="l" t="t" r="r" b="b"/>
            <a:pathLst>
              <a:path w="10841675" h="161849">
                <a:moveTo>
                  <a:pt x="0" y="65837"/>
                </a:moveTo>
                <a:lnTo>
                  <a:pt x="5678972" y="0"/>
                </a:lnTo>
                <a:lnTo>
                  <a:pt x="10841675" y="161849"/>
                </a:lnTo>
              </a:path>
            </a:pathLst>
          </a:custGeom>
          <a:noFill/>
          <a:ln w="28575">
            <a:solidFill>
              <a:srgbClr val="5E6B7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Инерционный"/>
          <p:cNvSpPr/>
          <p:nvPr/>
        </p:nvSpPr>
        <p:spPr>
          <a:xfrm>
            <a:off x="6484376" y="2917850"/>
            <a:ext cx="10841675" cy="589788"/>
          </a:xfrm>
          <a:custGeom>
            <a:avLst/>
            <a:gdLst/>
            <a:ahLst/>
            <a:cxnLst/>
            <a:rect l="l" t="t" r="r" b="b"/>
            <a:pathLst>
              <a:path w="10841675" h="589788">
                <a:moveTo>
                  <a:pt x="0" y="0"/>
                </a:moveTo>
                <a:lnTo>
                  <a:pt x="5678972" y="200254"/>
                </a:lnTo>
                <a:lnTo>
                  <a:pt x="10841675" y="589788"/>
                </a:lnTo>
              </a:path>
            </a:pathLst>
          </a:custGeom>
          <a:noFill/>
          <a:ln w="28575">
            <a:solidFill>
              <a:srgbClr val="9AA5A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Значение 222,0"/>
          <p:cNvSpPr txBox="1"/>
          <p:nvPr/>
        </p:nvSpPr>
        <p:spPr>
          <a:xfrm>
            <a:off x="1378732" y="2681478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222,0</a:t>
            </a:r>
          </a:p>
        </p:txBody>
      </p:sp>
      <p:sp>
        <p:nvSpPr>
          <p:cNvPr id="238" name="Значение 224,6"/>
          <p:cNvSpPr txBox="1"/>
          <p:nvPr/>
        </p:nvSpPr>
        <p:spPr>
          <a:xfrm>
            <a:off x="4153479" y="2599182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224,6</a:t>
            </a:r>
          </a:p>
        </p:txBody>
      </p:sp>
      <p:sp>
        <p:nvSpPr>
          <p:cNvPr id="239" name="Значение 222,3"/>
          <p:cNvSpPr txBox="1"/>
          <p:nvPr/>
        </p:nvSpPr>
        <p:spPr>
          <a:xfrm>
            <a:off x="5927140" y="2900934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222,3</a:t>
            </a:r>
          </a:p>
        </p:txBody>
      </p:sp>
      <p:sp>
        <p:nvSpPr>
          <p:cNvPr id="240" name="Значение 231,5"/>
          <p:cNvSpPr txBox="1"/>
          <p:nvPr/>
        </p:nvSpPr>
        <p:spPr>
          <a:xfrm>
            <a:off x="9365650" y="2585466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231,5</a:t>
            </a:r>
          </a:p>
        </p:txBody>
      </p:sp>
      <p:sp>
        <p:nvSpPr>
          <p:cNvPr id="241" name="Значение 239,9"/>
          <p:cNvSpPr txBox="1"/>
          <p:nvPr/>
        </p:nvSpPr>
        <p:spPr>
          <a:xfrm>
            <a:off x="11400464" y="2221992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239,9</a:t>
            </a:r>
          </a:p>
        </p:txBody>
      </p:sp>
      <p:sp>
        <p:nvSpPr>
          <p:cNvPr id="242" name="Значение 231,2"/>
          <p:cNvSpPr txBox="1"/>
          <p:nvPr/>
        </p:nvSpPr>
        <p:spPr>
          <a:xfrm>
            <a:off x="11585448" y="2448306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231,2</a:t>
            </a:r>
          </a:p>
        </p:txBody>
      </p:sp>
      <p:sp>
        <p:nvSpPr>
          <p:cNvPr id="243" name="Значение 224,7"/>
          <p:cNvSpPr txBox="1"/>
          <p:nvPr/>
        </p:nvSpPr>
        <p:spPr>
          <a:xfrm>
            <a:off x="11737787" y="2654046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224,7</a:t>
            </a:r>
          </a:p>
        </p:txBody>
      </p:sp>
      <p:sp>
        <p:nvSpPr>
          <p:cNvPr id="244" name="Значение 215,0"/>
          <p:cNvSpPr txBox="1"/>
          <p:nvPr/>
        </p:nvSpPr>
        <p:spPr>
          <a:xfrm>
            <a:off x="11846600" y="2928366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215,0</a:t>
            </a:r>
          </a:p>
        </p:txBody>
      </p:sp>
      <p:sp>
        <p:nvSpPr>
          <p:cNvPr id="245" name="Значение 231,0"/>
          <p:cNvSpPr txBox="1"/>
          <p:nvPr/>
        </p:nvSpPr>
        <p:spPr>
          <a:xfrm>
            <a:off x="17189348" y="2393442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231,0</a:t>
            </a:r>
          </a:p>
        </p:txBody>
      </p:sp>
      <p:sp>
        <p:nvSpPr>
          <p:cNvPr id="246" name="Значение 218,8"/>
          <p:cNvSpPr txBox="1"/>
          <p:nvPr/>
        </p:nvSpPr>
        <p:spPr>
          <a:xfrm>
            <a:off x="17156704" y="2791206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218,8</a:t>
            </a:r>
          </a:p>
        </p:txBody>
      </p:sp>
      <p:sp>
        <p:nvSpPr>
          <p:cNvPr id="247" name="Значение 200,8"/>
          <p:cNvSpPr txBox="1"/>
          <p:nvPr/>
        </p:nvSpPr>
        <p:spPr>
          <a:xfrm>
            <a:off x="17145822" y="3305556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200,8</a:t>
            </a:r>
          </a:p>
        </p:txBody>
      </p:sp>
      <p:sp>
        <p:nvSpPr>
          <p:cNvPr id="248" name="Значение 247,0"/>
          <p:cNvSpPr txBox="1"/>
          <p:nvPr/>
        </p:nvSpPr>
        <p:spPr>
          <a:xfrm>
            <a:off x="17178467" y="1995678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62D3F"/>
                </a:solidFill>
                <a:latin typeface="Circe Bold"/>
              </a:rPr>
              <a:t>247,0</a:t>
            </a:r>
          </a:p>
        </p:txBody>
      </p:sp>
      <p:sp>
        <p:nvSpPr>
          <p:cNvPr id="249" name="Выделение сценария"/>
          <p:cNvSpPr/>
          <p:nvPr/>
        </p:nvSpPr>
        <p:spPr>
          <a:xfrm>
            <a:off x="17108972" y="1959102"/>
            <a:ext cx="868680" cy="402336"/>
          </a:xfrm>
          <a:prstGeom prst="roundRect">
            <a:avLst>
              <a:gd name="adj" fmla="val 50000"/>
            </a:avLst>
          </a:prstGeom>
          <a:noFill/>
          <a:ln w="31750">
            <a:solidFill>
              <a:srgbClr val="FFCC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Приоритетный сценарий"/>
          <p:cNvSpPr txBox="1"/>
          <p:nvPr/>
        </p:nvSpPr>
        <p:spPr>
          <a:xfrm>
            <a:off x="11298326" y="1995678"/>
            <a:ext cx="571271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062D3F"/>
                </a:solidFill>
                <a:latin typeface="Circe Bold"/>
              </a:rPr>
              <a:t>является приоритетным сценарием</a:t>
            </a:r>
          </a:p>
        </p:txBody>
      </p:sp>
      <p:cxnSp>
        <p:nvCxnSpPr>
          <p:cNvPr id="251" name="Условное обозначение"/>
          <p:cNvCxnSpPr/>
          <p:nvPr/>
        </p:nvCxnSpPr>
        <p:spPr>
          <a:xfrm>
            <a:off x="1505102" y="4224528"/>
            <a:ext cx="402610" cy="0"/>
          </a:xfrm>
          <a:prstGeom prst="line">
            <a:avLst/>
          </a:prstGeom>
          <a:ln w="38100">
            <a:solidFill>
              <a:srgbClr val="062D3F"/>
            </a:solidFill>
          </a:ln>
        </p:spPr>
      </p:cxnSp>
      <p:sp>
        <p:nvSpPr>
          <p:cNvPr id="252" name="Легенда Существующее положение"/>
          <p:cNvSpPr txBox="1"/>
          <p:nvPr/>
        </p:nvSpPr>
        <p:spPr>
          <a:xfrm>
            <a:off x="1962119" y="4096512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Существующее положение</a:t>
            </a:r>
          </a:p>
        </p:txBody>
      </p:sp>
      <p:cxnSp>
        <p:nvCxnSpPr>
          <p:cNvPr id="253" name="Условное обозначение"/>
          <p:cNvCxnSpPr/>
          <p:nvPr/>
        </p:nvCxnSpPr>
        <p:spPr>
          <a:xfrm>
            <a:off x="5183002" y="4224528"/>
            <a:ext cx="380847" cy="0"/>
          </a:xfrm>
          <a:prstGeom prst="line">
            <a:avLst/>
          </a:prstGeom>
          <a:ln w="28575">
            <a:solidFill>
              <a:srgbClr val="5E6B73"/>
            </a:solidFill>
            <a:prstDash val="dash"/>
          </a:ln>
        </p:spPr>
      </p:cxnSp>
      <p:sp>
        <p:nvSpPr>
          <p:cNvPr id="254" name="Легенда Базовый"/>
          <p:cNvSpPr txBox="1"/>
          <p:nvPr/>
        </p:nvSpPr>
        <p:spPr>
          <a:xfrm>
            <a:off x="5640019" y="4096512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Базовый</a:t>
            </a:r>
          </a:p>
        </p:txBody>
      </p:sp>
      <p:cxnSp>
        <p:nvCxnSpPr>
          <p:cNvPr id="255" name="Условное обозначение"/>
          <p:cNvCxnSpPr/>
          <p:nvPr/>
        </p:nvCxnSpPr>
        <p:spPr>
          <a:xfrm>
            <a:off x="6869612" y="4224528"/>
            <a:ext cx="380848" cy="0"/>
          </a:xfrm>
          <a:prstGeom prst="line">
            <a:avLst/>
          </a:prstGeom>
          <a:ln w="28575">
            <a:solidFill>
              <a:srgbClr val="9AA5AB"/>
            </a:solidFill>
            <a:prstDash val="dash"/>
          </a:ln>
        </p:spPr>
      </p:cxnSp>
      <p:sp>
        <p:nvSpPr>
          <p:cNvPr id="256" name="Легенда Инерционный"/>
          <p:cNvSpPr txBox="1"/>
          <p:nvPr/>
        </p:nvSpPr>
        <p:spPr>
          <a:xfrm>
            <a:off x="7326629" y="4096512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Инерционный</a:t>
            </a:r>
          </a:p>
        </p:txBody>
      </p:sp>
      <p:cxnSp>
        <p:nvCxnSpPr>
          <p:cNvPr id="257" name="Условное обозначение"/>
          <p:cNvCxnSpPr/>
          <p:nvPr/>
        </p:nvCxnSpPr>
        <p:spPr>
          <a:xfrm>
            <a:off x="9209105" y="4224528"/>
            <a:ext cx="380847" cy="0"/>
          </a:xfrm>
          <a:prstGeom prst="line">
            <a:avLst/>
          </a:prstGeom>
          <a:ln w="28575">
            <a:solidFill>
              <a:srgbClr val="062D3F"/>
            </a:solidFill>
            <a:prstDash val="dash"/>
          </a:ln>
        </p:spPr>
      </p:cxnSp>
      <p:sp>
        <p:nvSpPr>
          <p:cNvPr id="258" name="Легенда Целевой (1)"/>
          <p:cNvSpPr txBox="1"/>
          <p:nvPr/>
        </p:nvSpPr>
        <p:spPr>
          <a:xfrm>
            <a:off x="9655241" y="4096512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Целевой (1)</a:t>
            </a:r>
          </a:p>
        </p:txBody>
      </p:sp>
      <p:cxnSp>
        <p:nvCxnSpPr>
          <p:cNvPr id="259" name="Условное обозначение"/>
          <p:cNvCxnSpPr/>
          <p:nvPr/>
        </p:nvCxnSpPr>
        <p:spPr>
          <a:xfrm>
            <a:off x="11211275" y="4224528"/>
            <a:ext cx="380848" cy="0"/>
          </a:xfrm>
          <a:prstGeom prst="line">
            <a:avLst/>
          </a:prstGeom>
          <a:ln w="50800">
            <a:solidFill>
              <a:srgbClr val="FFCC00"/>
            </a:solidFill>
            <a:prstDash val="dash"/>
          </a:ln>
        </p:spPr>
      </p:cxnSp>
      <p:sp>
        <p:nvSpPr>
          <p:cNvPr id="260" name="Легенда Целевой (2)"/>
          <p:cNvSpPr txBox="1"/>
          <p:nvPr/>
        </p:nvSpPr>
        <p:spPr>
          <a:xfrm>
            <a:off x="11668292" y="4096512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Целевой (2)</a:t>
            </a:r>
          </a:p>
        </p:txBody>
      </p:sp>
      <p:cxnSp>
        <p:nvCxnSpPr>
          <p:cNvPr id="261" name="Условное обозначение"/>
          <p:cNvCxnSpPr/>
          <p:nvPr/>
        </p:nvCxnSpPr>
        <p:spPr>
          <a:xfrm>
            <a:off x="13256971" y="4224528"/>
            <a:ext cx="380847" cy="0"/>
          </a:xfrm>
          <a:prstGeom prst="line">
            <a:avLst/>
          </a:prstGeom>
          <a:ln w="19050">
            <a:solidFill>
              <a:srgbClr val="062D3F"/>
            </a:solidFill>
            <a:prstDash val="sysDot"/>
          </a:ln>
        </p:spPr>
      </p:cxnSp>
      <p:sp>
        <p:nvSpPr>
          <p:cNvPr id="262" name="Легенда СЭР (до 2030 года)"/>
          <p:cNvSpPr txBox="1"/>
          <p:nvPr/>
        </p:nvSpPr>
        <p:spPr>
          <a:xfrm>
            <a:off x="13703106" y="4096512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62D3F"/>
                </a:solidFill>
                <a:latin typeface="Circe"/>
              </a:rPr>
              <a:t>СЭР (до 2030 года)</a:t>
            </a:r>
          </a:p>
        </p:txBody>
      </p:sp>
      <p:sp>
        <p:nvSpPr>
          <p:cNvPr id="263" name="Выделение легенды"/>
          <p:cNvSpPr/>
          <p:nvPr/>
        </p:nvSpPr>
        <p:spPr>
          <a:xfrm>
            <a:off x="11080699" y="3986784"/>
            <a:ext cx="2013051" cy="475488"/>
          </a:xfrm>
          <a:prstGeom prst="roundRect">
            <a:avLst>
              <a:gd name="adj" fmla="val 50000"/>
            </a:avLst>
          </a:prstGeom>
          <a:noFill/>
          <a:ln w="31750">
            <a:solidFill>
              <a:srgbClr val="FFCC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4" name="Заголовок таблицы 1"/>
          <p:cNvSpPr txBox="1"/>
          <p:nvPr/>
        </p:nvSpPr>
        <p:spPr>
          <a:xfrm>
            <a:off x="1069848" y="4480560"/>
            <a:ext cx="8046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ПОКАЗАТЕЛИ ДЕМОГРАФИЧЕСКОГО ПРОГНОЗА</a:t>
            </a:r>
          </a:p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ПО СЦЕНАРИЯМ</a:t>
            </a:r>
          </a:p>
        </p:txBody>
      </p:sp>
      <p:sp>
        <p:nvSpPr>
          <p:cNvPr id="265" name="Заголовок таблицы 2"/>
          <p:cNvSpPr txBox="1"/>
          <p:nvPr/>
        </p:nvSpPr>
        <p:spPr>
          <a:xfrm>
            <a:off x="9720529" y="4480560"/>
            <a:ext cx="8412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ЦЕЛЕВЫЕ ПОКАЗАТЕЛИ ДЕМОГРАФИЧЕСКОГО ПРОГНОЗА ИЗ СТРАТЕГИИ</a:t>
            </a:r>
          </a:p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СОЦИАЛЬНО-ЭКОНОМИЧЕСКОГО РАЗВИТИЯ</a:t>
            </a:r>
          </a:p>
        </p:txBody>
      </p:sp>
      <p:graphicFrame>
        <p:nvGraphicFramePr>
          <p:cNvPr id="266" name="Таблица по сценариям"/>
          <p:cNvGraphicFramePr>
            <a:graphicFrameLocks noGrp="1"/>
          </p:cNvGraphicFramePr>
          <p:nvPr/>
        </p:nvGraphicFramePr>
        <p:xfrm>
          <a:off x="1069848" y="5074920"/>
          <a:ext cx="8019562" cy="47548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2834640"/>
                <a:gridCol w="3721882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irce Bold"/>
                        </a:rPr>
                        <a:t>Сценарий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62D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irce Bold"/>
                        </a:rPr>
                        <a:t>Суммарный коэффициент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irce Bold"/>
                        </a:rPr>
                        <a:t>рождаемости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irce Bold"/>
                        </a:rPr>
                        <a:t>(детей на 1 женщину)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62D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irce Bold"/>
                        </a:rPr>
                        <a:t>Среднегодовой миграционный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irce Bold"/>
                        </a:rPr>
                        <a:t>прирост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irce Bold"/>
                        </a:rPr>
                        <a:t>(тыс. человек)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62D3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62D3F"/>
                          </a:solidFill>
                          <a:latin typeface="Circe"/>
                        </a:rPr>
                        <a:t>Инерционный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solidFill>
                      <a:srgbClr val="F2F4F5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62D3F"/>
                          </a:solidFill>
                          <a:latin typeface="Circe Bold"/>
                        </a:rPr>
                        <a:t>1,23</a:t>
                      </a:r>
                      <a:r>
                        <a:rPr sz="1250" b="0">
                          <a:solidFill>
                            <a:srgbClr val="062D3F"/>
                          </a:solidFill>
                          <a:latin typeface="Circe"/>
                        </a:rPr>
                        <a:t> детей/одну женщину</a:t>
                      </a:r>
                    </a:p>
                    <a:p>
                      <a:pPr algn="ctr"/>
                      <a:r>
                        <a:rPr sz="1250" b="0">
                          <a:solidFill>
                            <a:srgbClr val="062D3F"/>
                          </a:solidFill>
                          <a:latin typeface="Circe"/>
                        </a:rPr>
                        <a:t>(Показатель, характерный для рождаемости в г. Великом Новгороде в 2022 г., имеет схожие с общероссийскими тенденции к снижению)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62D3F"/>
                          </a:solidFill>
                          <a:latin typeface="Circe Bold"/>
                        </a:rPr>
                        <a:t>0</a:t>
                      </a:r>
                    </a:p>
                    <a:p>
                      <a:pPr algn="ctr"/>
                      <a:r>
                        <a:rPr sz="1250" b="0">
                          <a:solidFill>
                            <a:srgbClr val="062D3F"/>
                          </a:solidFill>
                          <a:latin typeface="Circe"/>
                        </a:rPr>
                        <a:t>(За период 2011-2023 гг. средний естественный прирост населения был равен 880 чел./год, имеет схожие в общероссийскими тенденции к снижению)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noFill/>
                  </a:tcPr>
                </a:tc>
              </a:tr>
              <a:tr h="1005840"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62D3F"/>
                          </a:solidFill>
                          <a:latin typeface="Circe"/>
                        </a:rPr>
                        <a:t>Базовый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solidFill>
                      <a:srgbClr val="F2F4F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62D3F"/>
                          </a:solidFill>
                          <a:latin typeface="Circe Bold"/>
                        </a:rPr>
                        <a:t>0,9</a:t>
                      </a:r>
                    </a:p>
                    <a:p>
                      <a:pPr algn="ctr"/>
                      <a:r>
                        <a:rPr sz="1250" b="0">
                          <a:solidFill>
                            <a:srgbClr val="062D3F"/>
                          </a:solidFill>
                          <a:latin typeface="Circe"/>
                        </a:rPr>
                        <a:t>(За период 2010-2022 гг. для г. Великого Новгорода был характерен среднегодовой миграционный прирост на уровне 0,9)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noFill/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62D3F"/>
                          </a:solidFill>
                          <a:latin typeface="Circe"/>
                        </a:rPr>
                        <a:t>Целевой (1)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solidFill>
                      <a:srgbClr val="F2F4F5"/>
                    </a:solidFill>
                  </a:tcPr>
                </a:tc>
                <a:tc rowSpan="2"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62D3F"/>
                          </a:solidFill>
                          <a:latin typeface="Circe Bold"/>
                        </a:rPr>
                        <a:t>1,4</a:t>
                      </a:r>
                    </a:p>
                    <a:p>
                      <a:pPr algn="ctr"/>
                      <a:r>
                        <a:rPr sz="1250" b="0">
                          <a:solidFill>
                            <a:srgbClr val="062D3F"/>
                          </a:solidFill>
                          <a:latin typeface="Circe"/>
                        </a:rPr>
                        <a:t>(Возможный показатель с учетом ретроспективы)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62D3F"/>
                          </a:solidFill>
                          <a:latin typeface="Circe Bold"/>
                        </a:rPr>
                        <a:t>1,3</a:t>
                      </a:r>
                    </a:p>
                    <a:p>
                      <a:pPr algn="ctr"/>
                      <a:r>
                        <a:rPr sz="1250" b="0">
                          <a:solidFill>
                            <a:srgbClr val="062D3F"/>
                          </a:solidFill>
                          <a:latin typeface="Circe"/>
                        </a:rPr>
                        <a:t>(За период 2018-2022 гг. среднегодовой миграционный прирост составлял 1,3)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noFill/>
                  </a:tcPr>
                </a:tc>
              </a:tr>
              <a:tr h="960120"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062D3F"/>
                          </a:solidFill>
                          <a:latin typeface="Circe"/>
                        </a:rPr>
                        <a:t>Целевой (2)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solidFill>
                      <a:srgbClr val="F2F4F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062D3F"/>
                          </a:solidFill>
                          <a:latin typeface="Circe Bold"/>
                        </a:rPr>
                        <a:t>2,1</a:t>
                      </a:r>
                    </a:p>
                    <a:p>
                      <a:pPr algn="ctr"/>
                      <a:r>
                        <a:rPr sz="1250" b="0">
                          <a:solidFill>
                            <a:srgbClr val="062D3F"/>
                          </a:solidFill>
                          <a:latin typeface="Circe"/>
                        </a:rPr>
                        <a:t>(Возможный показатель с учетом ретроспективы, миграционный прирост превышал 2,1 тыс. человек в 2021 гг.)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67" name="Целевые показатели"/>
          <p:cNvGraphicFramePr>
            <a:graphicFrameLocks noGrp="1"/>
          </p:cNvGraphicFramePr>
          <p:nvPr/>
        </p:nvGraphicFramePr>
        <p:xfrm>
          <a:off x="9720529" y="5074920"/>
          <a:ext cx="8019560" cy="31546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842205"/>
                <a:gridCol w="1055491"/>
                <a:gridCol w="1066373"/>
                <a:gridCol w="1055491"/>
              </a:tblGrid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irce Bold"/>
                        </a:rPr>
                        <a:t>Показатель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62D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irce Bold"/>
                        </a:rPr>
                        <a:t>СЭР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irce Bold"/>
                        </a:rPr>
                        <a:t>(2022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irce Bold"/>
                        </a:rPr>
                        <a:t>год)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62D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irce Bold"/>
                        </a:rPr>
                        <a:t>Факт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irce Bold"/>
                        </a:rPr>
                        <a:t>(2022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irce Bold"/>
                        </a:rPr>
                        <a:t>год)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62D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irce Bold"/>
                        </a:rPr>
                        <a:t>СЭР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irce Bold"/>
                        </a:rPr>
                        <a:t>(2030</a:t>
                      </a:r>
                    </a:p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irce Bold"/>
                        </a:rPr>
                        <a:t>год)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62D3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62D3F"/>
                          </a:solidFill>
                          <a:latin typeface="Circe"/>
                        </a:rPr>
                        <a:t>Среднегодовая численность населения (тыс. чел)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62D3F"/>
                          </a:solidFill>
                          <a:latin typeface="Circe"/>
                        </a:rPr>
                        <a:t>225,4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62D3F"/>
                          </a:solidFill>
                          <a:latin typeface="Circe Bold"/>
                        </a:rPr>
                        <a:t>224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62D3F"/>
                          </a:solidFill>
                          <a:latin typeface="Circe"/>
                        </a:rPr>
                        <a:t>231,5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solidFill>
                      <a:srgbClr val="F2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62D3F"/>
                          </a:solidFill>
                          <a:latin typeface="Circe"/>
                        </a:rPr>
                        <a:t>Общий коэффициент рождаемости (родившихся на 1000 населения)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62D3F"/>
                          </a:solidFill>
                          <a:latin typeface="Circe"/>
                        </a:rPr>
                        <a:t>11,5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62D3F"/>
                          </a:solidFill>
                          <a:latin typeface="Circe Bold"/>
                        </a:rPr>
                        <a:t>7,8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62D3F"/>
                          </a:solidFill>
                          <a:latin typeface="Circe"/>
                        </a:rPr>
                        <a:t>12,4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solidFill>
                      <a:srgbClr val="F2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62D3F"/>
                          </a:solidFill>
                          <a:latin typeface="Circe"/>
                        </a:rPr>
                        <a:t>Общий коэффициент смертности (умерших на 1000 населения)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62D3F"/>
                          </a:solidFill>
                          <a:latin typeface="Circe"/>
                        </a:rPr>
                        <a:t>12,8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62D3F"/>
                          </a:solidFill>
                          <a:latin typeface="Circe Bold"/>
                        </a:rPr>
                        <a:t>14,4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62D3F"/>
                          </a:solidFill>
                          <a:latin typeface="Circe"/>
                        </a:rPr>
                        <a:t>12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solidFill>
                      <a:srgbClr val="F2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62D3F"/>
                          </a:solidFill>
                          <a:latin typeface="Circe"/>
                        </a:rPr>
                        <a:t>Коэффициент естественного прироста (на 1000 населения)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62D3F"/>
                          </a:solidFill>
                          <a:latin typeface="Circe"/>
                        </a:rPr>
                        <a:t>-1,3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62D3F"/>
                          </a:solidFill>
                          <a:latin typeface="Circe Bold"/>
                        </a:rPr>
                        <a:t>-6,6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62D3F"/>
                          </a:solidFill>
                          <a:latin typeface="Circe"/>
                        </a:rPr>
                        <a:t>0,3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solidFill>
                      <a:srgbClr val="F2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062D3F"/>
                          </a:solidFill>
                          <a:latin typeface="Circe"/>
                        </a:rPr>
                        <a:t>Коэффициент миграционного прироста (на 1000 населения)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solidFill>
                      <a:srgbClr val="F2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62D3F"/>
                          </a:solidFill>
                          <a:latin typeface="Circe"/>
                        </a:rPr>
                        <a:t>33,9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62D3F"/>
                          </a:solidFill>
                          <a:latin typeface="Circe Bold"/>
                        </a:rPr>
                        <a:t>3,6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solidFill>
                      <a:srgbClr val="FFF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062D3F"/>
                          </a:solidFill>
                          <a:latin typeface="Circe"/>
                        </a:rPr>
                        <a:t>44,6</a:t>
                      </a:r>
                    </a:p>
                  </a:txBody>
                  <a:tcPr marL="73152" marR="73152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EE2"/>
                      </a:solidFill>
                    </a:lnB>
                    <a:solidFill>
                      <a:srgbClr val="F2F4F5"/>
                    </a:solidFill>
                  </a:tcPr>
                </a:tc>
              </a:tr>
            </a:tbl>
          </a:graphicData>
        </a:graphic>
      </p:graphicFrame>
      <p:sp>
        <p:nvSpPr>
          <p:cNvPr id="8" name="Подложка вывода"/>
          <p:cNvSpPr/>
          <p:nvPr/>
        </p:nvSpPr>
        <p:spPr>
          <a:xfrm>
            <a:off x="9171432" y="8183879"/>
            <a:ext cx="9848088" cy="1828801"/>
          </a:xfrm>
          <a:custGeom>
            <a:avLst/>
            <a:gdLst/>
            <a:ahLst/>
            <a:cxnLst/>
            <a:rect l="l" t="t" r="r" b="b"/>
            <a:pathLst>
              <a:path w="9848088" h="1828801">
                <a:moveTo>
                  <a:pt x="1307592" y="228601"/>
                </a:moveTo>
                <a:lnTo>
                  <a:pt x="9848088" y="0"/>
                </a:lnTo>
                <a:lnTo>
                  <a:pt x="9848088" y="1737361"/>
                </a:lnTo>
                <a:lnTo>
                  <a:pt x="8887968" y="1828801"/>
                </a:lnTo>
                <a:lnTo>
                  <a:pt x="493776" y="1783081"/>
                </a:lnTo>
                <a:lnTo>
                  <a:pt x="0" y="914401"/>
                </a:lnTo>
                <a:close/>
              </a:path>
            </a:pathLst>
          </a:cu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8" name="Вывод"/>
          <p:cNvSpPr txBox="1"/>
          <p:nvPr/>
        </p:nvSpPr>
        <p:spPr>
          <a:xfrm>
            <a:off x="10241280" y="8412480"/>
            <a:ext cx="781812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just"/>
            <a:r>
              <a:rPr sz="1400" b="0">
                <a:solidFill>
                  <a:srgbClr val="FFCC00"/>
                </a:solidFill>
                <a:latin typeface="Circe"/>
              </a:rPr>
              <a:t>•  </a:t>
            </a:r>
            <a:r>
              <a:rPr sz="1400" b="1">
                <a:solidFill>
                  <a:srgbClr val="FFCC00"/>
                </a:solidFill>
                <a:latin typeface="Circe Bold"/>
              </a:rPr>
              <a:t>КОГОРТНО-КОМПОНЕНТНЫМ МЕТОДОМ</a:t>
            </a:r>
            <a:r>
              <a:rPr sz="1300" b="0">
                <a:solidFill>
                  <a:srgbClr val="FFFFFF"/>
                </a:solidFill>
                <a:latin typeface="Circe"/>
              </a:rPr>
              <a:t> (в рамках анализа трех компонент движения населения: рождаемости, смертности и миграции) был сконструирован демографический прогноз до 2045 года</a:t>
            </a:r>
          </a:p>
          <a:p>
            <a:pPr algn="just">
              <a:spcBef>
                <a:spcPts val="800"/>
              </a:spcBef>
            </a:pPr>
            <a:r>
              <a:rPr sz="1300" b="0">
                <a:solidFill>
                  <a:srgbClr val="FFFFFF"/>
                </a:solidFill>
                <a:latin typeface="Circe"/>
              </a:rPr>
              <a:t>•  В </a:t>
            </a:r>
            <a:r>
              <a:rPr sz="1400" b="1">
                <a:solidFill>
                  <a:srgbClr val="FFCC00"/>
                </a:solidFill>
                <a:latin typeface="Circe Bold"/>
              </a:rPr>
              <a:t>ИНЕРЦИОННОМ</a:t>
            </a:r>
            <a:r>
              <a:rPr sz="1300" b="0">
                <a:solidFill>
                  <a:srgbClr val="FFFFFF"/>
                </a:solidFill>
                <a:latin typeface="Circe"/>
              </a:rPr>
              <a:t> и </a:t>
            </a:r>
            <a:r>
              <a:rPr sz="1400" b="1">
                <a:solidFill>
                  <a:srgbClr val="FFCC00"/>
                </a:solidFill>
                <a:latin typeface="Circe Bold"/>
              </a:rPr>
              <a:t>БАЗОВОМ</a:t>
            </a:r>
            <a:r>
              <a:rPr sz="1300" b="0">
                <a:solidFill>
                  <a:srgbClr val="FFFFFF"/>
                </a:solidFill>
                <a:latin typeface="Circe"/>
              </a:rPr>
              <a:t> сценариях заложены существующие показатели рождаемости, в целевых – возможные с учетом ретроспективы; показатель миграционного прироста различен в четырех сценариях, поскольку демографическое развитие г. Великого Новгорода зависит от числа мигрантов в трудоспособных возрастах</a:t>
            </a:r>
          </a:p>
        </p:txBody>
      </p:sp>
      <p:sp>
        <p:nvSpPr>
          <p:cNvPr id="269" name="Источник"/>
          <p:cNvSpPr txBox="1"/>
          <p:nvPr/>
        </p:nvSpPr>
        <p:spPr>
          <a:xfrm>
            <a:off x="1069848" y="10012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5E6B73"/>
                </a:solidFill>
                <a:latin typeface="Circe"/>
              </a:rPr>
              <a:t>Источник: расчет ГАУ Институт Генплана Москвы по данным Новгородстат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9094</Words>
  <Application>Microsoft Office PowerPoint</Application>
  <PresentationFormat>Произвольный</PresentationFormat>
  <Paragraphs>2467</Paragraphs>
  <Slides>58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8" baseType="lpstr">
      <vt:lpstr>Arial</vt:lpstr>
      <vt:lpstr>Arial Black</vt:lpstr>
      <vt:lpstr>Calibri</vt:lpstr>
      <vt:lpstr>Century Gothic</vt:lpstr>
      <vt:lpstr>Circe</vt:lpstr>
      <vt:lpstr>Circe Bold</vt:lpstr>
      <vt:lpstr>Circe Bold (Заголовки)</vt:lpstr>
      <vt:lpstr>Gramatika-Medium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Субъекты градостроительных отношений</vt:lpstr>
      <vt:lpstr>Виды экономической эффективности</vt:lpstr>
      <vt:lpstr>Экономическое моделирование градостроительных решений</vt:lpstr>
      <vt:lpstr>Экономическое моделирование градостроительных решений</vt:lpstr>
      <vt:lpstr>Порядок планирования сбалансированной градостроительной и экономической политики</vt:lpstr>
      <vt:lpstr>Порядок подготовки заключения об экономической целесообразности реализации мероприятий градостроительного развития</vt:lpstr>
      <vt:lpstr>Порядок сбора, обработки и интерпретации первичных данных, необходимых для оценки удельных затрат на 1 жителя </vt:lpstr>
      <vt:lpstr>Порядок сбора и обработки и интерпретации первичных данных, необходимых для оценки удельных доходов с 1 рабочего места</vt:lpstr>
      <vt:lpstr>Пример расчета удельных показателей затрат и доходов в населенном пункте</vt:lpstr>
      <vt:lpstr>Прогноз бюджетного баланса с учетом принятых градостроительных решений</vt:lpstr>
      <vt:lpstr>Перспективы изменения отраслевой структуры экономики</vt:lpstr>
      <vt:lpstr>Презентация PowerPoint</vt:lpstr>
      <vt:lpstr>Презентация PowerPoint</vt:lpstr>
      <vt:lpstr>Презентация PowerPoint</vt:lpstr>
      <vt:lpstr>Презентация PowerPoint</vt:lpstr>
      <vt:lpstr>ВОЗМОЖНЫЕ ИНСТРУМЕНТЫ БЮДЖЕТНОЙ ПОДДЕРЖКИ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InkXiles</cp:lastModifiedBy>
  <cp:revision>114</cp:revision>
  <cp:lastPrinted>2026-10-05T13:20:42Z</cp:lastPrinted>
  <dcterms:created xsi:type="dcterms:W3CDTF">2022-11-22T08:46:48Z</dcterms:created>
  <dcterms:modified xsi:type="dcterms:W3CDTF">2026-10-12T08:06:42Z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