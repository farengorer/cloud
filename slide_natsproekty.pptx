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по нацпроектам взяты из открытых описаний (government.ru, национальныепроекты.рф, профильные СМИ) и требуют сверки с паспортами нацпроектов. Особенно: 103,4% («Кадры»); 100% сортировки ТКО и «вдвое меньше стоков к 2036» («Экологическое благополучие»); 140 млн поездок и 5% ВВП («Туризм»); +15% многодетных семей («Семья»); 33 м² жилья на человека (источники расходятся: к 2030 или к 2036 году; значение на 2036 год не указано). Прочерк в колонке 2036 — целевое значение на этот год в найденных источниках не обнаружено, это не значит, что цели нет. Колонка «Как встраивается село» — трактовка автора: в нацпроектах отдельных сельских целей не найдено.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НАЦПРОЕКТЫ: ЦЕЛИ И МЕСТО СЕЛЬСКИХ ТЕРРИТОРИЙ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1069330" y="1463040"/>
            <a:ext cx="1687165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lang="ru-RU" sz="2200" dirty="0">
                <a:solidFill>
                  <a:srgbClr val="062D3F"/>
                </a:solidFill>
                <a:latin typeface="Circe"/>
              </a:rPr>
              <a:t>Прямых сельских целей в нацпроектах почти нет: село встраивается через опорные пункты и отраслевые каналы</a:t>
            </a:r>
            <a:endParaRPr sz="2200" b="0" dirty="0">
              <a:solidFill>
                <a:srgbClr val="062D3F"/>
              </a:solidFill>
              <a:latin typeface="Circe"/>
            </a:endParaRPr>
          </a:p>
        </p:txBody>
      </p:sp>
      <p:sp>
        <p:nvSpPr>
          <p:cNvPr id="203" name="Rectangle 28"/>
          <p:cNvSpPr/>
          <p:nvPr/>
        </p:nvSpPr>
        <p:spPr>
          <a:xfrm>
            <a:off x="1069330" y="9235440"/>
            <a:ext cx="1687165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1400" b="0" dirty="0" err="1">
                <a:solidFill>
                  <a:srgbClr val="5E6B73"/>
                </a:solidFill>
                <a:latin typeface="Circe"/>
              </a:rPr>
              <a:t>Источники: Указ Президента РФ от 07.05.2024 № 309; описания и паспорта национальных проектов (government.ru, национальныепроекты.рф); Минсельхоз России. «—»: целевое значение на 2036 г. в открытых источниках не найдено</a:t>
            </a:r>
          </a:p>
        </p:txBody>
      </p:sp>
      <p:sp>
        <p:nvSpPr>
          <p:cNvPr id="204" name="Заголовок колонки"/>
          <p:cNvSpPr/>
          <p:nvPr/>
        </p:nvSpPr>
        <p:spPr>
          <a:xfrm>
            <a:off x="1069848" y="210312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FFCC00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/>
            <a:r>
              <a:rPr sz="2100" b="1">
                <a:solidFill>
                  <a:srgbClr val="062D3F"/>
                </a:solidFill>
                <a:latin typeface="Circe Bold"/>
              </a:rPr>
              <a:t>НАЦПРОЕКТ</a:t>
            </a:r>
          </a:p>
        </p:txBody>
      </p:sp>
      <p:sp>
        <p:nvSpPr>
          <p:cNvPr id="205" name="Заголовок колонки"/>
          <p:cNvSpPr/>
          <p:nvPr/>
        </p:nvSpPr>
        <p:spPr>
          <a:xfrm>
            <a:off x="5385816" y="2103120"/>
            <a:ext cx="4297680" cy="566928"/>
          </a:xfrm>
          <a:prstGeom prst="roundRect">
            <a:avLst>
              <a:gd name="adj" fmla="val 12000"/>
            </a:avLst>
          </a:prstGeom>
          <a:solidFill>
            <a:srgbClr val="FFCC00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/>
            <a:r>
              <a:rPr sz="2100" b="1">
                <a:solidFill>
                  <a:srgbClr val="062D3F"/>
                </a:solidFill>
                <a:latin typeface="Circe Bold"/>
              </a:rPr>
              <a:t>ЦЕЛИ К 2030 Г.</a:t>
            </a:r>
          </a:p>
        </p:txBody>
      </p:sp>
      <p:sp>
        <p:nvSpPr>
          <p:cNvPr id="206" name="Заголовок колонки"/>
          <p:cNvSpPr/>
          <p:nvPr/>
        </p:nvSpPr>
        <p:spPr>
          <a:xfrm>
            <a:off x="9793224" y="2103120"/>
            <a:ext cx="2926080" cy="566928"/>
          </a:xfrm>
          <a:prstGeom prst="roundRect">
            <a:avLst>
              <a:gd name="adj" fmla="val 12000"/>
            </a:avLst>
          </a:prstGeom>
          <a:solidFill>
            <a:srgbClr val="FFCC00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/>
            <a:r>
              <a:rPr sz="2100" b="1">
                <a:solidFill>
                  <a:srgbClr val="062D3F"/>
                </a:solidFill>
                <a:latin typeface="Circe Bold"/>
              </a:rPr>
              <a:t>ЦЕЛИ К 2036 Г.</a:t>
            </a:r>
          </a:p>
        </p:txBody>
      </p:sp>
      <p:sp>
        <p:nvSpPr>
          <p:cNvPr id="207" name="Заголовок колонки"/>
          <p:cNvSpPr/>
          <p:nvPr/>
        </p:nvSpPr>
        <p:spPr>
          <a:xfrm>
            <a:off x="12829032" y="2103120"/>
            <a:ext cx="5111495" cy="566928"/>
          </a:xfrm>
          <a:prstGeom prst="roundRect">
            <a:avLst>
              <a:gd name="adj" fmla="val 12000"/>
            </a:avLst>
          </a:prstGeom>
          <a:solidFill>
            <a:srgbClr val="FFCC00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/>
            <a:r>
              <a:rPr sz="2100" b="1">
                <a:solidFill>
                  <a:srgbClr val="062D3F"/>
                </a:solidFill>
                <a:latin typeface="Circe Bold"/>
              </a:rPr>
              <a:t>КАК ВСТРАИВАЕТСЯ СЕЛО</a:t>
            </a:r>
          </a:p>
        </p:txBody>
      </p:sp>
      <p:sp>
        <p:nvSpPr>
          <p:cNvPr id="208" name="Нацпроект"/>
          <p:cNvSpPr/>
          <p:nvPr/>
        </p:nvSpPr>
        <p:spPr>
          <a:xfrm>
            <a:off x="1069848" y="2788920"/>
            <a:ext cx="4206240" cy="841248"/>
          </a:xfrm>
          <a:prstGeom prst="roundRect">
            <a:avLst>
              <a:gd name="adj" fmla="val 12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/>
            <a:r>
              <a:rPr sz="1700" b="1">
                <a:solidFill>
                  <a:srgbClr val="FFFFFF"/>
                </a:solidFill>
                <a:latin typeface="Circe Bold"/>
              </a:rPr>
              <a:t>Инфраструктура для жизни</a:t>
            </a:r>
          </a:p>
        </p:txBody>
      </p:sp>
      <p:sp>
        <p:nvSpPr>
          <p:cNvPr id="209" name="Цели 2030"/>
          <p:cNvSpPr/>
          <p:nvPr/>
        </p:nvSpPr>
        <p:spPr>
          <a:xfrm>
            <a:off x="5385816" y="2788920"/>
            <a:ext cx="42976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Качество среды в опорных пунктах </a:t>
            </a:r>
            <a:r>
              <a:rPr sz="1700" b="1">
                <a:solidFill>
                  <a:srgbClr val="062D3F"/>
                </a:solidFill>
                <a:latin typeface="Circe Bold"/>
              </a:rPr>
              <a:t>+30%</a:t>
            </a:r>
            <a:r>
              <a:rPr sz="1700" b="0">
                <a:solidFill>
                  <a:srgbClr val="062D3F"/>
                </a:solidFill>
                <a:latin typeface="Circe"/>
              </a:rPr>
              <a:t>; жильё </a:t>
            </a:r>
            <a:r>
              <a:rPr sz="1700" b="1">
                <a:solidFill>
                  <a:srgbClr val="062D3F"/>
                </a:solidFill>
                <a:latin typeface="Circe Bold"/>
              </a:rPr>
              <a:t>33 м²</a:t>
            </a:r>
            <a:r>
              <a:rPr sz="1700" b="0">
                <a:solidFill>
                  <a:srgbClr val="062D3F"/>
                </a:solidFill>
                <a:latin typeface="Circe"/>
              </a:rPr>
              <a:t> на человека</a:t>
            </a:r>
          </a:p>
        </p:txBody>
      </p:sp>
      <p:sp>
        <p:nvSpPr>
          <p:cNvPr id="210" name="Цели 2036"/>
          <p:cNvSpPr/>
          <p:nvPr/>
        </p:nvSpPr>
        <p:spPr>
          <a:xfrm>
            <a:off x="9793224" y="2788920"/>
            <a:ext cx="29260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Качество среды </a:t>
            </a:r>
            <a:r>
              <a:rPr sz="1700" b="1">
                <a:solidFill>
                  <a:srgbClr val="062D3F"/>
                </a:solidFill>
                <a:latin typeface="Circe Bold"/>
              </a:rPr>
              <a:t>+60%</a:t>
            </a:r>
          </a:p>
        </p:txBody>
      </p:sp>
      <p:sp>
        <p:nvSpPr>
          <p:cNvPr id="211" name="Роль села"/>
          <p:cNvSpPr/>
          <p:nvPr/>
        </p:nvSpPr>
        <p:spPr>
          <a:xfrm>
            <a:off x="12829032" y="2788920"/>
            <a:ext cx="5111495" cy="841248"/>
          </a:xfrm>
          <a:prstGeom prst="roundRect">
            <a:avLst>
              <a:gd name="adj" fmla="val 12000"/>
            </a:avLst>
          </a:prstGeom>
          <a:solidFill>
            <a:srgbClr val="FFEBA6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Через сельские опорные пункты (683 из 2160); остальное село вне цели</a:t>
            </a:r>
          </a:p>
        </p:txBody>
      </p:sp>
      <p:sp>
        <p:nvSpPr>
          <p:cNvPr id="212" name="Нацпроект"/>
          <p:cNvSpPr/>
          <p:nvPr/>
        </p:nvSpPr>
        <p:spPr>
          <a:xfrm>
            <a:off x="1069848" y="3712463"/>
            <a:ext cx="4206240" cy="841248"/>
          </a:xfrm>
          <a:prstGeom prst="roundRect">
            <a:avLst>
              <a:gd name="adj" fmla="val 12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/>
            <a:r>
              <a:rPr sz="1700" b="1">
                <a:solidFill>
                  <a:srgbClr val="FFFFFF"/>
                </a:solidFill>
                <a:latin typeface="Circe Bold"/>
              </a:rPr>
              <a:t>Технологическое обеспечение продовольственной безопасности</a:t>
            </a:r>
          </a:p>
        </p:txBody>
      </p:sp>
      <p:sp>
        <p:nvSpPr>
          <p:cNvPr id="213" name="Цели 2030"/>
          <p:cNvSpPr/>
          <p:nvPr/>
        </p:nvSpPr>
        <p:spPr>
          <a:xfrm>
            <a:off x="5385816" y="3712463"/>
            <a:ext cx="42976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Технологическая независимость </a:t>
            </a:r>
            <a:r>
              <a:rPr sz="1700" b="1">
                <a:solidFill>
                  <a:srgbClr val="062D3F"/>
                </a:solidFill>
                <a:latin typeface="Circe Bold"/>
              </a:rPr>
              <a:t>66,7%</a:t>
            </a:r>
            <a:r>
              <a:rPr sz="1700" b="0">
                <a:solidFill>
                  <a:srgbClr val="062D3F"/>
                </a:solidFill>
                <a:latin typeface="Circe"/>
              </a:rPr>
              <a:t> (55,8% в 2025); семена отечественной селекции </a:t>
            </a:r>
            <a:r>
              <a:rPr sz="1700" b="1">
                <a:solidFill>
                  <a:srgbClr val="062D3F"/>
                </a:solidFill>
                <a:latin typeface="Circe Bold"/>
              </a:rPr>
              <a:t>75%</a:t>
            </a:r>
          </a:p>
        </p:txBody>
      </p:sp>
      <p:sp>
        <p:nvSpPr>
          <p:cNvPr id="214" name="Цели 2036"/>
          <p:cNvSpPr/>
          <p:nvPr/>
        </p:nvSpPr>
        <p:spPr>
          <a:xfrm>
            <a:off x="9793224" y="3712463"/>
            <a:ext cx="29260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/>
            <a:r>
              <a:rPr sz="1700" b="0">
                <a:solidFill>
                  <a:srgbClr val="5E6B73"/>
                </a:solidFill>
                <a:latin typeface="Circe"/>
              </a:rPr>
              <a:t>—</a:t>
            </a:r>
          </a:p>
        </p:txBody>
      </p:sp>
      <p:sp>
        <p:nvSpPr>
          <p:cNvPr id="215" name="Роль села"/>
          <p:cNvSpPr/>
          <p:nvPr/>
        </p:nvSpPr>
        <p:spPr>
          <a:xfrm>
            <a:off x="12829032" y="3712463"/>
            <a:ext cx="5111495" cy="841248"/>
          </a:xfrm>
          <a:prstGeom prst="roundRect">
            <a:avLst>
              <a:gd name="adj" fmla="val 12000"/>
            </a:avLst>
          </a:prstGeom>
          <a:solidFill>
            <a:srgbClr val="FFEBA6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Место производства: хозяйства применяют семена, технику, ветпрепараты</a:t>
            </a:r>
          </a:p>
        </p:txBody>
      </p:sp>
      <p:sp>
        <p:nvSpPr>
          <p:cNvPr id="216" name="Нацпроект"/>
          <p:cNvSpPr/>
          <p:nvPr/>
        </p:nvSpPr>
        <p:spPr>
          <a:xfrm>
            <a:off x="1069848" y="4636008"/>
            <a:ext cx="4206240" cy="841248"/>
          </a:xfrm>
          <a:prstGeom prst="roundRect">
            <a:avLst>
              <a:gd name="adj" fmla="val 12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/>
            <a:r>
              <a:rPr sz="1700" b="1">
                <a:solidFill>
                  <a:srgbClr val="FFFFFF"/>
                </a:solidFill>
                <a:latin typeface="Circe Bold"/>
              </a:rPr>
              <a:t>Семья</a:t>
            </a:r>
          </a:p>
        </p:txBody>
      </p:sp>
      <p:sp>
        <p:nvSpPr>
          <p:cNvPr id="217" name="Цели 2030"/>
          <p:cNvSpPr/>
          <p:nvPr/>
        </p:nvSpPr>
        <p:spPr>
          <a:xfrm>
            <a:off x="5385816" y="4636008"/>
            <a:ext cx="42976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Суммарный коэффициент рождаемости </a:t>
            </a:r>
            <a:r>
              <a:rPr sz="1700" b="1">
                <a:solidFill>
                  <a:srgbClr val="062D3F"/>
                </a:solidFill>
                <a:latin typeface="Circe Bold"/>
              </a:rPr>
              <a:t>1,6</a:t>
            </a:r>
            <a:r>
              <a:rPr sz="1700" b="0">
                <a:solidFill>
                  <a:srgbClr val="062D3F"/>
                </a:solidFill>
                <a:latin typeface="Circe"/>
              </a:rPr>
              <a:t>; многодетных семей </a:t>
            </a:r>
            <a:r>
              <a:rPr sz="1700" b="1">
                <a:solidFill>
                  <a:srgbClr val="062D3F"/>
                </a:solidFill>
                <a:latin typeface="Circe Bold"/>
              </a:rPr>
              <a:t>+15%</a:t>
            </a:r>
          </a:p>
        </p:txBody>
      </p:sp>
      <p:sp>
        <p:nvSpPr>
          <p:cNvPr id="218" name="Цели 2036"/>
          <p:cNvSpPr/>
          <p:nvPr/>
        </p:nvSpPr>
        <p:spPr>
          <a:xfrm>
            <a:off x="9793224" y="4636008"/>
            <a:ext cx="29260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Суммарный коэффициент рождаемости </a:t>
            </a:r>
            <a:r>
              <a:rPr sz="1700" b="1">
                <a:solidFill>
                  <a:srgbClr val="062D3F"/>
                </a:solidFill>
                <a:latin typeface="Circe Bold"/>
              </a:rPr>
              <a:t>1,8</a:t>
            </a:r>
          </a:p>
        </p:txBody>
      </p:sp>
      <p:sp>
        <p:nvSpPr>
          <p:cNvPr id="219" name="Роль села"/>
          <p:cNvSpPr/>
          <p:nvPr/>
        </p:nvSpPr>
        <p:spPr>
          <a:xfrm>
            <a:off x="12829032" y="4636008"/>
            <a:ext cx="5111495" cy="841248"/>
          </a:xfrm>
          <a:prstGeom prst="roundRect">
            <a:avLst>
              <a:gd name="adj" fmla="val 12000"/>
            </a:avLst>
          </a:prstGeom>
          <a:solidFill>
            <a:srgbClr val="FFEBA6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Через жильё для семей, школы и ФАПы; отдельной сельской цели нет</a:t>
            </a:r>
          </a:p>
        </p:txBody>
      </p:sp>
      <p:sp>
        <p:nvSpPr>
          <p:cNvPr id="220" name="Нацпроект"/>
          <p:cNvSpPr/>
          <p:nvPr/>
        </p:nvSpPr>
        <p:spPr>
          <a:xfrm>
            <a:off x="1069848" y="5559552"/>
            <a:ext cx="4206240" cy="841248"/>
          </a:xfrm>
          <a:prstGeom prst="roundRect">
            <a:avLst>
              <a:gd name="adj" fmla="val 12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/>
            <a:r>
              <a:rPr sz="1700" b="1">
                <a:solidFill>
                  <a:srgbClr val="FFFFFF"/>
                </a:solidFill>
                <a:latin typeface="Circe Bold"/>
              </a:rPr>
              <a:t>Кадры</a:t>
            </a:r>
          </a:p>
        </p:txBody>
      </p:sp>
      <p:sp>
        <p:nvSpPr>
          <p:cNvPr id="221" name="Цели 2030"/>
          <p:cNvSpPr/>
          <p:nvPr/>
        </p:nvSpPr>
        <p:spPr>
          <a:xfrm>
            <a:off x="5385816" y="5559552"/>
            <a:ext cx="42976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Темп сокращения дефицита кадров </a:t>
            </a:r>
            <a:r>
              <a:rPr sz="1700" b="1">
                <a:solidFill>
                  <a:srgbClr val="062D3F"/>
                </a:solidFill>
                <a:latin typeface="Circe Bold"/>
              </a:rPr>
              <a:t>103,4%</a:t>
            </a:r>
            <a:r>
              <a:rPr sz="1700" b="0">
                <a:solidFill>
                  <a:srgbClr val="062D3F"/>
                </a:solidFill>
                <a:latin typeface="Circe"/>
              </a:rPr>
              <a:t> к 2022 г.</a:t>
            </a:r>
          </a:p>
        </p:txBody>
      </p:sp>
      <p:sp>
        <p:nvSpPr>
          <p:cNvPr id="222" name="Цели 2036"/>
          <p:cNvSpPr/>
          <p:nvPr/>
        </p:nvSpPr>
        <p:spPr>
          <a:xfrm>
            <a:off x="9793224" y="5559552"/>
            <a:ext cx="29260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/>
            <a:r>
              <a:rPr sz="1700" b="0">
                <a:solidFill>
                  <a:srgbClr val="5E6B73"/>
                </a:solidFill>
                <a:latin typeface="Circe"/>
              </a:rPr>
              <a:t>—</a:t>
            </a:r>
          </a:p>
        </p:txBody>
      </p:sp>
      <p:sp>
        <p:nvSpPr>
          <p:cNvPr id="223" name="Роль села"/>
          <p:cNvSpPr/>
          <p:nvPr/>
        </p:nvSpPr>
        <p:spPr>
          <a:xfrm>
            <a:off x="12829032" y="5559552"/>
            <a:ext cx="5111495" cy="841248"/>
          </a:xfrm>
          <a:prstGeom prst="roundRect">
            <a:avLst>
              <a:gd name="adj" fmla="val 12000"/>
            </a:avLst>
          </a:prstGeom>
          <a:solidFill>
            <a:srgbClr val="FFEBA6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Агроклассы, аграрные колледжи, целевое обучение; удержание на селе не измеряется</a:t>
            </a:r>
          </a:p>
        </p:txBody>
      </p:sp>
      <p:sp>
        <p:nvSpPr>
          <p:cNvPr id="224" name="Нацпроект"/>
          <p:cNvSpPr/>
          <p:nvPr/>
        </p:nvSpPr>
        <p:spPr>
          <a:xfrm>
            <a:off x="1069848" y="6483096"/>
            <a:ext cx="4206240" cy="841248"/>
          </a:xfrm>
          <a:prstGeom prst="roundRect">
            <a:avLst>
              <a:gd name="adj" fmla="val 12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/>
            <a:r>
              <a:rPr sz="1700" b="1">
                <a:solidFill>
                  <a:srgbClr val="FFFFFF"/>
                </a:solidFill>
                <a:latin typeface="Circe Bold"/>
              </a:rPr>
              <a:t>Туризм и гостеприимство</a:t>
            </a:r>
          </a:p>
        </p:txBody>
      </p:sp>
      <p:sp>
        <p:nvSpPr>
          <p:cNvPr id="225" name="Цели 2030"/>
          <p:cNvSpPr/>
          <p:nvPr/>
        </p:nvSpPr>
        <p:spPr>
          <a:xfrm>
            <a:off x="5385816" y="6483096"/>
            <a:ext cx="42976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1">
                <a:solidFill>
                  <a:srgbClr val="062D3F"/>
                </a:solidFill>
                <a:latin typeface="Circe Bold"/>
              </a:rPr>
              <a:t>140 млн</a:t>
            </a:r>
            <a:r>
              <a:rPr sz="1700" b="0">
                <a:solidFill>
                  <a:srgbClr val="062D3F"/>
                </a:solidFill>
                <a:latin typeface="Circe"/>
              </a:rPr>
              <a:t> турпоездок в год; доля туризма в ВВП </a:t>
            </a:r>
            <a:r>
              <a:rPr sz="1700" b="1">
                <a:solidFill>
                  <a:srgbClr val="062D3F"/>
                </a:solidFill>
                <a:latin typeface="Circe Bold"/>
              </a:rPr>
              <a:t>5%</a:t>
            </a:r>
          </a:p>
        </p:txBody>
      </p:sp>
      <p:sp>
        <p:nvSpPr>
          <p:cNvPr id="226" name="Цели 2036"/>
          <p:cNvSpPr/>
          <p:nvPr/>
        </p:nvSpPr>
        <p:spPr>
          <a:xfrm>
            <a:off x="9793224" y="6483096"/>
            <a:ext cx="29260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/>
            <a:r>
              <a:rPr sz="1700" b="0">
                <a:solidFill>
                  <a:srgbClr val="5E6B73"/>
                </a:solidFill>
                <a:latin typeface="Circe"/>
              </a:rPr>
              <a:t>—</a:t>
            </a:r>
          </a:p>
        </p:txBody>
      </p:sp>
      <p:sp>
        <p:nvSpPr>
          <p:cNvPr id="227" name="Роль села"/>
          <p:cNvSpPr/>
          <p:nvPr/>
        </p:nvSpPr>
        <p:spPr>
          <a:xfrm>
            <a:off x="12829032" y="6483096"/>
            <a:ext cx="5111495" cy="841248"/>
          </a:xfrm>
          <a:prstGeom prst="roundRect">
            <a:avLst>
              <a:gd name="adj" fmla="val 12000"/>
            </a:avLst>
          </a:prstGeom>
          <a:solidFill>
            <a:srgbClr val="FFEBA6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Объекты размещения и точки притяжения; сельского направления нет</a:t>
            </a:r>
          </a:p>
        </p:txBody>
      </p:sp>
      <p:sp>
        <p:nvSpPr>
          <p:cNvPr id="228" name="Нацпроект"/>
          <p:cNvSpPr/>
          <p:nvPr/>
        </p:nvSpPr>
        <p:spPr>
          <a:xfrm>
            <a:off x="1069848" y="7406640"/>
            <a:ext cx="4206240" cy="841248"/>
          </a:xfrm>
          <a:prstGeom prst="roundRect">
            <a:avLst>
              <a:gd name="adj" fmla="val 12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/>
            <a:r>
              <a:rPr sz="1700" b="1">
                <a:solidFill>
                  <a:srgbClr val="FFFFFF"/>
                </a:solidFill>
                <a:latin typeface="Circe Bold"/>
              </a:rPr>
              <a:t>Экологическое благополучие</a:t>
            </a:r>
          </a:p>
        </p:txBody>
      </p:sp>
      <p:sp>
        <p:nvSpPr>
          <p:cNvPr id="229" name="Цели 2030"/>
          <p:cNvSpPr/>
          <p:nvPr/>
        </p:nvSpPr>
        <p:spPr>
          <a:xfrm>
            <a:off x="5385816" y="7406640"/>
            <a:ext cx="42976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Сортировка </a:t>
            </a:r>
            <a:r>
              <a:rPr sz="1700" b="1">
                <a:solidFill>
                  <a:srgbClr val="062D3F"/>
                </a:solidFill>
                <a:latin typeface="Circe Bold"/>
              </a:rPr>
              <a:t>100%</a:t>
            </a:r>
            <a:r>
              <a:rPr sz="1700" b="0">
                <a:solidFill>
                  <a:srgbClr val="062D3F"/>
                </a:solidFill>
                <a:latin typeface="Circe"/>
              </a:rPr>
              <a:t> ТКО, захоронение не более </a:t>
            </a:r>
            <a:r>
              <a:rPr sz="1700" b="1">
                <a:solidFill>
                  <a:srgbClr val="062D3F"/>
                </a:solidFill>
                <a:latin typeface="Circe Bold"/>
              </a:rPr>
              <a:t>50%</a:t>
            </a:r>
          </a:p>
        </p:txBody>
      </p:sp>
      <p:sp>
        <p:nvSpPr>
          <p:cNvPr id="230" name="Цели 2036"/>
          <p:cNvSpPr/>
          <p:nvPr/>
        </p:nvSpPr>
        <p:spPr>
          <a:xfrm>
            <a:off x="9793224" y="7406640"/>
            <a:ext cx="29260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Неочищенных стоков вдвое меньше</a:t>
            </a:r>
          </a:p>
        </p:txBody>
      </p:sp>
      <p:sp>
        <p:nvSpPr>
          <p:cNvPr id="231" name="Роль села"/>
          <p:cNvSpPr/>
          <p:nvPr/>
        </p:nvSpPr>
        <p:spPr>
          <a:xfrm>
            <a:off x="12829032" y="7406640"/>
            <a:ext cx="5111495" cy="841248"/>
          </a:xfrm>
          <a:prstGeom prst="roundRect">
            <a:avLst>
              <a:gd name="adj" fmla="val 12000"/>
            </a:avLst>
          </a:prstGeom>
          <a:solidFill>
            <a:srgbClr val="FFEBA6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Свалки, очистка стоков, охрана лесов и вод; сельских показателей нет</a:t>
            </a:r>
          </a:p>
        </p:txBody>
      </p:sp>
      <p:sp>
        <p:nvSpPr>
          <p:cNvPr id="232" name="Вывод"/>
          <p:cNvSpPr/>
          <p:nvPr/>
        </p:nvSpPr>
        <p:spPr>
          <a:xfrm>
            <a:off x="1069848" y="8366760"/>
            <a:ext cx="16870680" cy="731520"/>
          </a:xfrm>
          <a:prstGeom prst="roundRect">
            <a:avLst>
              <a:gd name="adj" fmla="val 12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900" b="1">
                <a:solidFill>
                  <a:srgbClr val="FFCC00"/>
                </a:solidFill>
                <a:latin typeface="Circe Bold"/>
              </a:rPr>
              <a:t>Прямо про село — только программа «Комплексное развитие сельских территорий»: </a:t>
            </a:r>
            <a:r>
              <a:rPr sz="1900" b="0">
                <a:solidFill>
                  <a:srgbClr val="FFFFFF"/>
                </a:solidFill>
                <a:latin typeface="Circe"/>
              </a:rPr>
              <a:t>к 2031 г. доля сельского населения 34,7%, благоустроенное жильё 54%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