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85" r:id="rId6"/>
  </p:sldIdLst>
  <p:sldSz cx="19010313" cy="10693400"/>
  <p:notesSz cx="14357350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kXiles" initials="I" lastIdx="1" clrIdx="0">
    <p:extLst>
      <p:ext uri="{19B8F6BF-5375-455C-9EA6-DF929625EA0E}">
        <p15:presenceInfo xmlns:p15="http://schemas.microsoft.com/office/powerpoint/2012/main" userId="InkXil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FFFF"/>
    <a:srgbClr val="E8B85C"/>
    <a:srgbClr val="1C4659"/>
    <a:srgbClr val="062D3F"/>
    <a:srgbClr val="F2A504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3852" autoAdjust="0"/>
  </p:normalViewPr>
  <p:slideViewPr>
    <p:cSldViewPr>
      <p:cViewPr varScale="1">
        <p:scale>
          <a:sx n="51" d="100"/>
          <a:sy n="51" d="100"/>
        </p:scale>
        <p:origin x="1061" y="67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1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6221997" cy="498180"/>
          </a:xfrm>
          <a:prstGeom prst="rect">
            <a:avLst/>
          </a:prstGeom>
        </p:spPr>
        <p:txBody>
          <a:bodyPr vert="horz" lIns="74745" tIns="37372" rIns="74745" bIns="37372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32954" y="1"/>
            <a:ext cx="6220800" cy="498180"/>
          </a:xfrm>
          <a:prstGeom prst="rect">
            <a:avLst/>
          </a:prstGeom>
        </p:spPr>
        <p:txBody>
          <a:bodyPr vert="horz" lIns="74745" tIns="37372" rIns="74745" bIns="37372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0525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745" tIns="37372" rIns="74745" bIns="37372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6215" y="4778401"/>
            <a:ext cx="11484921" cy="3908797"/>
          </a:xfrm>
          <a:prstGeom prst="rect">
            <a:avLst/>
          </a:prstGeom>
        </p:spPr>
        <p:txBody>
          <a:bodyPr vert="horz" lIns="74745" tIns="37372" rIns="74745" bIns="37372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6"/>
            <a:ext cx="6221997" cy="498180"/>
          </a:xfrm>
          <a:prstGeom prst="rect">
            <a:avLst/>
          </a:prstGeom>
        </p:spPr>
        <p:txBody>
          <a:bodyPr vert="horz" lIns="74745" tIns="37372" rIns="74745" bIns="37372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32954" y="9430046"/>
            <a:ext cx="6220800" cy="498180"/>
          </a:xfrm>
          <a:prstGeom prst="rect">
            <a:avLst/>
          </a:prstGeom>
        </p:spPr>
        <p:txBody>
          <a:bodyPr vert="horz" lIns="74745" tIns="37372" rIns="74745" bIns="37372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переоформлен: четыре колонки по группам PEST, пункты отбиты жёлтыми точками. Формулировки взяты с прежнего слайда, текст разбит по запятым на отдельные пункты. Буквы E и T на прежнем слайде были кириллическими (Е, Т), здесь латинские, как в названии метода. Двоеточие после «Стратегия научно-технологического развития РФ» заменено разделением на пункты.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PEST-АНАЛИЗ: ЧЕТЫРЕ ГРУППЫ ВНЕШНИХ ФАКТОРОВ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6" name="Номер слайда 2"/>
          <p:cNvSpPr>
            <a:spLocks noGrp="1"/>
          </p:cNvSpPr>
          <p:nvPr>
            <p:ph type="sldNum" sz="quarter" idx="7"/>
          </p:nvPr>
        </p:nvSpPr>
        <p:spPr>
          <a:xfrm>
            <a:off x="18055888" y="10091361"/>
            <a:ext cx="462680" cy="256480"/>
          </a:xfr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5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7" name="Заголовок P"/>
          <p:cNvSpPr/>
          <p:nvPr/>
        </p:nvSpPr>
        <p:spPr>
          <a:xfrm>
            <a:off x="1069848" y="2194560"/>
            <a:ext cx="4069080" cy="960120"/>
          </a:xfrm>
          <a:prstGeom prst="roundRect">
            <a:avLst>
              <a:gd name="adj" fmla="val 18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Буква P"/>
          <p:cNvSpPr/>
          <p:nvPr/>
        </p:nvSpPr>
        <p:spPr>
          <a:xfrm>
            <a:off x="1234439" y="2304288"/>
            <a:ext cx="740664" cy="740664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062D3F"/>
                </a:solidFill>
                <a:latin typeface="Circe Bold"/>
              </a:rPr>
              <a:t>P</a:t>
            </a:r>
          </a:p>
        </p:txBody>
      </p:sp>
      <p:sp>
        <p:nvSpPr>
          <p:cNvPr id="39" name="Название P"/>
          <p:cNvSpPr txBox="1"/>
          <p:nvPr/>
        </p:nvSpPr>
        <p:spPr>
          <a:xfrm>
            <a:off x="2167128" y="2194560"/>
            <a:ext cx="2880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ПОЛИТИКО-ПРАВОВЫЕ</a:t>
            </a:r>
          </a:p>
        </p:txBody>
      </p:sp>
      <p:sp>
        <p:nvSpPr>
          <p:cNvPr id="40" name="Точка"/>
          <p:cNvSpPr/>
          <p:nvPr/>
        </p:nvSpPr>
        <p:spPr>
          <a:xfrm>
            <a:off x="1115568" y="3529584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Пункт"/>
          <p:cNvSpPr txBox="1"/>
          <p:nvPr/>
        </p:nvSpPr>
        <p:spPr>
          <a:xfrm>
            <a:off x="1481328" y="350215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Стратегия пространственного развития РФ</a:t>
            </a:r>
          </a:p>
        </p:txBody>
      </p:sp>
      <p:cxnSp>
        <p:nvCxnSpPr>
          <p:cNvPr id="42" name="Разделитель"/>
          <p:cNvCxnSpPr/>
          <p:nvPr/>
        </p:nvCxnSpPr>
        <p:spPr>
          <a:xfrm>
            <a:off x="1069848" y="4224528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3" name="Точка"/>
          <p:cNvSpPr/>
          <p:nvPr/>
        </p:nvSpPr>
        <p:spPr>
          <a:xfrm>
            <a:off x="1115568" y="4370832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Пункт"/>
          <p:cNvSpPr txBox="1"/>
          <p:nvPr/>
        </p:nvSpPr>
        <p:spPr>
          <a:xfrm>
            <a:off x="1481328" y="4343400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Национальные проекты</a:t>
            </a:r>
          </a:p>
        </p:txBody>
      </p:sp>
      <p:cxnSp>
        <p:nvCxnSpPr>
          <p:cNvPr id="45" name="Разделитель"/>
          <p:cNvCxnSpPr/>
          <p:nvPr/>
        </p:nvCxnSpPr>
        <p:spPr>
          <a:xfrm>
            <a:off x="1069848" y="5065776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6" name="Точка"/>
          <p:cNvSpPr/>
          <p:nvPr/>
        </p:nvSpPr>
        <p:spPr>
          <a:xfrm>
            <a:off x="1115568" y="5212080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Пункт"/>
          <p:cNvSpPr txBox="1"/>
          <p:nvPr/>
        </p:nvSpPr>
        <p:spPr>
          <a:xfrm>
            <a:off x="1481328" y="5184648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Документы территориального и стратегического планирования</a:t>
            </a:r>
          </a:p>
        </p:txBody>
      </p:sp>
      <p:cxnSp>
        <p:nvCxnSpPr>
          <p:cNvPr id="48" name="Разделитель"/>
          <p:cNvCxnSpPr/>
          <p:nvPr/>
        </p:nvCxnSpPr>
        <p:spPr>
          <a:xfrm>
            <a:off x="1069848" y="5907024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9" name="Точка"/>
          <p:cNvSpPr/>
          <p:nvPr/>
        </p:nvSpPr>
        <p:spPr>
          <a:xfrm>
            <a:off x="1115568" y="6053328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Пункт"/>
          <p:cNvSpPr txBox="1"/>
          <p:nvPr/>
        </p:nvSpPr>
        <p:spPr>
          <a:xfrm>
            <a:off x="1481328" y="6025896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Госпрограммы</a:t>
            </a:r>
          </a:p>
        </p:txBody>
      </p:sp>
      <p:cxnSp>
        <p:nvCxnSpPr>
          <p:cNvPr id="51" name="Разделитель"/>
          <p:cNvCxnSpPr/>
          <p:nvPr/>
        </p:nvCxnSpPr>
        <p:spPr>
          <a:xfrm>
            <a:off x="1069848" y="6748272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52" name="Точка"/>
          <p:cNvSpPr/>
          <p:nvPr/>
        </p:nvSpPr>
        <p:spPr>
          <a:xfrm>
            <a:off x="1115568" y="6894576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Пункт"/>
          <p:cNvSpPr txBox="1"/>
          <p:nvPr/>
        </p:nvSpPr>
        <p:spPr>
          <a:xfrm>
            <a:off x="1481328" y="6867144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Региональные стратегии</a:t>
            </a:r>
          </a:p>
        </p:txBody>
      </p:sp>
      <p:cxnSp>
        <p:nvCxnSpPr>
          <p:cNvPr id="54" name="Разделитель"/>
          <p:cNvCxnSpPr/>
          <p:nvPr/>
        </p:nvCxnSpPr>
        <p:spPr>
          <a:xfrm>
            <a:off x="1069848" y="7589519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55" name="Точка"/>
          <p:cNvSpPr/>
          <p:nvPr/>
        </p:nvSpPr>
        <p:spPr>
          <a:xfrm>
            <a:off x="1115568" y="7735823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Пункт"/>
          <p:cNvSpPr txBox="1"/>
          <p:nvPr/>
        </p:nvSpPr>
        <p:spPr>
          <a:xfrm>
            <a:off x="1481328" y="770839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Межбюджетные отношения</a:t>
            </a:r>
          </a:p>
        </p:txBody>
      </p:sp>
      <p:cxnSp>
        <p:nvCxnSpPr>
          <p:cNvPr id="57" name="Разделитель"/>
          <p:cNvCxnSpPr/>
          <p:nvPr/>
        </p:nvCxnSpPr>
        <p:spPr>
          <a:xfrm>
            <a:off x="1069848" y="8430767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58" name="Точка"/>
          <p:cNvSpPr/>
          <p:nvPr/>
        </p:nvSpPr>
        <p:spPr>
          <a:xfrm>
            <a:off x="1115568" y="8577072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Пункт"/>
          <p:cNvSpPr txBox="1"/>
          <p:nvPr/>
        </p:nvSpPr>
        <p:spPr>
          <a:xfrm>
            <a:off x="1481328" y="8549640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Нормативные ограничения</a:t>
            </a:r>
          </a:p>
        </p:txBody>
      </p:sp>
      <p:sp>
        <p:nvSpPr>
          <p:cNvPr id="60" name="Заголовок E"/>
          <p:cNvSpPr/>
          <p:nvPr/>
        </p:nvSpPr>
        <p:spPr>
          <a:xfrm>
            <a:off x="5340096" y="2194560"/>
            <a:ext cx="4069080" cy="960120"/>
          </a:xfrm>
          <a:prstGeom prst="roundRect">
            <a:avLst>
              <a:gd name="adj" fmla="val 18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Буква E"/>
          <p:cNvSpPr/>
          <p:nvPr/>
        </p:nvSpPr>
        <p:spPr>
          <a:xfrm>
            <a:off x="5504688" y="2304288"/>
            <a:ext cx="740664" cy="740664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062D3F"/>
                </a:solidFill>
                <a:latin typeface="Circe Bold"/>
              </a:rPr>
              <a:t>E</a:t>
            </a:r>
          </a:p>
        </p:txBody>
      </p:sp>
      <p:sp>
        <p:nvSpPr>
          <p:cNvPr id="62" name="Название E"/>
          <p:cNvSpPr txBox="1"/>
          <p:nvPr/>
        </p:nvSpPr>
        <p:spPr>
          <a:xfrm>
            <a:off x="6437376" y="2194560"/>
            <a:ext cx="2880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ЭКОНОМИЧЕСКИЕ</a:t>
            </a:r>
          </a:p>
        </p:txBody>
      </p:sp>
      <p:sp>
        <p:nvSpPr>
          <p:cNvPr id="63" name="Точка"/>
          <p:cNvSpPr/>
          <p:nvPr/>
        </p:nvSpPr>
        <p:spPr>
          <a:xfrm>
            <a:off x="5385816" y="3529584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Пункт"/>
          <p:cNvSpPr txBox="1"/>
          <p:nvPr/>
        </p:nvSpPr>
        <p:spPr>
          <a:xfrm>
            <a:off x="5751576" y="350215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Доходы и платёжеспособный спрос населения</a:t>
            </a:r>
          </a:p>
        </p:txBody>
      </p:sp>
      <p:cxnSp>
        <p:nvCxnSpPr>
          <p:cNvPr id="65" name="Разделитель"/>
          <p:cNvCxnSpPr/>
          <p:nvPr/>
        </p:nvCxnSpPr>
        <p:spPr>
          <a:xfrm>
            <a:off x="5340096" y="4224528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66" name="Точка"/>
          <p:cNvSpPr/>
          <p:nvPr/>
        </p:nvSpPr>
        <p:spPr>
          <a:xfrm>
            <a:off x="5385816" y="4370832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Пункт"/>
          <p:cNvSpPr txBox="1"/>
          <p:nvPr/>
        </p:nvSpPr>
        <p:spPr>
          <a:xfrm>
            <a:off x="5751576" y="4343400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Цены на сельхозпродукцию, ресурсы и топливо</a:t>
            </a:r>
          </a:p>
        </p:txBody>
      </p:sp>
      <p:cxnSp>
        <p:nvCxnSpPr>
          <p:cNvPr id="68" name="Разделитель"/>
          <p:cNvCxnSpPr/>
          <p:nvPr/>
        </p:nvCxnSpPr>
        <p:spPr>
          <a:xfrm>
            <a:off x="5340096" y="5065776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69" name="Точка"/>
          <p:cNvSpPr/>
          <p:nvPr/>
        </p:nvSpPr>
        <p:spPr>
          <a:xfrm>
            <a:off x="5385816" y="5212080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Пункт"/>
          <p:cNvSpPr txBox="1"/>
          <p:nvPr/>
        </p:nvSpPr>
        <p:spPr>
          <a:xfrm>
            <a:off x="5751576" y="5184648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Процентные ставки и доступность кредита</a:t>
            </a:r>
          </a:p>
        </p:txBody>
      </p:sp>
      <p:cxnSp>
        <p:nvCxnSpPr>
          <p:cNvPr id="71" name="Разделитель"/>
          <p:cNvCxnSpPr/>
          <p:nvPr/>
        </p:nvCxnSpPr>
        <p:spPr>
          <a:xfrm>
            <a:off x="5340096" y="5907024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72" name="Точка"/>
          <p:cNvSpPr/>
          <p:nvPr/>
        </p:nvSpPr>
        <p:spPr>
          <a:xfrm>
            <a:off x="5385816" y="6053328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Пункт"/>
          <p:cNvSpPr txBox="1"/>
          <p:nvPr/>
        </p:nvSpPr>
        <p:spPr>
          <a:xfrm>
            <a:off x="5751576" y="6025896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Транспортные тарифы</a:t>
            </a:r>
          </a:p>
        </p:txBody>
      </p:sp>
      <p:cxnSp>
        <p:nvCxnSpPr>
          <p:cNvPr id="74" name="Разделитель"/>
          <p:cNvCxnSpPr/>
          <p:nvPr/>
        </p:nvCxnSpPr>
        <p:spPr>
          <a:xfrm>
            <a:off x="5340096" y="6748272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75" name="Точка"/>
          <p:cNvSpPr/>
          <p:nvPr/>
        </p:nvSpPr>
        <p:spPr>
          <a:xfrm>
            <a:off x="5385816" y="6894576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Пункт"/>
          <p:cNvSpPr txBox="1"/>
          <p:nvPr/>
        </p:nvSpPr>
        <p:spPr>
          <a:xfrm>
            <a:off x="5751576" y="6867144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Инвестиционная активность в регионе</a:t>
            </a:r>
          </a:p>
        </p:txBody>
      </p:sp>
      <p:cxnSp>
        <p:nvCxnSpPr>
          <p:cNvPr id="77" name="Разделитель"/>
          <p:cNvCxnSpPr/>
          <p:nvPr/>
        </p:nvCxnSpPr>
        <p:spPr>
          <a:xfrm>
            <a:off x="5340096" y="7589519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78" name="Точка"/>
          <p:cNvSpPr/>
          <p:nvPr/>
        </p:nvSpPr>
        <p:spPr>
          <a:xfrm>
            <a:off x="5385816" y="7735823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Пункт"/>
          <p:cNvSpPr txBox="1"/>
          <p:nvPr/>
        </p:nvSpPr>
        <p:spPr>
          <a:xfrm>
            <a:off x="5751576" y="770839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Спрос агломераций на продукты, отдых и жильё</a:t>
            </a:r>
          </a:p>
        </p:txBody>
      </p:sp>
      <p:sp>
        <p:nvSpPr>
          <p:cNvPr id="80" name="Заголовок S"/>
          <p:cNvSpPr/>
          <p:nvPr/>
        </p:nvSpPr>
        <p:spPr>
          <a:xfrm>
            <a:off x="9610344" y="2194560"/>
            <a:ext cx="4069080" cy="960120"/>
          </a:xfrm>
          <a:prstGeom prst="roundRect">
            <a:avLst>
              <a:gd name="adj" fmla="val 18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Буква S"/>
          <p:cNvSpPr/>
          <p:nvPr/>
        </p:nvSpPr>
        <p:spPr>
          <a:xfrm>
            <a:off x="9774936" y="2304288"/>
            <a:ext cx="740664" cy="740664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062D3F"/>
                </a:solidFill>
                <a:latin typeface="Circe Bold"/>
              </a:rPr>
              <a:t>S</a:t>
            </a:r>
          </a:p>
        </p:txBody>
      </p:sp>
      <p:sp>
        <p:nvSpPr>
          <p:cNvPr id="82" name="Название S"/>
          <p:cNvSpPr txBox="1"/>
          <p:nvPr/>
        </p:nvSpPr>
        <p:spPr>
          <a:xfrm>
            <a:off x="10707624" y="2194560"/>
            <a:ext cx="2880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СОЦИОКУЛЬТУРНЫЕ</a:t>
            </a:r>
          </a:p>
        </p:txBody>
      </p:sp>
      <p:sp>
        <p:nvSpPr>
          <p:cNvPr id="83" name="Точка"/>
          <p:cNvSpPr/>
          <p:nvPr/>
        </p:nvSpPr>
        <p:spPr>
          <a:xfrm>
            <a:off x="9656064" y="3529584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Пункт"/>
          <p:cNvSpPr txBox="1"/>
          <p:nvPr/>
        </p:nvSpPr>
        <p:spPr>
          <a:xfrm>
            <a:off x="10021824" y="350215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Урбанизация и отток молодёжи в города</a:t>
            </a:r>
          </a:p>
        </p:txBody>
      </p:sp>
      <p:cxnSp>
        <p:nvCxnSpPr>
          <p:cNvPr id="85" name="Разделитель"/>
          <p:cNvCxnSpPr/>
          <p:nvPr/>
        </p:nvCxnSpPr>
        <p:spPr>
          <a:xfrm>
            <a:off x="9610344" y="4224528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86" name="Точка"/>
          <p:cNvSpPr/>
          <p:nvPr/>
        </p:nvSpPr>
        <p:spPr>
          <a:xfrm>
            <a:off x="9656064" y="4370832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Пункт"/>
          <p:cNvSpPr txBox="1"/>
          <p:nvPr/>
        </p:nvSpPr>
        <p:spPr>
          <a:xfrm>
            <a:off x="10021824" y="4343400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Старение населения</a:t>
            </a:r>
          </a:p>
        </p:txBody>
      </p:sp>
      <p:cxnSp>
        <p:nvCxnSpPr>
          <p:cNvPr id="88" name="Разделитель"/>
          <p:cNvCxnSpPr/>
          <p:nvPr/>
        </p:nvCxnSpPr>
        <p:spPr>
          <a:xfrm>
            <a:off x="9610344" y="5065776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89" name="Точка"/>
          <p:cNvSpPr/>
          <p:nvPr/>
        </p:nvSpPr>
        <p:spPr>
          <a:xfrm>
            <a:off x="9656064" y="5212080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Пункт"/>
          <p:cNvSpPr txBox="1"/>
          <p:nvPr/>
        </p:nvSpPr>
        <p:spPr>
          <a:xfrm>
            <a:off x="10021824" y="5184648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Интерес горожан к сельскому образу жизни и второму жилью</a:t>
            </a:r>
          </a:p>
        </p:txBody>
      </p:sp>
      <p:cxnSp>
        <p:nvCxnSpPr>
          <p:cNvPr id="91" name="Разделитель"/>
          <p:cNvCxnSpPr/>
          <p:nvPr/>
        </p:nvCxnSpPr>
        <p:spPr>
          <a:xfrm>
            <a:off x="9610344" y="5907024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92" name="Точка"/>
          <p:cNvSpPr/>
          <p:nvPr/>
        </p:nvSpPr>
        <p:spPr>
          <a:xfrm>
            <a:off x="9656064" y="6053328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Пункт"/>
          <p:cNvSpPr txBox="1"/>
          <p:nvPr/>
        </p:nvSpPr>
        <p:spPr>
          <a:xfrm>
            <a:off x="10021824" y="6025896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Распространение удалённой работы</a:t>
            </a:r>
          </a:p>
        </p:txBody>
      </p:sp>
      <p:cxnSp>
        <p:nvCxnSpPr>
          <p:cNvPr id="94" name="Разделитель"/>
          <p:cNvCxnSpPr/>
          <p:nvPr/>
        </p:nvCxnSpPr>
        <p:spPr>
          <a:xfrm>
            <a:off x="9610344" y="6748272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95" name="Точка"/>
          <p:cNvSpPr/>
          <p:nvPr/>
        </p:nvSpPr>
        <p:spPr>
          <a:xfrm>
            <a:off x="9656064" y="6894576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Пункт"/>
          <p:cNvSpPr txBox="1"/>
          <p:nvPr/>
        </p:nvSpPr>
        <p:spPr>
          <a:xfrm>
            <a:off x="10021824" y="6867144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Рост внутреннего туризма</a:t>
            </a:r>
          </a:p>
        </p:txBody>
      </p:sp>
      <p:cxnSp>
        <p:nvCxnSpPr>
          <p:cNvPr id="97" name="Разделитель"/>
          <p:cNvCxnSpPr/>
          <p:nvPr/>
        </p:nvCxnSpPr>
        <p:spPr>
          <a:xfrm>
            <a:off x="9610344" y="7589519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98" name="Точка"/>
          <p:cNvSpPr/>
          <p:nvPr/>
        </p:nvSpPr>
        <p:spPr>
          <a:xfrm>
            <a:off x="9656064" y="7735823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Пункт"/>
          <p:cNvSpPr txBox="1"/>
          <p:nvPr/>
        </p:nvSpPr>
        <p:spPr>
          <a:xfrm>
            <a:off x="10021824" y="770839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Растущие ожидания по качеству услуг</a:t>
            </a:r>
          </a:p>
        </p:txBody>
      </p:sp>
      <p:sp>
        <p:nvSpPr>
          <p:cNvPr id="100" name="Заголовок T"/>
          <p:cNvSpPr/>
          <p:nvPr/>
        </p:nvSpPr>
        <p:spPr>
          <a:xfrm>
            <a:off x="13880592" y="2194560"/>
            <a:ext cx="4069080" cy="960120"/>
          </a:xfrm>
          <a:prstGeom prst="roundRect">
            <a:avLst>
              <a:gd name="adj" fmla="val 18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Буква T"/>
          <p:cNvSpPr/>
          <p:nvPr/>
        </p:nvSpPr>
        <p:spPr>
          <a:xfrm>
            <a:off x="14045184" y="2304288"/>
            <a:ext cx="740664" cy="740664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062D3F"/>
                </a:solidFill>
                <a:latin typeface="Circe Bold"/>
              </a:rPr>
              <a:t>T</a:t>
            </a:r>
          </a:p>
        </p:txBody>
      </p:sp>
      <p:sp>
        <p:nvSpPr>
          <p:cNvPr id="102" name="Название T"/>
          <p:cNvSpPr txBox="1"/>
          <p:nvPr/>
        </p:nvSpPr>
        <p:spPr>
          <a:xfrm>
            <a:off x="14977872" y="2194560"/>
            <a:ext cx="2880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irce Bold"/>
              </a:rPr>
              <a:t>ТЕХНОЛОГИЧЕСКИЕ</a:t>
            </a:r>
          </a:p>
        </p:txBody>
      </p:sp>
      <p:sp>
        <p:nvSpPr>
          <p:cNvPr id="103" name="Точка"/>
          <p:cNvSpPr/>
          <p:nvPr/>
        </p:nvSpPr>
        <p:spPr>
          <a:xfrm>
            <a:off x="13926312" y="3529584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Пункт"/>
          <p:cNvSpPr txBox="1"/>
          <p:nvPr/>
        </p:nvSpPr>
        <p:spPr>
          <a:xfrm>
            <a:off x="14292072" y="350215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Стратегия научно-технологического развития РФ</a:t>
            </a:r>
          </a:p>
        </p:txBody>
      </p:sp>
      <p:cxnSp>
        <p:nvCxnSpPr>
          <p:cNvPr id="105" name="Разделитель"/>
          <p:cNvCxnSpPr/>
          <p:nvPr/>
        </p:nvCxnSpPr>
        <p:spPr>
          <a:xfrm>
            <a:off x="13880592" y="4224528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06" name="Точка"/>
          <p:cNvSpPr/>
          <p:nvPr/>
        </p:nvSpPr>
        <p:spPr>
          <a:xfrm>
            <a:off x="13926312" y="4370832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Пункт"/>
          <p:cNvSpPr txBox="1"/>
          <p:nvPr/>
        </p:nvSpPr>
        <p:spPr>
          <a:xfrm>
            <a:off x="14292072" y="4343400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Цифровизация</a:t>
            </a:r>
          </a:p>
        </p:txBody>
      </p:sp>
      <p:cxnSp>
        <p:nvCxnSpPr>
          <p:cNvPr id="108" name="Разделитель"/>
          <p:cNvCxnSpPr/>
          <p:nvPr/>
        </p:nvCxnSpPr>
        <p:spPr>
          <a:xfrm>
            <a:off x="13880592" y="5065776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09" name="Точка"/>
          <p:cNvSpPr/>
          <p:nvPr/>
        </p:nvSpPr>
        <p:spPr>
          <a:xfrm>
            <a:off x="13926312" y="5212080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Пункт"/>
          <p:cNvSpPr txBox="1"/>
          <p:nvPr/>
        </p:nvSpPr>
        <p:spPr>
          <a:xfrm>
            <a:off x="14292072" y="5184648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Беспилотные технологии</a:t>
            </a:r>
          </a:p>
        </p:txBody>
      </p:sp>
      <p:cxnSp>
        <p:nvCxnSpPr>
          <p:cNvPr id="111" name="Разделитель"/>
          <p:cNvCxnSpPr/>
          <p:nvPr/>
        </p:nvCxnSpPr>
        <p:spPr>
          <a:xfrm>
            <a:off x="13880592" y="5907024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12" name="Точка"/>
          <p:cNvSpPr/>
          <p:nvPr/>
        </p:nvSpPr>
        <p:spPr>
          <a:xfrm>
            <a:off x="13926312" y="6053328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Пункт"/>
          <p:cNvSpPr txBox="1"/>
          <p:nvPr/>
        </p:nvSpPr>
        <p:spPr>
          <a:xfrm>
            <a:off x="14292072" y="6025896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Связь и интернет</a:t>
            </a:r>
          </a:p>
        </p:txBody>
      </p:sp>
      <p:cxnSp>
        <p:nvCxnSpPr>
          <p:cNvPr id="114" name="Разделитель"/>
          <p:cNvCxnSpPr/>
          <p:nvPr/>
        </p:nvCxnSpPr>
        <p:spPr>
          <a:xfrm>
            <a:off x="13880592" y="6748272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15" name="Точка"/>
          <p:cNvSpPr/>
          <p:nvPr/>
        </p:nvSpPr>
        <p:spPr>
          <a:xfrm>
            <a:off x="13926312" y="6894576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Пункт"/>
          <p:cNvSpPr txBox="1"/>
          <p:nvPr/>
        </p:nvSpPr>
        <p:spPr>
          <a:xfrm>
            <a:off x="14292072" y="6867144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Агро- и биотехнологии</a:t>
            </a:r>
          </a:p>
        </p:txBody>
      </p:sp>
      <p:cxnSp>
        <p:nvCxnSpPr>
          <p:cNvPr id="117" name="Разделитель"/>
          <p:cNvCxnSpPr/>
          <p:nvPr/>
        </p:nvCxnSpPr>
        <p:spPr>
          <a:xfrm>
            <a:off x="13880592" y="7589519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18" name="Точка"/>
          <p:cNvSpPr/>
          <p:nvPr/>
        </p:nvSpPr>
        <p:spPr>
          <a:xfrm>
            <a:off x="13926312" y="7735823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Пункт"/>
          <p:cNvSpPr txBox="1"/>
          <p:nvPr/>
        </p:nvSpPr>
        <p:spPr>
          <a:xfrm>
            <a:off x="14292072" y="7708392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Новые энергетические решения</a:t>
            </a:r>
          </a:p>
        </p:txBody>
      </p:sp>
      <p:cxnSp>
        <p:nvCxnSpPr>
          <p:cNvPr id="120" name="Разделитель"/>
          <p:cNvCxnSpPr/>
          <p:nvPr/>
        </p:nvCxnSpPr>
        <p:spPr>
          <a:xfrm>
            <a:off x="13880592" y="8430767"/>
            <a:ext cx="406908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121" name="Точка"/>
          <p:cNvSpPr/>
          <p:nvPr/>
        </p:nvSpPr>
        <p:spPr>
          <a:xfrm>
            <a:off x="13926312" y="8577072"/>
            <a:ext cx="182880" cy="1828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Пункт"/>
          <p:cNvSpPr txBox="1"/>
          <p:nvPr/>
        </p:nvSpPr>
        <p:spPr>
          <a:xfrm>
            <a:off x="14292072" y="8549640"/>
            <a:ext cx="3611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Технологический суверенитет</a:t>
            </a:r>
          </a:p>
        </p:txBody>
      </p:sp>
    </p:spTree>
    <p:extLst>
      <p:ext uri="{BB962C8B-B14F-4D97-AF65-F5344CB8AC3E}">
        <p14:creationId xmlns:p14="http://schemas.microsoft.com/office/powerpoint/2010/main" val="3624545165"/>
      </p:ext>
    </p:extLst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</TotalTime>
  <Words>1840</Words>
  <Application>Microsoft Office PowerPoint</Application>
  <PresentationFormat>Произвольный</PresentationFormat>
  <Paragraphs>423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Circe</vt:lpstr>
      <vt:lpstr>Circe Bold</vt:lpstr>
      <vt:lpstr>Основной слайд</vt:lpstr>
      <vt:lpstr>SWOT-анализ и PEST – анализ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Веленко Татьяна Александровна</dc:creator>
  <cp:lastModifiedBy>InkXiles</cp:lastModifiedBy>
  <cp:revision>98</cp:revision>
  <cp:lastPrinted>2026-10-05T13:27:38Z</cp:lastPrinted>
  <dcterms:created xsi:type="dcterms:W3CDTF">2022-11-22T08:46:48Z</dcterms:created>
  <dcterms:modified xsi:type="dcterms:W3CDTF">2026-10-06T12:58:34Z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