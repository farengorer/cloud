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Семь приоритетных направлений научно-технологического развития по Указу № 529 от 18.06.2024. Дословные формулировки подтверждены для направлений: энергетика, медицина, сельское хозяйство, безопасность информации. Формулировки направлений «Транспорт и связь», «Идентичность и образование», «Адаптация к климату» приведены по пересказам и требуют сверки с текстом Указа; порядок карточек не отражает порядок в Указе. Число 28: 21 критическая и 7 сквозных технологий (перечень на следующем слайде).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ПРИОРИТЕТЫ ТЕХНОЛОГИЧЕСКОГО РАЗВИТИЯ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Семь приоритетных направлений научно-технологического развития России: Указ Президента РФ № 529 от 18.06.2024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Карточка Энергетика"/>
          <p:cNvSpPr/>
          <p:nvPr/>
        </p:nvSpPr>
        <p:spPr>
          <a:xfrm>
            <a:off x="1069848" y="2194560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Круг Энергетика"/>
          <p:cNvSpPr/>
          <p:nvPr/>
        </p:nvSpPr>
        <p:spPr>
          <a:xfrm>
            <a:off x="1417319" y="2542032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5" name="Иконка Энергетика" descr="Энергетик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2747772"/>
            <a:ext cx="457200" cy="457200"/>
          </a:xfrm>
          <a:prstGeom prst="rect">
            <a:avLst/>
          </a:prstGeom>
        </p:spPr>
      </p:pic>
      <p:sp>
        <p:nvSpPr>
          <p:cNvPr id="206" name="Название Энергетика"/>
          <p:cNvSpPr txBox="1"/>
          <p:nvPr/>
        </p:nvSpPr>
        <p:spPr>
          <a:xfrm>
            <a:off x="1417319" y="3666744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Энергетика</a:t>
            </a:r>
          </a:p>
        </p:txBody>
      </p:sp>
      <p:sp>
        <p:nvSpPr>
          <p:cNvPr id="207" name="Описание Энергетика"/>
          <p:cNvSpPr txBox="1"/>
          <p:nvPr/>
        </p:nvSpPr>
        <p:spPr>
          <a:xfrm>
            <a:off x="1417319" y="4416552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Высокоэффективная и ресурсосберегающая энергетика</a:t>
            </a:r>
          </a:p>
        </p:txBody>
      </p:sp>
      <p:sp>
        <p:nvSpPr>
          <p:cNvPr id="208" name="Карточка Медицина и долголетие"/>
          <p:cNvSpPr/>
          <p:nvPr/>
        </p:nvSpPr>
        <p:spPr>
          <a:xfrm>
            <a:off x="5356098" y="2194560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Круг Медицина и долголетие"/>
          <p:cNvSpPr/>
          <p:nvPr/>
        </p:nvSpPr>
        <p:spPr>
          <a:xfrm>
            <a:off x="5703570" y="2542032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0" name="Иконка Медицина и долголетие" descr="Медицина и долголети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09" y="2747772"/>
            <a:ext cx="457200" cy="457200"/>
          </a:xfrm>
          <a:prstGeom prst="rect">
            <a:avLst/>
          </a:prstGeom>
        </p:spPr>
      </p:pic>
      <p:sp>
        <p:nvSpPr>
          <p:cNvPr id="211" name="Название Медицина и долголетие"/>
          <p:cNvSpPr txBox="1"/>
          <p:nvPr/>
        </p:nvSpPr>
        <p:spPr>
          <a:xfrm>
            <a:off x="5703570" y="3666744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Медицина и долголетие</a:t>
            </a:r>
          </a:p>
        </p:txBody>
      </p:sp>
      <p:sp>
        <p:nvSpPr>
          <p:cNvPr id="212" name="Описание Медицина и долголетие"/>
          <p:cNvSpPr txBox="1"/>
          <p:nvPr/>
        </p:nvSpPr>
        <p:spPr>
          <a:xfrm>
            <a:off x="5703570" y="4416552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Превентивная и персонализированная медицина, обеспечение здорового долголетия</a:t>
            </a:r>
          </a:p>
        </p:txBody>
      </p:sp>
      <p:sp>
        <p:nvSpPr>
          <p:cNvPr id="213" name="Карточка Сельское хозяйство"/>
          <p:cNvSpPr/>
          <p:nvPr/>
        </p:nvSpPr>
        <p:spPr>
          <a:xfrm>
            <a:off x="9642348" y="2194560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Круг Сельское хозяйство"/>
          <p:cNvSpPr/>
          <p:nvPr/>
        </p:nvSpPr>
        <p:spPr>
          <a:xfrm>
            <a:off x="9989820" y="2542032"/>
            <a:ext cx="868680" cy="868680"/>
          </a:xfrm>
          <a:prstGeom prst="ellipse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5" name="Иконка Сельское хозяйство" descr="Сельское хозяйство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747772"/>
            <a:ext cx="457200" cy="457200"/>
          </a:xfrm>
          <a:prstGeom prst="rect">
            <a:avLst/>
          </a:prstGeom>
        </p:spPr>
      </p:pic>
      <p:sp>
        <p:nvSpPr>
          <p:cNvPr id="216" name="Название Сельское хозяйство"/>
          <p:cNvSpPr txBox="1"/>
          <p:nvPr/>
        </p:nvSpPr>
        <p:spPr>
          <a:xfrm>
            <a:off x="9989820" y="3666744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62D3F"/>
                </a:solidFill>
                <a:latin typeface="Circe Bold"/>
              </a:rPr>
              <a:t>Сельское хозяйство</a:t>
            </a:r>
          </a:p>
        </p:txBody>
      </p:sp>
      <p:sp>
        <p:nvSpPr>
          <p:cNvPr id="217" name="Описание Сельское хозяйство"/>
          <p:cNvSpPr txBox="1"/>
          <p:nvPr/>
        </p:nvSpPr>
        <p:spPr>
          <a:xfrm>
            <a:off x="9989820" y="4416552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Высокопродуктивное и устойчивое к изменениям природной среды сельское хозяйство</a:t>
            </a:r>
          </a:p>
        </p:txBody>
      </p:sp>
      <p:sp>
        <p:nvSpPr>
          <p:cNvPr id="218" name="Карточка Безопасность информации"/>
          <p:cNvSpPr/>
          <p:nvPr/>
        </p:nvSpPr>
        <p:spPr>
          <a:xfrm>
            <a:off x="13928598" y="2194560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Круг Безопасность информации"/>
          <p:cNvSpPr/>
          <p:nvPr/>
        </p:nvSpPr>
        <p:spPr>
          <a:xfrm>
            <a:off x="14276070" y="2542032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0" name="Иконка Безопасность информации" descr="Безопасность информации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1810" y="2747772"/>
            <a:ext cx="457200" cy="457200"/>
          </a:xfrm>
          <a:prstGeom prst="rect">
            <a:avLst/>
          </a:prstGeom>
        </p:spPr>
      </p:pic>
      <p:sp>
        <p:nvSpPr>
          <p:cNvPr id="221" name="Название Безопасность информации"/>
          <p:cNvSpPr txBox="1"/>
          <p:nvPr/>
        </p:nvSpPr>
        <p:spPr>
          <a:xfrm>
            <a:off x="14276070" y="3666744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Безопасность информации</a:t>
            </a:r>
          </a:p>
        </p:txBody>
      </p:sp>
      <p:sp>
        <p:nvSpPr>
          <p:cNvPr id="222" name="Описание Безопасность информации"/>
          <p:cNvSpPr txBox="1"/>
          <p:nvPr/>
        </p:nvSpPr>
        <p:spPr>
          <a:xfrm>
            <a:off x="14276070" y="4416552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Безопасность получения, хранения, передачи и обработки информации</a:t>
            </a:r>
          </a:p>
        </p:txBody>
      </p:sp>
      <p:sp>
        <p:nvSpPr>
          <p:cNvPr id="223" name="Карточка Транспорт и связь"/>
          <p:cNvSpPr/>
          <p:nvPr/>
        </p:nvSpPr>
        <p:spPr>
          <a:xfrm>
            <a:off x="1069848" y="5925312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Круг Транспорт и связь"/>
          <p:cNvSpPr/>
          <p:nvPr/>
        </p:nvSpPr>
        <p:spPr>
          <a:xfrm>
            <a:off x="1417319" y="6272783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5" name="Иконка Транспорт и связь" descr="Транспорт и связь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3060" y="6478523"/>
            <a:ext cx="457200" cy="457200"/>
          </a:xfrm>
          <a:prstGeom prst="rect">
            <a:avLst/>
          </a:prstGeom>
        </p:spPr>
      </p:pic>
      <p:sp>
        <p:nvSpPr>
          <p:cNvPr id="226" name="Название Транспорт и связь"/>
          <p:cNvSpPr txBox="1"/>
          <p:nvPr/>
        </p:nvSpPr>
        <p:spPr>
          <a:xfrm>
            <a:off x="1417319" y="7397496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Транспорт и связь</a:t>
            </a:r>
          </a:p>
        </p:txBody>
      </p:sp>
      <p:sp>
        <p:nvSpPr>
          <p:cNvPr id="227" name="Описание Транспорт и связь"/>
          <p:cNvSpPr txBox="1"/>
          <p:nvPr/>
        </p:nvSpPr>
        <p:spPr>
          <a:xfrm>
            <a:off x="1417319" y="8147304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Интеллектуальные транспортные и телекоммуникационные системы, включая автономные транспортные средства</a:t>
            </a:r>
          </a:p>
        </p:txBody>
      </p:sp>
      <p:sp>
        <p:nvSpPr>
          <p:cNvPr id="228" name="Карточка Идентичность и образование"/>
          <p:cNvSpPr/>
          <p:nvPr/>
        </p:nvSpPr>
        <p:spPr>
          <a:xfrm>
            <a:off x="5356098" y="5925312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Круг Идентичность и образование"/>
          <p:cNvSpPr/>
          <p:nvPr/>
        </p:nvSpPr>
        <p:spPr>
          <a:xfrm>
            <a:off x="5703570" y="6272783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0" name="Иконка Идентичность и образование" descr="Идентичность и образование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9309" y="6478523"/>
            <a:ext cx="457200" cy="457200"/>
          </a:xfrm>
          <a:prstGeom prst="rect">
            <a:avLst/>
          </a:prstGeom>
        </p:spPr>
      </p:pic>
      <p:sp>
        <p:nvSpPr>
          <p:cNvPr id="231" name="Название Идентичность и образование"/>
          <p:cNvSpPr txBox="1"/>
          <p:nvPr/>
        </p:nvSpPr>
        <p:spPr>
          <a:xfrm>
            <a:off x="5703570" y="7397496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Идентичность и образование</a:t>
            </a:r>
          </a:p>
        </p:txBody>
      </p:sp>
      <p:sp>
        <p:nvSpPr>
          <p:cNvPr id="232" name="Описание Идентичность и образование"/>
          <p:cNvSpPr txBox="1"/>
          <p:nvPr/>
        </p:nvSpPr>
        <p:spPr>
          <a:xfrm>
            <a:off x="5703570" y="8147304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Укрепление социокультурной идентичности российского общества и повышение уровня его образования</a:t>
            </a:r>
          </a:p>
        </p:txBody>
      </p:sp>
      <p:sp>
        <p:nvSpPr>
          <p:cNvPr id="233" name="Карточка Адаптация к климату"/>
          <p:cNvSpPr/>
          <p:nvPr/>
        </p:nvSpPr>
        <p:spPr>
          <a:xfrm>
            <a:off x="9642348" y="5925312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Круг Адаптация к климату"/>
          <p:cNvSpPr/>
          <p:nvPr/>
        </p:nvSpPr>
        <p:spPr>
          <a:xfrm>
            <a:off x="9989820" y="6272783"/>
            <a:ext cx="868680" cy="86868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5" name="Иконка Адаптация к климату" descr="Адаптация к климату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6478523"/>
            <a:ext cx="457200" cy="457200"/>
          </a:xfrm>
          <a:prstGeom prst="rect">
            <a:avLst/>
          </a:prstGeom>
        </p:spPr>
      </p:pic>
      <p:sp>
        <p:nvSpPr>
          <p:cNvPr id="236" name="Название Адаптация к климату"/>
          <p:cNvSpPr txBox="1"/>
          <p:nvPr/>
        </p:nvSpPr>
        <p:spPr>
          <a:xfrm>
            <a:off x="9989820" y="7397496"/>
            <a:ext cx="331698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irce Bold"/>
              </a:rPr>
              <a:t>Адаптация к климату</a:t>
            </a:r>
          </a:p>
        </p:txBody>
      </p:sp>
      <p:sp>
        <p:nvSpPr>
          <p:cNvPr id="237" name="Описание Адаптация к климату"/>
          <p:cNvSpPr txBox="1"/>
          <p:nvPr/>
        </p:nvSpPr>
        <p:spPr>
          <a:xfrm>
            <a:off x="9989820" y="8147304"/>
            <a:ext cx="3316986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DDE6EA"/>
                </a:solidFill>
                <a:latin typeface="Circe"/>
              </a:rPr>
              <a:t>Адаптация к изменениям климата</a:t>
            </a:r>
          </a:p>
        </p:txBody>
      </p:sp>
      <p:sp>
        <p:nvSpPr>
          <p:cNvPr id="238" name="Карточка 28"/>
          <p:cNvSpPr/>
          <p:nvPr/>
        </p:nvSpPr>
        <p:spPr>
          <a:xfrm>
            <a:off x="13928598" y="5925312"/>
            <a:ext cx="4011930" cy="3456432"/>
          </a:xfrm>
          <a:prstGeom prst="roundRect">
            <a:avLst>
              <a:gd name="adj" fmla="val 7000"/>
            </a:avLst>
          </a:prstGeom>
          <a:solidFill>
            <a:srgbClr val="FFF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Число 28"/>
          <p:cNvSpPr txBox="1"/>
          <p:nvPr/>
        </p:nvSpPr>
        <p:spPr>
          <a:xfrm>
            <a:off x="14276070" y="6336792"/>
            <a:ext cx="331698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062D3F"/>
                </a:solidFill>
                <a:latin typeface="Circe Bold"/>
              </a:rPr>
              <a:t>28</a:t>
            </a:r>
          </a:p>
        </p:txBody>
      </p:sp>
      <p:sp>
        <p:nvSpPr>
          <p:cNvPr id="240" name="Подпись 28"/>
          <p:cNvSpPr txBox="1"/>
          <p:nvPr/>
        </p:nvSpPr>
        <p:spPr>
          <a:xfrm>
            <a:off x="14276070" y="7754112"/>
            <a:ext cx="331698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важнейших наукоёмких технологий: 21 критическая и 7 сквозных</a:t>
            </a:r>
          </a:p>
        </p:txBody>
      </p:sp>
      <p:sp>
        <p:nvSpPr>
          <p:cNvPr id="203" name="Rectangle 28"/>
          <p:cNvSpPr/>
          <p:nvPr/>
        </p:nvSpPr>
        <p:spPr>
          <a:xfrm>
            <a:off x="1069330" y="9518904"/>
            <a:ext cx="16871653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sz="1400" b="0" dirty="0" err="1">
                <a:solidFill>
                  <a:srgbClr val="5E6B73"/>
                </a:solidFill>
                <a:latin typeface="Circe"/>
              </a:rPr>
              <a:t>Источник: Указ Президента РФ от 18.06.2024 № 529. Заголовки карточек — краткие названия направлений; жёлтым выделено направление, прямо относящееся к селу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