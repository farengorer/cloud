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3"/>
  </p:notesMasterIdLst>
  <p:sldIdLst>
    <p:sldId id="431" r:id="rId58"/>
  </p:sldIdLst>
  <p:sldSz cx="19010313" cy="10693400"/>
  <p:notesSz cx="14303375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F2A504"/>
    <a:srgbClr val="062D3F"/>
    <a:srgbClr val="F6DEDA"/>
    <a:srgbClr val="C6D7CD"/>
    <a:srgbClr val="F9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4660"/>
  </p:normalViewPr>
  <p:slideViewPr>
    <p:cSldViewPr>
      <p:cViewPr>
        <p:scale>
          <a:sx n="75" d="100"/>
          <a:sy n="75" d="100"/>
        </p:scale>
        <p:origin x="654" y="-132"/>
      </p:cViewPr>
      <p:guideLst>
        <p:guide orient="horz" pos="2888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102379" y="0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r">
              <a:defRPr sz="1000"/>
            </a:lvl1pPr>
          </a:lstStyle>
          <a:p>
            <a:fld id="{FF5CD594-AF33-4F8B-9903-DBEEF0A2BB36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2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588" tIns="37294" rIns="74588" bIns="3729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30815" y="4778401"/>
            <a:ext cx="11441745" cy="3908796"/>
          </a:xfrm>
          <a:prstGeom prst="rect">
            <a:avLst/>
          </a:prstGeom>
        </p:spPr>
        <p:txBody>
          <a:bodyPr vert="horz" lIns="74588" tIns="37294" rIns="74588" bIns="3729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45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102379" y="9430045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r">
              <a:defRPr sz="1000"/>
            </a:lvl1pPr>
          </a:lstStyle>
          <a:p>
            <a:fld id="{E0173A6D-C577-4C66-8BFA-040957011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перестроен по образцу слайда про Севастополь. Существующее положение Ноябрьска сравнивается со средними по России, которые использованы на слайде про Севастополь (структура занятости, структура ВРП и производительность по видам деятельности). Данные Ноябрьска взяты из прежнего слайда (значения существующего положения), производительность переведена из млн руб. в тыс. руб. Ось ВГП растянута до 70 процентов из-за доли добычи (64,3 процента). Шарики с численностью занятых, населения и валовой добавленной стоимостью оставлены с прежнего слайда (значения существующего положения), шарик с доходами бюджета убран. Средняя производительность (8 240 тыс. руб.) и ВГП на душу (4 410 тыс. руб.) рассчитаны как 453,5 млрд руб. на 55,0 тыс. занятых и на 102,9 тыс. жителей. Прогноз к 2035 году и приросты показателей со слайда убраны. Среднероссийская производительность по видам деятельности из слайда про Севастополь даёт взвешенное среднее около 1170 тыс. руб. при заявленных 1690 тыс. руб., расхождение стоит проверить.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 userDrawn="1"/>
        </p:nvSpPr>
        <p:spPr>
          <a:xfrm>
            <a:off x="6350" y="6350"/>
            <a:ext cx="18993805" cy="10679430"/>
          </a:xfrm>
          <a:custGeom>
            <a:avLst/>
            <a:gdLst/>
            <a:ahLst/>
            <a:cxnLst/>
            <a:rect l="l" t="t" r="r" b="b"/>
            <a:pathLst>
              <a:path w="18995390" h="10679430">
                <a:moveTo>
                  <a:pt x="18995301" y="0"/>
                </a:moveTo>
                <a:lnTo>
                  <a:pt x="0" y="0"/>
                </a:lnTo>
                <a:lnTo>
                  <a:pt x="0" y="10679303"/>
                </a:lnTo>
                <a:lnTo>
                  <a:pt x="18995301" y="10679303"/>
                </a:lnTo>
                <a:lnTo>
                  <a:pt x="18995301" y="0"/>
                </a:lnTo>
                <a:close/>
              </a:path>
            </a:pathLst>
          </a:custGeom>
          <a:solidFill>
            <a:srgbClr val="157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"/>
          <p:cNvGrpSpPr/>
          <p:nvPr userDrawn="1"/>
        </p:nvGrpSpPr>
        <p:grpSpPr>
          <a:xfrm>
            <a:off x="2136072" y="1074108"/>
            <a:ext cx="15532708" cy="8295005"/>
            <a:chOff x="2136250" y="1074105"/>
            <a:chExt cx="15534005" cy="8295005"/>
          </a:xfrm>
        </p:grpSpPr>
        <p:sp>
          <p:nvSpPr>
            <p:cNvPr id="34" name="object 4"/>
            <p:cNvSpPr/>
            <p:nvPr/>
          </p:nvSpPr>
          <p:spPr>
            <a:xfrm>
              <a:off x="2136250" y="1341007"/>
              <a:ext cx="15534005" cy="8028305"/>
            </a:xfrm>
            <a:custGeom>
              <a:avLst/>
              <a:gdLst/>
              <a:ahLst/>
              <a:cxnLst/>
              <a:rect l="l" t="t" r="r" b="b"/>
              <a:pathLst>
                <a:path w="15534005" h="8028305">
                  <a:moveTo>
                    <a:pt x="6037021" y="0"/>
                  </a:moveTo>
                  <a:lnTo>
                    <a:pt x="1512125" y="0"/>
                  </a:lnTo>
                  <a:lnTo>
                    <a:pt x="0" y="3409149"/>
                  </a:lnTo>
                  <a:lnTo>
                    <a:pt x="2207069" y="5963386"/>
                  </a:lnTo>
                  <a:lnTo>
                    <a:pt x="2241420" y="6001669"/>
                  </a:lnTo>
                  <a:lnTo>
                    <a:pt x="2277103" y="6038562"/>
                  </a:lnTo>
                  <a:lnTo>
                    <a:pt x="2314075" y="6074036"/>
                  </a:lnTo>
                  <a:lnTo>
                    <a:pt x="2352292" y="6108059"/>
                  </a:lnTo>
                  <a:lnTo>
                    <a:pt x="2391709" y="6140602"/>
                  </a:lnTo>
                  <a:lnTo>
                    <a:pt x="2432281" y="6171635"/>
                  </a:lnTo>
                  <a:lnTo>
                    <a:pt x="2473966" y="6201129"/>
                  </a:lnTo>
                  <a:lnTo>
                    <a:pt x="2516718" y="6229052"/>
                  </a:lnTo>
                  <a:lnTo>
                    <a:pt x="2560493" y="6255375"/>
                  </a:lnTo>
                  <a:lnTo>
                    <a:pt x="2605248" y="6280067"/>
                  </a:lnTo>
                  <a:lnTo>
                    <a:pt x="2650938" y="6303100"/>
                  </a:lnTo>
                  <a:lnTo>
                    <a:pt x="2697518" y="6324443"/>
                  </a:lnTo>
                  <a:lnTo>
                    <a:pt x="2744945" y="6344065"/>
                  </a:lnTo>
                  <a:lnTo>
                    <a:pt x="2793174" y="6361938"/>
                  </a:lnTo>
                  <a:lnTo>
                    <a:pt x="4352886" y="6906895"/>
                  </a:lnTo>
                  <a:lnTo>
                    <a:pt x="4401560" y="6924957"/>
                  </a:lnTo>
                  <a:lnTo>
                    <a:pt x="4449387" y="6944827"/>
                  </a:lnTo>
                  <a:lnTo>
                    <a:pt x="4496324" y="6966471"/>
                  </a:lnTo>
                  <a:lnTo>
                    <a:pt x="4542324" y="6989857"/>
                  </a:lnTo>
                  <a:lnTo>
                    <a:pt x="4587340" y="7014952"/>
                  </a:lnTo>
                  <a:lnTo>
                    <a:pt x="4631327" y="7041722"/>
                  </a:lnTo>
                  <a:lnTo>
                    <a:pt x="4674240" y="7070134"/>
                  </a:lnTo>
                  <a:lnTo>
                    <a:pt x="4716031" y="7100155"/>
                  </a:lnTo>
                  <a:lnTo>
                    <a:pt x="4756655" y="7131753"/>
                  </a:lnTo>
                  <a:lnTo>
                    <a:pt x="4796067" y="7164894"/>
                  </a:lnTo>
                  <a:lnTo>
                    <a:pt x="4834219" y="7199545"/>
                  </a:lnTo>
                  <a:lnTo>
                    <a:pt x="4871066" y="7235673"/>
                  </a:lnTo>
                  <a:lnTo>
                    <a:pt x="4906563" y="7273245"/>
                  </a:lnTo>
                  <a:lnTo>
                    <a:pt x="4940663" y="7312227"/>
                  </a:lnTo>
                  <a:lnTo>
                    <a:pt x="4973320" y="7352588"/>
                  </a:lnTo>
                  <a:lnTo>
                    <a:pt x="5498642" y="8028000"/>
                  </a:lnTo>
                  <a:lnTo>
                    <a:pt x="15533636" y="8028000"/>
                  </a:lnTo>
                  <a:lnTo>
                    <a:pt x="15533636" y="2749308"/>
                  </a:lnTo>
                  <a:lnTo>
                    <a:pt x="6490296" y="65824"/>
                  </a:lnTo>
                  <a:lnTo>
                    <a:pt x="6441058" y="52070"/>
                  </a:lnTo>
                  <a:lnTo>
                    <a:pt x="6391447" y="39913"/>
                  </a:lnTo>
                  <a:lnTo>
                    <a:pt x="6341502" y="29358"/>
                  </a:lnTo>
                  <a:lnTo>
                    <a:pt x="6291262" y="20411"/>
                  </a:lnTo>
                  <a:lnTo>
                    <a:pt x="6240768" y="13078"/>
                  </a:lnTo>
                  <a:lnTo>
                    <a:pt x="6190057" y="7365"/>
                  </a:lnTo>
                  <a:lnTo>
                    <a:pt x="6139170" y="3277"/>
                  </a:lnTo>
                  <a:lnTo>
                    <a:pt x="6088144" y="820"/>
                  </a:lnTo>
                  <a:lnTo>
                    <a:pt x="6037021" y="0"/>
                  </a:lnTo>
                  <a:close/>
                </a:path>
              </a:pathLst>
            </a:custGeom>
            <a:solidFill>
              <a:srgbClr val="3F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/>
            <p:cNvSpPr/>
            <p:nvPr/>
          </p:nvSpPr>
          <p:spPr>
            <a:xfrm>
              <a:off x="16883381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</p:grpSp>
      <p:pic>
        <p:nvPicPr>
          <p:cNvPr id="38" name="object 8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8290442" y="1328019"/>
            <a:ext cx="175841" cy="155067"/>
          </a:xfrm>
          <a:prstGeom prst="rect">
            <a:avLst/>
          </a:prstGeom>
        </p:spPr>
      </p:pic>
      <p:sp>
        <p:nvSpPr>
          <p:cNvPr id="39" name="object 9"/>
          <p:cNvSpPr/>
          <p:nvPr userDrawn="1"/>
        </p:nvSpPr>
        <p:spPr>
          <a:xfrm>
            <a:off x="17820282" y="1908839"/>
            <a:ext cx="191753" cy="205104"/>
          </a:xfrm>
          <a:custGeom>
            <a:avLst/>
            <a:gdLst/>
            <a:ahLst/>
            <a:cxnLst/>
            <a:rect l="l" t="t" r="r" b="b"/>
            <a:pathLst>
              <a:path w="191769" h="205105">
                <a:moveTo>
                  <a:pt x="134594" y="0"/>
                </a:moveTo>
                <a:lnTo>
                  <a:pt x="107111" y="10083"/>
                </a:lnTo>
                <a:lnTo>
                  <a:pt x="131279" y="75958"/>
                </a:lnTo>
                <a:lnTo>
                  <a:pt x="51663" y="105168"/>
                </a:lnTo>
                <a:lnTo>
                  <a:pt x="27495" y="39306"/>
                </a:lnTo>
                <a:lnTo>
                  <a:pt x="0" y="49390"/>
                </a:lnTo>
                <a:lnTo>
                  <a:pt x="57149" y="205079"/>
                </a:lnTo>
                <a:lnTo>
                  <a:pt x="84632" y="194995"/>
                </a:lnTo>
                <a:lnTo>
                  <a:pt x="60883" y="130301"/>
                </a:lnTo>
                <a:lnTo>
                  <a:pt x="140500" y="101079"/>
                </a:lnTo>
                <a:lnTo>
                  <a:pt x="164249" y="165773"/>
                </a:lnTo>
                <a:lnTo>
                  <a:pt x="191731" y="155689"/>
                </a:lnTo>
                <a:lnTo>
                  <a:pt x="134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10"/>
          <p:cNvGrpSpPr/>
          <p:nvPr userDrawn="1"/>
        </p:nvGrpSpPr>
        <p:grpSpPr>
          <a:xfrm>
            <a:off x="18244257" y="1009079"/>
            <a:ext cx="222232" cy="285115"/>
            <a:chOff x="18245780" y="1009076"/>
            <a:chExt cx="222250" cy="285115"/>
          </a:xfrm>
        </p:grpSpPr>
        <p:pic>
          <p:nvPicPr>
            <p:cNvPr id="4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5780" y="1009076"/>
              <a:ext cx="195656" cy="110337"/>
            </a:xfrm>
            <a:prstGeom prst="rect">
              <a:avLst/>
            </a:prstGeom>
          </p:spPr>
        </p:pic>
        <p:pic>
          <p:nvPicPr>
            <p:cNvPr id="4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7106" y="1157724"/>
              <a:ext cx="180898" cy="136232"/>
            </a:xfrm>
            <a:prstGeom prst="rect">
              <a:avLst/>
            </a:prstGeom>
          </p:spPr>
        </p:pic>
      </p:grpSp>
      <p:sp>
        <p:nvSpPr>
          <p:cNvPr id="43" name="object 13"/>
          <p:cNvSpPr/>
          <p:nvPr userDrawn="1"/>
        </p:nvSpPr>
        <p:spPr>
          <a:xfrm>
            <a:off x="17980252" y="1665020"/>
            <a:ext cx="342236" cy="314960"/>
          </a:xfrm>
          <a:custGeom>
            <a:avLst/>
            <a:gdLst/>
            <a:ahLst/>
            <a:cxnLst/>
            <a:rect l="l" t="t" r="r" b="b"/>
            <a:pathLst>
              <a:path w="342265" h="314960">
                <a:moveTo>
                  <a:pt x="176580" y="314921"/>
                </a:moveTo>
                <a:lnTo>
                  <a:pt x="166763" y="267843"/>
                </a:lnTo>
                <a:lnTo>
                  <a:pt x="155105" y="211848"/>
                </a:lnTo>
                <a:lnTo>
                  <a:pt x="139687" y="137909"/>
                </a:lnTo>
                <a:lnTo>
                  <a:pt x="139687" y="267843"/>
                </a:lnTo>
                <a:lnTo>
                  <a:pt x="88138" y="242697"/>
                </a:lnTo>
                <a:lnTo>
                  <a:pt x="104648" y="229857"/>
                </a:lnTo>
                <a:lnTo>
                  <a:pt x="127812" y="211848"/>
                </a:lnTo>
                <a:lnTo>
                  <a:pt x="139687" y="267843"/>
                </a:lnTo>
                <a:lnTo>
                  <a:pt x="139687" y="137909"/>
                </a:lnTo>
                <a:lnTo>
                  <a:pt x="136893" y="124498"/>
                </a:lnTo>
                <a:lnTo>
                  <a:pt x="113169" y="142938"/>
                </a:lnTo>
                <a:lnTo>
                  <a:pt x="121754" y="183286"/>
                </a:lnTo>
                <a:lnTo>
                  <a:pt x="61861" y="229857"/>
                </a:lnTo>
                <a:lnTo>
                  <a:pt x="24714" y="211734"/>
                </a:lnTo>
                <a:lnTo>
                  <a:pt x="0" y="230949"/>
                </a:lnTo>
                <a:lnTo>
                  <a:pt x="176580" y="314921"/>
                </a:lnTo>
                <a:close/>
              </a:path>
              <a:path w="342265" h="314960">
                <a:moveTo>
                  <a:pt x="341782" y="135039"/>
                </a:moveTo>
                <a:lnTo>
                  <a:pt x="272897" y="56362"/>
                </a:lnTo>
                <a:lnTo>
                  <a:pt x="259803" y="23876"/>
                </a:lnTo>
                <a:lnTo>
                  <a:pt x="262445" y="15557"/>
                </a:lnTo>
                <a:lnTo>
                  <a:pt x="265010" y="10477"/>
                </a:lnTo>
                <a:lnTo>
                  <a:pt x="235331" y="0"/>
                </a:lnTo>
                <a:lnTo>
                  <a:pt x="232435" y="7048"/>
                </a:lnTo>
                <a:lnTo>
                  <a:pt x="230466" y="14109"/>
                </a:lnTo>
                <a:lnTo>
                  <a:pt x="229387" y="21107"/>
                </a:lnTo>
                <a:lnTo>
                  <a:pt x="229196" y="28016"/>
                </a:lnTo>
                <a:lnTo>
                  <a:pt x="231571" y="41402"/>
                </a:lnTo>
                <a:lnTo>
                  <a:pt x="236639" y="54089"/>
                </a:lnTo>
                <a:lnTo>
                  <a:pt x="243598" y="65760"/>
                </a:lnTo>
                <a:lnTo>
                  <a:pt x="251625" y="76111"/>
                </a:lnTo>
                <a:lnTo>
                  <a:pt x="304952" y="137985"/>
                </a:lnTo>
                <a:lnTo>
                  <a:pt x="275475" y="173558"/>
                </a:lnTo>
                <a:lnTo>
                  <a:pt x="168148" y="84658"/>
                </a:lnTo>
                <a:lnTo>
                  <a:pt x="149491" y="107188"/>
                </a:lnTo>
                <a:lnTo>
                  <a:pt x="277215" y="212979"/>
                </a:lnTo>
                <a:lnTo>
                  <a:pt x="341782" y="135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14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7624729" y="1961574"/>
            <a:ext cx="172947" cy="180428"/>
          </a:xfrm>
          <a:prstGeom prst="rect">
            <a:avLst/>
          </a:prstGeom>
        </p:spPr>
      </p:pic>
      <p:sp>
        <p:nvSpPr>
          <p:cNvPr id="45" name="object 15"/>
          <p:cNvSpPr/>
          <p:nvPr userDrawn="1"/>
        </p:nvSpPr>
        <p:spPr>
          <a:xfrm>
            <a:off x="18233517" y="1506520"/>
            <a:ext cx="205723" cy="191135"/>
          </a:xfrm>
          <a:custGeom>
            <a:avLst/>
            <a:gdLst/>
            <a:ahLst/>
            <a:cxnLst/>
            <a:rect l="l" t="t" r="r" b="b"/>
            <a:pathLst>
              <a:path w="205740" h="191135">
                <a:moveTo>
                  <a:pt x="50038" y="0"/>
                </a:moveTo>
                <a:lnTo>
                  <a:pt x="39738" y="27152"/>
                </a:lnTo>
                <a:lnTo>
                  <a:pt x="169799" y="76466"/>
                </a:lnTo>
                <a:lnTo>
                  <a:pt x="140449" y="153885"/>
                </a:lnTo>
                <a:lnTo>
                  <a:pt x="10388" y="104571"/>
                </a:lnTo>
                <a:lnTo>
                  <a:pt x="0" y="131940"/>
                </a:lnTo>
                <a:lnTo>
                  <a:pt x="155079" y="190754"/>
                </a:lnTo>
                <a:lnTo>
                  <a:pt x="205117" y="58813"/>
                </a:lnTo>
                <a:lnTo>
                  <a:pt x="500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 userDrawn="1"/>
        </p:nvSpPr>
        <p:spPr>
          <a:xfrm>
            <a:off x="17019403" y="752395"/>
            <a:ext cx="226041" cy="232410"/>
          </a:xfrm>
          <a:custGeom>
            <a:avLst/>
            <a:gdLst/>
            <a:ahLst/>
            <a:cxnLst/>
            <a:rect l="l" t="t" r="r" b="b"/>
            <a:pathLst>
              <a:path w="226059" h="232409">
                <a:moveTo>
                  <a:pt x="99987" y="0"/>
                </a:moveTo>
                <a:lnTo>
                  <a:pt x="98818" y="167982"/>
                </a:lnTo>
                <a:lnTo>
                  <a:pt x="19659" y="95186"/>
                </a:lnTo>
                <a:lnTo>
                  <a:pt x="0" y="116560"/>
                </a:lnTo>
                <a:lnTo>
                  <a:pt x="125996" y="232409"/>
                </a:lnTo>
                <a:lnTo>
                  <a:pt x="126999" y="64604"/>
                </a:lnTo>
                <a:lnTo>
                  <a:pt x="206159" y="137388"/>
                </a:lnTo>
                <a:lnTo>
                  <a:pt x="225971" y="115836"/>
                </a:lnTo>
                <a:lnTo>
                  <a:pt x="9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17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706690" y="540799"/>
            <a:ext cx="183246" cy="191198"/>
          </a:xfrm>
          <a:prstGeom prst="rect">
            <a:avLst/>
          </a:prstGeom>
        </p:spPr>
      </p:pic>
      <p:sp>
        <p:nvSpPr>
          <p:cNvPr id="48" name="object 18"/>
          <p:cNvSpPr/>
          <p:nvPr userDrawn="1"/>
        </p:nvSpPr>
        <p:spPr>
          <a:xfrm>
            <a:off x="17185680" y="565150"/>
            <a:ext cx="365095" cy="277495"/>
          </a:xfrm>
          <a:custGeom>
            <a:avLst/>
            <a:gdLst/>
            <a:ahLst/>
            <a:cxnLst/>
            <a:rect l="l" t="t" r="r" b="b"/>
            <a:pathLst>
              <a:path w="365125" h="277494">
                <a:moveTo>
                  <a:pt x="209638" y="200850"/>
                </a:moveTo>
                <a:lnTo>
                  <a:pt x="121373" y="60439"/>
                </a:lnTo>
                <a:lnTo>
                  <a:pt x="96583" y="76022"/>
                </a:lnTo>
                <a:lnTo>
                  <a:pt x="133261" y="134366"/>
                </a:lnTo>
                <a:lnTo>
                  <a:pt x="61455" y="179501"/>
                </a:lnTo>
                <a:lnTo>
                  <a:pt x="24790" y="121158"/>
                </a:lnTo>
                <a:lnTo>
                  <a:pt x="0" y="136740"/>
                </a:lnTo>
                <a:lnTo>
                  <a:pt x="88265" y="277152"/>
                </a:lnTo>
                <a:lnTo>
                  <a:pt x="113055" y="261569"/>
                </a:lnTo>
                <a:lnTo>
                  <a:pt x="75704" y="202158"/>
                </a:lnTo>
                <a:lnTo>
                  <a:pt x="147510" y="157022"/>
                </a:lnTo>
                <a:lnTo>
                  <a:pt x="184848" y="216433"/>
                </a:lnTo>
                <a:lnTo>
                  <a:pt x="209638" y="200850"/>
                </a:lnTo>
                <a:close/>
              </a:path>
              <a:path w="365125" h="277494">
                <a:moveTo>
                  <a:pt x="364934" y="126530"/>
                </a:moveTo>
                <a:lnTo>
                  <a:pt x="339445" y="112725"/>
                </a:lnTo>
                <a:lnTo>
                  <a:pt x="332193" y="123850"/>
                </a:lnTo>
                <a:lnTo>
                  <a:pt x="323176" y="132816"/>
                </a:lnTo>
                <a:lnTo>
                  <a:pt x="312559" y="139496"/>
                </a:lnTo>
                <a:lnTo>
                  <a:pt x="300520" y="143713"/>
                </a:lnTo>
                <a:lnTo>
                  <a:pt x="288569" y="145110"/>
                </a:lnTo>
                <a:lnTo>
                  <a:pt x="276961" y="143916"/>
                </a:lnTo>
                <a:lnTo>
                  <a:pt x="241465" y="119773"/>
                </a:lnTo>
                <a:lnTo>
                  <a:pt x="231736" y="75946"/>
                </a:lnTo>
                <a:lnTo>
                  <a:pt x="239102" y="55283"/>
                </a:lnTo>
                <a:lnTo>
                  <a:pt x="253669" y="39357"/>
                </a:lnTo>
                <a:lnTo>
                  <a:pt x="274307" y="30060"/>
                </a:lnTo>
                <a:lnTo>
                  <a:pt x="287096" y="28651"/>
                </a:lnTo>
                <a:lnTo>
                  <a:pt x="299669" y="30162"/>
                </a:lnTo>
                <a:lnTo>
                  <a:pt x="311454" y="34391"/>
                </a:lnTo>
                <a:lnTo>
                  <a:pt x="321906" y="41122"/>
                </a:lnTo>
                <a:lnTo>
                  <a:pt x="337705" y="15189"/>
                </a:lnTo>
                <a:lnTo>
                  <a:pt x="321056" y="5829"/>
                </a:lnTo>
                <a:lnTo>
                  <a:pt x="304190" y="889"/>
                </a:lnTo>
                <a:lnTo>
                  <a:pt x="286651" y="0"/>
                </a:lnTo>
                <a:lnTo>
                  <a:pt x="268008" y="2768"/>
                </a:lnTo>
                <a:lnTo>
                  <a:pt x="235699" y="17246"/>
                </a:lnTo>
                <a:lnTo>
                  <a:pt x="213169" y="41541"/>
                </a:lnTo>
                <a:lnTo>
                  <a:pt x="201815" y="72351"/>
                </a:lnTo>
                <a:lnTo>
                  <a:pt x="203022" y="106362"/>
                </a:lnTo>
                <a:lnTo>
                  <a:pt x="216877" y="137985"/>
                </a:lnTo>
                <a:lnTo>
                  <a:pt x="240449" y="160667"/>
                </a:lnTo>
                <a:lnTo>
                  <a:pt x="271259" y="172351"/>
                </a:lnTo>
                <a:lnTo>
                  <a:pt x="306806" y="171005"/>
                </a:lnTo>
                <a:lnTo>
                  <a:pt x="325843" y="164642"/>
                </a:lnTo>
                <a:lnTo>
                  <a:pt x="341782" y="155079"/>
                </a:lnTo>
                <a:lnTo>
                  <a:pt x="354761" y="142367"/>
                </a:lnTo>
                <a:lnTo>
                  <a:pt x="364934" y="12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 userDrawn="1"/>
        </p:nvSpPr>
        <p:spPr>
          <a:xfrm>
            <a:off x="17917053" y="583999"/>
            <a:ext cx="140959" cy="184150"/>
          </a:xfrm>
          <a:custGeom>
            <a:avLst/>
            <a:gdLst/>
            <a:ahLst/>
            <a:cxnLst/>
            <a:rect l="l" t="t" r="r" b="b"/>
            <a:pathLst>
              <a:path w="140969" h="184150">
                <a:moveTo>
                  <a:pt x="23571" y="0"/>
                </a:moveTo>
                <a:lnTo>
                  <a:pt x="12369" y="24549"/>
                </a:lnTo>
                <a:lnTo>
                  <a:pt x="57619" y="45186"/>
                </a:lnTo>
                <a:lnTo>
                  <a:pt x="0" y="171526"/>
                </a:lnTo>
                <a:lnTo>
                  <a:pt x="26644" y="183680"/>
                </a:lnTo>
                <a:lnTo>
                  <a:pt x="84264" y="57340"/>
                </a:lnTo>
                <a:lnTo>
                  <a:pt x="129539" y="77990"/>
                </a:lnTo>
                <a:lnTo>
                  <a:pt x="140741" y="53428"/>
                </a:lnTo>
                <a:lnTo>
                  <a:pt x="23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 userDrawn="1"/>
        </p:nvSpPr>
        <p:spPr>
          <a:xfrm>
            <a:off x="17557367" y="539999"/>
            <a:ext cx="130164" cy="170180"/>
          </a:xfrm>
          <a:custGeom>
            <a:avLst/>
            <a:gdLst/>
            <a:ahLst/>
            <a:cxnLst/>
            <a:rect l="l" t="t" r="r" b="b"/>
            <a:pathLst>
              <a:path w="130175" h="170179">
                <a:moveTo>
                  <a:pt x="128549" y="0"/>
                </a:moveTo>
                <a:lnTo>
                  <a:pt x="0" y="7493"/>
                </a:lnTo>
                <a:lnTo>
                  <a:pt x="1574" y="34429"/>
                </a:lnTo>
                <a:lnTo>
                  <a:pt x="51206" y="31546"/>
                </a:lnTo>
                <a:lnTo>
                  <a:pt x="59283" y="170167"/>
                </a:lnTo>
                <a:lnTo>
                  <a:pt x="88518" y="168465"/>
                </a:lnTo>
                <a:lnTo>
                  <a:pt x="80441" y="29845"/>
                </a:lnTo>
                <a:lnTo>
                  <a:pt x="130124" y="26949"/>
                </a:lnTo>
                <a:lnTo>
                  <a:pt x="128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1"/>
          <p:cNvSpPr/>
          <p:nvPr userDrawn="1"/>
        </p:nvSpPr>
        <p:spPr>
          <a:xfrm>
            <a:off x="18022198" y="654837"/>
            <a:ext cx="299060" cy="286385"/>
          </a:xfrm>
          <a:custGeom>
            <a:avLst/>
            <a:gdLst/>
            <a:ahLst/>
            <a:cxnLst/>
            <a:rect l="l" t="t" r="r" b="b"/>
            <a:pathLst>
              <a:path w="299084" h="286384">
                <a:moveTo>
                  <a:pt x="195567" y="98145"/>
                </a:moveTo>
                <a:lnTo>
                  <a:pt x="170484" y="79400"/>
                </a:lnTo>
                <a:lnTo>
                  <a:pt x="82880" y="120294"/>
                </a:lnTo>
                <a:lnTo>
                  <a:pt x="84937" y="100215"/>
                </a:lnTo>
                <a:lnTo>
                  <a:pt x="91859" y="20574"/>
                </a:lnTo>
                <a:lnTo>
                  <a:pt x="64350" y="0"/>
                </a:lnTo>
                <a:lnTo>
                  <a:pt x="53962" y="133807"/>
                </a:lnTo>
                <a:lnTo>
                  <a:pt x="0" y="158978"/>
                </a:lnTo>
                <a:lnTo>
                  <a:pt x="24650" y="177419"/>
                </a:lnTo>
                <a:lnTo>
                  <a:pt x="195567" y="98145"/>
                </a:lnTo>
                <a:close/>
              </a:path>
              <a:path w="299084" h="286384">
                <a:moveTo>
                  <a:pt x="299021" y="218668"/>
                </a:moveTo>
                <a:lnTo>
                  <a:pt x="216801" y="119570"/>
                </a:lnTo>
                <a:lnTo>
                  <a:pt x="196024" y="136804"/>
                </a:lnTo>
                <a:lnTo>
                  <a:pt x="227774" y="175069"/>
                </a:lnTo>
                <a:lnTo>
                  <a:pt x="120904" y="263740"/>
                </a:lnTo>
                <a:lnTo>
                  <a:pt x="139598" y="286270"/>
                </a:lnTo>
                <a:lnTo>
                  <a:pt x="246468" y="197612"/>
                </a:lnTo>
                <a:lnTo>
                  <a:pt x="278244" y="235902"/>
                </a:lnTo>
                <a:lnTo>
                  <a:pt x="299021" y="218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2"/>
          <p:cNvSpPr/>
          <p:nvPr userDrawn="1"/>
        </p:nvSpPr>
        <p:spPr>
          <a:xfrm>
            <a:off x="17910826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3"/>
          <p:cNvSpPr/>
          <p:nvPr userDrawn="1"/>
        </p:nvSpPr>
        <p:spPr>
          <a:xfrm>
            <a:off x="17654144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4"/>
          <p:cNvSpPr/>
          <p:nvPr userDrawn="1"/>
        </p:nvSpPr>
        <p:spPr>
          <a:xfrm>
            <a:off x="17397473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5"/>
          <p:cNvSpPr txBox="1">
            <a:spLocks noGrp="1"/>
          </p:cNvSpPr>
          <p:nvPr>
            <p:ph type="title"/>
          </p:nvPr>
        </p:nvSpPr>
        <p:spPr>
          <a:xfrm>
            <a:off x="2177983" y="4617443"/>
            <a:ext cx="5878974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-11" dirty="0">
                <a:solidFill>
                  <a:srgbClr val="FFFFFF"/>
                </a:solidFill>
              </a:rPr>
              <a:t>ЗАГОЛОВОК</a:t>
            </a:r>
            <a:endParaRPr sz="6100"/>
          </a:p>
          <a:p>
            <a:pPr marL="12700">
              <a:lnSpc>
                <a:spcPct val="100000"/>
              </a:lnSpc>
            </a:pPr>
            <a:r>
              <a:rPr sz="6100" spc="-11" dirty="0">
                <a:solidFill>
                  <a:srgbClr val="FFFFFF"/>
                </a:solidFill>
              </a:rPr>
              <a:t>ПРЕЗЕНТАЦИИ</a:t>
            </a:r>
            <a:endParaRPr sz="6100"/>
          </a:p>
        </p:txBody>
      </p:sp>
      <p:sp>
        <p:nvSpPr>
          <p:cNvPr id="59" name="Текст 58"/>
          <p:cNvSpPr>
            <a:spLocks noGrp="1"/>
          </p:cNvSpPr>
          <p:nvPr>
            <p:ph type="body" sz="quarter" idx="10" hasCustomPrompt="1"/>
          </p:nvPr>
        </p:nvSpPr>
        <p:spPr>
          <a:xfrm>
            <a:off x="2143525" y="8423722"/>
            <a:ext cx="2180463" cy="732978"/>
          </a:xfrm>
        </p:spPr>
        <p:txBody>
          <a:bodyPr wrap="none">
            <a:no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 sz="4800" b="0"/>
            </a:lvl1pPr>
            <a:lvl3pPr marL="914446" marR="0" indent="0" defTabSz="914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b="1" spc="-11" dirty="0">
                <a:solidFill>
                  <a:srgbClr val="FFFFFF"/>
                </a:solidFill>
                <a:latin typeface="Circe Bold"/>
                <a:cs typeface="Circe Bold"/>
              </a:rPr>
              <a:t>Подзаголовок</a:t>
            </a:r>
            <a:endParaRPr lang="ru-RU" sz="1800" dirty="0">
              <a:latin typeface="Circe Bold"/>
              <a:cs typeface="Circe 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30942"/>
          </a:xfrm>
        </p:spPr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3507" y="9944862"/>
            <a:ext cx="6083300" cy="5346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516" y="9944862"/>
            <a:ext cx="4372372" cy="5346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221F-0849-457D-A12B-BB39F50736C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2"/>
          <p:cNvSpPr/>
          <p:nvPr userDrawn="1"/>
        </p:nvSpPr>
        <p:spPr>
          <a:xfrm>
            <a:off x="2" y="0"/>
            <a:ext cx="12491312" cy="10692130"/>
          </a:xfrm>
          <a:custGeom>
            <a:avLst/>
            <a:gdLst/>
            <a:ahLst/>
            <a:cxnLst/>
            <a:rect l="l" t="t" r="r" b="b"/>
            <a:pathLst>
              <a:path w="12492355" h="10692130">
                <a:moveTo>
                  <a:pt x="12491999" y="0"/>
                </a:moveTo>
                <a:lnTo>
                  <a:pt x="0" y="0"/>
                </a:lnTo>
                <a:lnTo>
                  <a:pt x="0" y="10692003"/>
                </a:lnTo>
                <a:lnTo>
                  <a:pt x="12491999" y="10692003"/>
                </a:lnTo>
                <a:lnTo>
                  <a:pt x="1249199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2781484" y="546100"/>
            <a:ext cx="5790717" cy="630942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2781484" y="1993901"/>
            <a:ext cx="5790717" cy="14773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2136072" y="1341008"/>
            <a:ext cx="15532708" cy="8028305"/>
          </a:xfrm>
          <a:custGeom>
            <a:avLst/>
            <a:gdLst/>
            <a:ahLst/>
            <a:cxnLst/>
            <a:rect l="l" t="t" r="r" b="b"/>
            <a:pathLst>
              <a:path w="15534005" h="8028305">
                <a:moveTo>
                  <a:pt x="6037021" y="0"/>
                </a:moveTo>
                <a:lnTo>
                  <a:pt x="1512125" y="0"/>
                </a:lnTo>
                <a:lnTo>
                  <a:pt x="0" y="3409149"/>
                </a:lnTo>
                <a:lnTo>
                  <a:pt x="2207069" y="5963386"/>
                </a:lnTo>
                <a:lnTo>
                  <a:pt x="2241420" y="6001669"/>
                </a:lnTo>
                <a:lnTo>
                  <a:pt x="2277103" y="6038562"/>
                </a:lnTo>
                <a:lnTo>
                  <a:pt x="2314075" y="6074036"/>
                </a:lnTo>
                <a:lnTo>
                  <a:pt x="2352292" y="6108059"/>
                </a:lnTo>
                <a:lnTo>
                  <a:pt x="2391709" y="6140602"/>
                </a:lnTo>
                <a:lnTo>
                  <a:pt x="2432281" y="6171635"/>
                </a:lnTo>
                <a:lnTo>
                  <a:pt x="2473966" y="6201129"/>
                </a:lnTo>
                <a:lnTo>
                  <a:pt x="2516718" y="6229052"/>
                </a:lnTo>
                <a:lnTo>
                  <a:pt x="2560493" y="6255375"/>
                </a:lnTo>
                <a:lnTo>
                  <a:pt x="2605248" y="6280067"/>
                </a:lnTo>
                <a:lnTo>
                  <a:pt x="2650938" y="6303100"/>
                </a:lnTo>
                <a:lnTo>
                  <a:pt x="2697518" y="6324443"/>
                </a:lnTo>
                <a:lnTo>
                  <a:pt x="2744945" y="6344065"/>
                </a:lnTo>
                <a:lnTo>
                  <a:pt x="2793174" y="6361938"/>
                </a:lnTo>
                <a:lnTo>
                  <a:pt x="4352886" y="6906895"/>
                </a:lnTo>
                <a:lnTo>
                  <a:pt x="4401560" y="6924957"/>
                </a:lnTo>
                <a:lnTo>
                  <a:pt x="4449387" y="6944827"/>
                </a:lnTo>
                <a:lnTo>
                  <a:pt x="4496324" y="6966471"/>
                </a:lnTo>
                <a:lnTo>
                  <a:pt x="4542324" y="6989857"/>
                </a:lnTo>
                <a:lnTo>
                  <a:pt x="4587340" y="7014952"/>
                </a:lnTo>
                <a:lnTo>
                  <a:pt x="4631327" y="7041722"/>
                </a:lnTo>
                <a:lnTo>
                  <a:pt x="4674240" y="7070134"/>
                </a:lnTo>
                <a:lnTo>
                  <a:pt x="4716031" y="7100155"/>
                </a:lnTo>
                <a:lnTo>
                  <a:pt x="4756655" y="7131753"/>
                </a:lnTo>
                <a:lnTo>
                  <a:pt x="4796067" y="7164894"/>
                </a:lnTo>
                <a:lnTo>
                  <a:pt x="4834219" y="7199545"/>
                </a:lnTo>
                <a:lnTo>
                  <a:pt x="4871066" y="7235673"/>
                </a:lnTo>
                <a:lnTo>
                  <a:pt x="4906563" y="7273245"/>
                </a:lnTo>
                <a:lnTo>
                  <a:pt x="4940663" y="7312227"/>
                </a:lnTo>
                <a:lnTo>
                  <a:pt x="4973320" y="7352588"/>
                </a:lnTo>
                <a:lnTo>
                  <a:pt x="5498642" y="8028000"/>
                </a:lnTo>
                <a:lnTo>
                  <a:pt x="15533636" y="8028000"/>
                </a:lnTo>
                <a:lnTo>
                  <a:pt x="15533636" y="2749308"/>
                </a:lnTo>
                <a:lnTo>
                  <a:pt x="6490296" y="65824"/>
                </a:lnTo>
                <a:lnTo>
                  <a:pt x="6441058" y="52070"/>
                </a:lnTo>
                <a:lnTo>
                  <a:pt x="6391447" y="39913"/>
                </a:lnTo>
                <a:lnTo>
                  <a:pt x="6341502" y="29358"/>
                </a:lnTo>
                <a:lnTo>
                  <a:pt x="6291262" y="20411"/>
                </a:lnTo>
                <a:lnTo>
                  <a:pt x="6240768" y="13078"/>
                </a:lnTo>
                <a:lnTo>
                  <a:pt x="6190057" y="7365"/>
                </a:lnTo>
                <a:lnTo>
                  <a:pt x="6139170" y="3277"/>
                </a:lnTo>
                <a:lnTo>
                  <a:pt x="6088144" y="820"/>
                </a:lnTo>
                <a:lnTo>
                  <a:pt x="6037021" y="0"/>
                </a:lnTo>
                <a:close/>
              </a:path>
            </a:pathLst>
          </a:custGeom>
          <a:solidFill>
            <a:srgbClr val="3F9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0563918" y="6658024"/>
            <a:ext cx="6014218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45" dirty="0">
                <a:solidFill>
                  <a:srgbClr val="FFFFFF"/>
                </a:solidFill>
              </a:rPr>
              <a:t>ШМУТЦ-</a:t>
            </a:r>
            <a:r>
              <a:rPr sz="6100" spc="-20" dirty="0">
                <a:solidFill>
                  <a:srgbClr val="FFFFFF"/>
                </a:solidFill>
              </a:rPr>
              <a:t>ТИТУЛ</a:t>
            </a:r>
            <a:endParaRPr sz="6100" dirty="0"/>
          </a:p>
        </p:txBody>
      </p:sp>
      <p:grpSp>
        <p:nvGrpSpPr>
          <p:cNvPr id="6" name="object 4"/>
          <p:cNvGrpSpPr/>
          <p:nvPr userDrawn="1"/>
        </p:nvGrpSpPr>
        <p:grpSpPr>
          <a:xfrm>
            <a:off x="16870416" y="540002"/>
            <a:ext cx="1596256" cy="1602105"/>
            <a:chOff x="16871822" y="539999"/>
            <a:chExt cx="1596390" cy="1602105"/>
          </a:xfrm>
        </p:grpSpPr>
        <p:sp>
          <p:nvSpPr>
            <p:cNvPr id="7" name="object 5"/>
            <p:cNvSpPr/>
            <p:nvPr/>
          </p:nvSpPr>
          <p:spPr>
            <a:xfrm>
              <a:off x="16883380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7821770" y="1665020"/>
              <a:ext cx="502284" cy="448945"/>
            </a:xfrm>
            <a:custGeom>
              <a:avLst/>
              <a:gdLst/>
              <a:ahLst/>
              <a:cxnLst/>
              <a:rect l="l" t="t" r="r" b="b"/>
              <a:pathLst>
                <a:path w="502284" h="448944">
                  <a:moveTo>
                    <a:pt x="191731" y="399516"/>
                  </a:moveTo>
                  <a:lnTo>
                    <a:pt x="134594" y="243827"/>
                  </a:lnTo>
                  <a:lnTo>
                    <a:pt x="107111" y="253911"/>
                  </a:lnTo>
                  <a:lnTo>
                    <a:pt x="131279" y="319786"/>
                  </a:lnTo>
                  <a:lnTo>
                    <a:pt x="51663" y="348996"/>
                  </a:lnTo>
                  <a:lnTo>
                    <a:pt x="27495" y="283133"/>
                  </a:lnTo>
                  <a:lnTo>
                    <a:pt x="0" y="293217"/>
                  </a:lnTo>
                  <a:lnTo>
                    <a:pt x="57150" y="448906"/>
                  </a:lnTo>
                  <a:lnTo>
                    <a:pt x="84632" y="438823"/>
                  </a:lnTo>
                  <a:lnTo>
                    <a:pt x="60883" y="374129"/>
                  </a:lnTo>
                  <a:lnTo>
                    <a:pt x="140500" y="344906"/>
                  </a:lnTo>
                  <a:lnTo>
                    <a:pt x="164249" y="409600"/>
                  </a:lnTo>
                  <a:lnTo>
                    <a:pt x="191731" y="399516"/>
                  </a:lnTo>
                  <a:close/>
                </a:path>
                <a:path w="502284" h="448944">
                  <a:moveTo>
                    <a:pt x="336562" y="314921"/>
                  </a:moveTo>
                  <a:lnTo>
                    <a:pt x="326745" y="267843"/>
                  </a:lnTo>
                  <a:lnTo>
                    <a:pt x="315087" y="211848"/>
                  </a:lnTo>
                  <a:lnTo>
                    <a:pt x="299669" y="137909"/>
                  </a:lnTo>
                  <a:lnTo>
                    <a:pt x="299669" y="267843"/>
                  </a:lnTo>
                  <a:lnTo>
                    <a:pt x="248119" y="242697"/>
                  </a:lnTo>
                  <a:lnTo>
                    <a:pt x="264629" y="229857"/>
                  </a:lnTo>
                  <a:lnTo>
                    <a:pt x="287794" y="211848"/>
                  </a:lnTo>
                  <a:lnTo>
                    <a:pt x="299669" y="267843"/>
                  </a:lnTo>
                  <a:lnTo>
                    <a:pt x="299669" y="137909"/>
                  </a:lnTo>
                  <a:lnTo>
                    <a:pt x="296875" y="124498"/>
                  </a:lnTo>
                  <a:lnTo>
                    <a:pt x="273151" y="142938"/>
                  </a:lnTo>
                  <a:lnTo>
                    <a:pt x="281736" y="183286"/>
                  </a:lnTo>
                  <a:lnTo>
                    <a:pt x="221843" y="229857"/>
                  </a:lnTo>
                  <a:lnTo>
                    <a:pt x="184696" y="211734"/>
                  </a:lnTo>
                  <a:lnTo>
                    <a:pt x="159981" y="230949"/>
                  </a:lnTo>
                  <a:lnTo>
                    <a:pt x="336562" y="314921"/>
                  </a:lnTo>
                  <a:close/>
                </a:path>
                <a:path w="502284" h="448944">
                  <a:moveTo>
                    <a:pt x="501764" y="135039"/>
                  </a:moveTo>
                  <a:lnTo>
                    <a:pt x="432879" y="56362"/>
                  </a:lnTo>
                  <a:lnTo>
                    <a:pt x="419785" y="23876"/>
                  </a:lnTo>
                  <a:lnTo>
                    <a:pt x="422427" y="15557"/>
                  </a:lnTo>
                  <a:lnTo>
                    <a:pt x="424992" y="10477"/>
                  </a:lnTo>
                  <a:lnTo>
                    <a:pt x="395312" y="0"/>
                  </a:lnTo>
                  <a:lnTo>
                    <a:pt x="392417" y="7048"/>
                  </a:lnTo>
                  <a:lnTo>
                    <a:pt x="390448" y="14109"/>
                  </a:lnTo>
                  <a:lnTo>
                    <a:pt x="389369" y="21107"/>
                  </a:lnTo>
                  <a:lnTo>
                    <a:pt x="389178" y="28016"/>
                  </a:lnTo>
                  <a:lnTo>
                    <a:pt x="391553" y="41402"/>
                  </a:lnTo>
                  <a:lnTo>
                    <a:pt x="396621" y="54089"/>
                  </a:lnTo>
                  <a:lnTo>
                    <a:pt x="403580" y="65760"/>
                  </a:lnTo>
                  <a:lnTo>
                    <a:pt x="411607" y="76111"/>
                  </a:lnTo>
                  <a:lnTo>
                    <a:pt x="464934" y="137985"/>
                  </a:lnTo>
                  <a:lnTo>
                    <a:pt x="435457" y="173558"/>
                  </a:lnTo>
                  <a:lnTo>
                    <a:pt x="328129" y="84658"/>
                  </a:lnTo>
                  <a:lnTo>
                    <a:pt x="309473" y="107188"/>
                  </a:lnTo>
                  <a:lnTo>
                    <a:pt x="437197" y="212979"/>
                  </a:lnTo>
                  <a:lnTo>
                    <a:pt x="501764" y="135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6197" y="1961574"/>
              <a:ext cx="172961" cy="180428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1968" y="1328017"/>
              <a:ext cx="175856" cy="155067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45781" y="1009076"/>
              <a:ext cx="195656" cy="110337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7107" y="1157724"/>
              <a:ext cx="180898" cy="136232"/>
            </a:xfrm>
            <a:prstGeom prst="rect">
              <a:avLst/>
            </a:prstGeom>
          </p:spPr>
        </p:pic>
        <p:sp>
          <p:nvSpPr>
            <p:cNvPr id="15" name="object 13"/>
            <p:cNvSpPr/>
            <p:nvPr/>
          </p:nvSpPr>
          <p:spPr>
            <a:xfrm>
              <a:off x="17020820" y="752398"/>
              <a:ext cx="1419860" cy="944880"/>
            </a:xfrm>
            <a:custGeom>
              <a:avLst/>
              <a:gdLst/>
              <a:ahLst/>
              <a:cxnLst/>
              <a:rect l="l" t="t" r="r" b="b"/>
              <a:pathLst>
                <a:path w="1419859" h="944880">
                  <a:moveTo>
                    <a:pt x="225971" y="115836"/>
                  </a:moveTo>
                  <a:lnTo>
                    <a:pt x="99987" y="0"/>
                  </a:lnTo>
                  <a:lnTo>
                    <a:pt x="98818" y="167982"/>
                  </a:lnTo>
                  <a:lnTo>
                    <a:pt x="19659" y="95186"/>
                  </a:lnTo>
                  <a:lnTo>
                    <a:pt x="0" y="116560"/>
                  </a:lnTo>
                  <a:lnTo>
                    <a:pt x="125996" y="232410"/>
                  </a:lnTo>
                  <a:lnTo>
                    <a:pt x="127000" y="64604"/>
                  </a:lnTo>
                  <a:lnTo>
                    <a:pt x="206159" y="137388"/>
                  </a:lnTo>
                  <a:lnTo>
                    <a:pt x="225971" y="115836"/>
                  </a:lnTo>
                  <a:close/>
                </a:path>
                <a:path w="1419859" h="944880">
                  <a:moveTo>
                    <a:pt x="1419326" y="812939"/>
                  </a:moveTo>
                  <a:lnTo>
                    <a:pt x="1264246" y="754126"/>
                  </a:lnTo>
                  <a:lnTo>
                    <a:pt x="1253947" y="781278"/>
                  </a:lnTo>
                  <a:lnTo>
                    <a:pt x="1384007" y="830592"/>
                  </a:lnTo>
                  <a:lnTo>
                    <a:pt x="1354658" y="908011"/>
                  </a:lnTo>
                  <a:lnTo>
                    <a:pt x="1224597" y="858697"/>
                  </a:lnTo>
                  <a:lnTo>
                    <a:pt x="1214208" y="886066"/>
                  </a:lnTo>
                  <a:lnTo>
                    <a:pt x="1369288" y="944880"/>
                  </a:lnTo>
                  <a:lnTo>
                    <a:pt x="1419326" y="812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08167" y="540799"/>
              <a:ext cx="183261" cy="191198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7187113" y="540003"/>
              <a:ext cx="1136015" cy="1062990"/>
            </a:xfrm>
            <a:custGeom>
              <a:avLst/>
              <a:gdLst/>
              <a:ahLst/>
              <a:cxnLst/>
              <a:rect l="l" t="t" r="r" b="b"/>
              <a:pathLst>
                <a:path w="1136015" h="1062990">
                  <a:moveTo>
                    <a:pt x="209638" y="225996"/>
                  </a:moveTo>
                  <a:lnTo>
                    <a:pt x="121373" y="85585"/>
                  </a:lnTo>
                  <a:lnTo>
                    <a:pt x="96583" y="101168"/>
                  </a:lnTo>
                  <a:lnTo>
                    <a:pt x="133261" y="159512"/>
                  </a:lnTo>
                  <a:lnTo>
                    <a:pt x="61455" y="204647"/>
                  </a:lnTo>
                  <a:lnTo>
                    <a:pt x="24790" y="146304"/>
                  </a:lnTo>
                  <a:lnTo>
                    <a:pt x="0" y="161886"/>
                  </a:lnTo>
                  <a:lnTo>
                    <a:pt x="88265" y="302298"/>
                  </a:lnTo>
                  <a:lnTo>
                    <a:pt x="113055" y="286715"/>
                  </a:lnTo>
                  <a:lnTo>
                    <a:pt x="75704" y="227304"/>
                  </a:lnTo>
                  <a:lnTo>
                    <a:pt x="147510" y="182168"/>
                  </a:lnTo>
                  <a:lnTo>
                    <a:pt x="184848" y="241579"/>
                  </a:lnTo>
                  <a:lnTo>
                    <a:pt x="209638" y="225996"/>
                  </a:lnTo>
                  <a:close/>
                </a:path>
                <a:path w="1136015" h="1062990">
                  <a:moveTo>
                    <a:pt x="240347" y="539280"/>
                  </a:moveTo>
                  <a:lnTo>
                    <a:pt x="211810" y="539280"/>
                  </a:lnTo>
                  <a:lnTo>
                    <a:pt x="211810" y="1062710"/>
                  </a:lnTo>
                  <a:lnTo>
                    <a:pt x="240347" y="1062710"/>
                  </a:lnTo>
                  <a:lnTo>
                    <a:pt x="240347" y="539280"/>
                  </a:lnTo>
                  <a:close/>
                </a:path>
                <a:path w="1136015" h="1062990">
                  <a:moveTo>
                    <a:pt x="364934" y="151676"/>
                  </a:moveTo>
                  <a:lnTo>
                    <a:pt x="339445" y="137871"/>
                  </a:lnTo>
                  <a:lnTo>
                    <a:pt x="332193" y="148996"/>
                  </a:lnTo>
                  <a:lnTo>
                    <a:pt x="323176" y="157962"/>
                  </a:lnTo>
                  <a:lnTo>
                    <a:pt x="312559" y="164642"/>
                  </a:lnTo>
                  <a:lnTo>
                    <a:pt x="300520" y="168859"/>
                  </a:lnTo>
                  <a:lnTo>
                    <a:pt x="288569" y="170256"/>
                  </a:lnTo>
                  <a:lnTo>
                    <a:pt x="276961" y="169062"/>
                  </a:lnTo>
                  <a:lnTo>
                    <a:pt x="241465" y="144919"/>
                  </a:lnTo>
                  <a:lnTo>
                    <a:pt x="231736" y="101092"/>
                  </a:lnTo>
                  <a:lnTo>
                    <a:pt x="239102" y="80429"/>
                  </a:lnTo>
                  <a:lnTo>
                    <a:pt x="253669" y="64503"/>
                  </a:lnTo>
                  <a:lnTo>
                    <a:pt x="274307" y="55206"/>
                  </a:lnTo>
                  <a:lnTo>
                    <a:pt x="287096" y="53797"/>
                  </a:lnTo>
                  <a:lnTo>
                    <a:pt x="299669" y="55308"/>
                  </a:lnTo>
                  <a:lnTo>
                    <a:pt x="311454" y="59537"/>
                  </a:lnTo>
                  <a:lnTo>
                    <a:pt x="321906" y="66268"/>
                  </a:lnTo>
                  <a:lnTo>
                    <a:pt x="337705" y="40335"/>
                  </a:lnTo>
                  <a:lnTo>
                    <a:pt x="321056" y="30975"/>
                  </a:lnTo>
                  <a:lnTo>
                    <a:pt x="304190" y="26035"/>
                  </a:lnTo>
                  <a:lnTo>
                    <a:pt x="286651" y="25146"/>
                  </a:lnTo>
                  <a:lnTo>
                    <a:pt x="268008" y="27914"/>
                  </a:lnTo>
                  <a:lnTo>
                    <a:pt x="235699" y="42392"/>
                  </a:lnTo>
                  <a:lnTo>
                    <a:pt x="213169" y="66687"/>
                  </a:lnTo>
                  <a:lnTo>
                    <a:pt x="201815" y="97497"/>
                  </a:lnTo>
                  <a:lnTo>
                    <a:pt x="203022" y="131508"/>
                  </a:lnTo>
                  <a:lnTo>
                    <a:pt x="216877" y="163131"/>
                  </a:lnTo>
                  <a:lnTo>
                    <a:pt x="240449" y="185813"/>
                  </a:lnTo>
                  <a:lnTo>
                    <a:pt x="271259" y="197497"/>
                  </a:lnTo>
                  <a:lnTo>
                    <a:pt x="306806" y="196151"/>
                  </a:lnTo>
                  <a:lnTo>
                    <a:pt x="325843" y="189788"/>
                  </a:lnTo>
                  <a:lnTo>
                    <a:pt x="341782" y="180225"/>
                  </a:lnTo>
                  <a:lnTo>
                    <a:pt x="354761" y="167513"/>
                  </a:lnTo>
                  <a:lnTo>
                    <a:pt x="364934" y="151676"/>
                  </a:lnTo>
                  <a:close/>
                </a:path>
                <a:path w="1136015" h="1062990">
                  <a:moveTo>
                    <a:pt x="497039" y="539280"/>
                  </a:moveTo>
                  <a:lnTo>
                    <a:pt x="468503" y="539280"/>
                  </a:lnTo>
                  <a:lnTo>
                    <a:pt x="468503" y="1062710"/>
                  </a:lnTo>
                  <a:lnTo>
                    <a:pt x="497039" y="1062710"/>
                  </a:lnTo>
                  <a:lnTo>
                    <a:pt x="497039" y="539280"/>
                  </a:lnTo>
                  <a:close/>
                </a:path>
                <a:path w="1136015" h="1062990">
                  <a:moveTo>
                    <a:pt x="501840" y="26949"/>
                  </a:moveTo>
                  <a:lnTo>
                    <a:pt x="500265" y="0"/>
                  </a:lnTo>
                  <a:lnTo>
                    <a:pt x="371716" y="7493"/>
                  </a:lnTo>
                  <a:lnTo>
                    <a:pt x="373291" y="34429"/>
                  </a:lnTo>
                  <a:lnTo>
                    <a:pt x="422922" y="31546"/>
                  </a:lnTo>
                  <a:lnTo>
                    <a:pt x="430999" y="170167"/>
                  </a:lnTo>
                  <a:lnTo>
                    <a:pt x="460235" y="168465"/>
                  </a:lnTo>
                  <a:lnTo>
                    <a:pt x="452158" y="29845"/>
                  </a:lnTo>
                  <a:lnTo>
                    <a:pt x="501840" y="26949"/>
                  </a:lnTo>
                  <a:close/>
                </a:path>
                <a:path w="1136015" h="1062990">
                  <a:moveTo>
                    <a:pt x="753745" y="539280"/>
                  </a:moveTo>
                  <a:lnTo>
                    <a:pt x="725195" y="539280"/>
                  </a:lnTo>
                  <a:lnTo>
                    <a:pt x="725195" y="1062710"/>
                  </a:lnTo>
                  <a:lnTo>
                    <a:pt x="753745" y="1062710"/>
                  </a:lnTo>
                  <a:lnTo>
                    <a:pt x="753745" y="539280"/>
                  </a:lnTo>
                  <a:close/>
                </a:path>
                <a:path w="1136015" h="1062990">
                  <a:moveTo>
                    <a:pt x="872172" y="97434"/>
                  </a:moveTo>
                  <a:lnTo>
                    <a:pt x="755002" y="44005"/>
                  </a:lnTo>
                  <a:lnTo>
                    <a:pt x="743800" y="68554"/>
                  </a:lnTo>
                  <a:lnTo>
                    <a:pt x="789051" y="89192"/>
                  </a:lnTo>
                  <a:lnTo>
                    <a:pt x="731431" y="215531"/>
                  </a:lnTo>
                  <a:lnTo>
                    <a:pt x="758075" y="227685"/>
                  </a:lnTo>
                  <a:lnTo>
                    <a:pt x="815695" y="101346"/>
                  </a:lnTo>
                  <a:lnTo>
                    <a:pt x="860971" y="121996"/>
                  </a:lnTo>
                  <a:lnTo>
                    <a:pt x="872172" y="97434"/>
                  </a:lnTo>
                  <a:close/>
                </a:path>
                <a:path w="1136015" h="1062990">
                  <a:moveTo>
                    <a:pt x="1032154" y="212979"/>
                  </a:moveTo>
                  <a:lnTo>
                    <a:pt x="1007071" y="194233"/>
                  </a:lnTo>
                  <a:lnTo>
                    <a:pt x="919467" y="235127"/>
                  </a:lnTo>
                  <a:lnTo>
                    <a:pt x="921524" y="215049"/>
                  </a:lnTo>
                  <a:lnTo>
                    <a:pt x="928446" y="135407"/>
                  </a:lnTo>
                  <a:lnTo>
                    <a:pt x="900938" y="114833"/>
                  </a:lnTo>
                  <a:lnTo>
                    <a:pt x="890549" y="248640"/>
                  </a:lnTo>
                  <a:lnTo>
                    <a:pt x="836587" y="273812"/>
                  </a:lnTo>
                  <a:lnTo>
                    <a:pt x="861237" y="292252"/>
                  </a:lnTo>
                  <a:lnTo>
                    <a:pt x="1032154" y="212979"/>
                  </a:lnTo>
                  <a:close/>
                </a:path>
                <a:path w="1136015" h="1062990">
                  <a:moveTo>
                    <a:pt x="1135608" y="333502"/>
                  </a:moveTo>
                  <a:lnTo>
                    <a:pt x="1053388" y="234403"/>
                  </a:lnTo>
                  <a:lnTo>
                    <a:pt x="1032611" y="251637"/>
                  </a:lnTo>
                  <a:lnTo>
                    <a:pt x="1064361" y="289902"/>
                  </a:lnTo>
                  <a:lnTo>
                    <a:pt x="957491" y="378574"/>
                  </a:lnTo>
                  <a:lnTo>
                    <a:pt x="976185" y="401104"/>
                  </a:lnTo>
                  <a:lnTo>
                    <a:pt x="1083056" y="312445"/>
                  </a:lnTo>
                  <a:lnTo>
                    <a:pt x="1114831" y="350735"/>
                  </a:lnTo>
                  <a:lnTo>
                    <a:pt x="1135608" y="333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Прямоугольник 18"/>
          <p:cNvSpPr/>
          <p:nvPr userDrawn="1"/>
        </p:nvSpPr>
        <p:spPr>
          <a:xfrm>
            <a:off x="14076776" y="9918700"/>
            <a:ext cx="3962069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0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8055176" y="10091361"/>
            <a:ext cx="462641" cy="29238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57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695" y="2025390"/>
            <a:ext cx="171092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14305357" y="10147300"/>
            <a:ext cx="3269931" cy="144434"/>
            <a:chOff x="14496003" y="10008003"/>
            <a:chExt cx="3270204" cy="144434"/>
          </a:xfrm>
        </p:grpSpPr>
        <p:sp>
          <p:nvSpPr>
            <p:cNvPr id="7" name="object 2"/>
            <p:cNvSpPr/>
            <p:nvPr userDrawn="1"/>
          </p:nvSpPr>
          <p:spPr>
            <a:xfrm>
              <a:off x="15935233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/>
            <p:cNvSpPr/>
            <p:nvPr userDrawn="1"/>
          </p:nvSpPr>
          <p:spPr>
            <a:xfrm>
              <a:off x="15935224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 userDrawn="1"/>
          </p:nvSpPr>
          <p:spPr>
            <a:xfrm>
              <a:off x="15486570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90" y="21590"/>
                  </a:lnTo>
                  <a:lnTo>
                    <a:pt x="39890" y="133350"/>
                  </a:lnTo>
                  <a:lnTo>
                    <a:pt x="63360" y="133350"/>
                  </a:lnTo>
                  <a:lnTo>
                    <a:pt x="63360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 userDrawn="1"/>
          </p:nvSpPr>
          <p:spPr>
            <a:xfrm>
              <a:off x="16094555" y="10036339"/>
              <a:ext cx="23495" cy="111760"/>
            </a:xfrm>
            <a:custGeom>
              <a:avLst/>
              <a:gdLst/>
              <a:ahLst/>
              <a:cxnLst/>
              <a:rect l="l" t="t" r="r" b="b"/>
              <a:pathLst>
                <a:path w="23494" h="111759">
                  <a:moveTo>
                    <a:pt x="0" y="111760"/>
                  </a:moveTo>
                  <a:lnTo>
                    <a:pt x="23279" y="111760"/>
                  </a:lnTo>
                  <a:lnTo>
                    <a:pt x="23279" y="0"/>
                  </a:lnTo>
                  <a:lnTo>
                    <a:pt x="0" y="0"/>
                  </a:lnTo>
                  <a:lnTo>
                    <a:pt x="0" y="11176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 userDrawn="1"/>
          </p:nvSpPr>
          <p:spPr>
            <a:xfrm>
              <a:off x="16094546" y="10014749"/>
              <a:ext cx="113664" cy="133350"/>
            </a:xfrm>
            <a:custGeom>
              <a:avLst/>
              <a:gdLst/>
              <a:ahLst/>
              <a:cxnLst/>
              <a:rect l="l" t="t" r="r" b="b"/>
              <a:pathLst>
                <a:path w="113665" h="133350">
                  <a:moveTo>
                    <a:pt x="11318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89687" y="21590"/>
                  </a:lnTo>
                  <a:lnTo>
                    <a:pt x="89687" y="133350"/>
                  </a:lnTo>
                  <a:lnTo>
                    <a:pt x="113182" y="133350"/>
                  </a:lnTo>
                  <a:lnTo>
                    <a:pt x="113182" y="21590"/>
                  </a:lnTo>
                  <a:lnTo>
                    <a:pt x="113182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 userDrawn="1"/>
          </p:nvSpPr>
          <p:spPr>
            <a:xfrm>
              <a:off x="15341624" y="10015080"/>
              <a:ext cx="131445" cy="133350"/>
            </a:xfrm>
            <a:custGeom>
              <a:avLst/>
              <a:gdLst/>
              <a:ahLst/>
              <a:cxnLst/>
              <a:rect l="l" t="t" r="r" b="b"/>
              <a:pathLst>
                <a:path w="131444" h="133350">
                  <a:moveTo>
                    <a:pt x="131381" y="0"/>
                  </a:moveTo>
                  <a:lnTo>
                    <a:pt x="106299" y="0"/>
                  </a:lnTo>
                  <a:lnTo>
                    <a:pt x="69672" y="68351"/>
                  </a:lnTo>
                  <a:lnTo>
                    <a:pt x="61341" y="54470"/>
                  </a:lnTo>
                  <a:lnTo>
                    <a:pt x="27533" y="0"/>
                  </a:lnTo>
                  <a:lnTo>
                    <a:pt x="0" y="0"/>
                  </a:lnTo>
                  <a:lnTo>
                    <a:pt x="57581" y="90906"/>
                  </a:lnTo>
                  <a:lnTo>
                    <a:pt x="35026" y="133019"/>
                  </a:lnTo>
                  <a:lnTo>
                    <a:pt x="59715" y="133019"/>
                  </a:lnTo>
                  <a:lnTo>
                    <a:pt x="13138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 userDrawn="1"/>
          </p:nvSpPr>
          <p:spPr>
            <a:xfrm>
              <a:off x="15804846" y="10014749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5" h="133350">
                  <a:moveTo>
                    <a:pt x="9028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11760"/>
                  </a:lnTo>
                  <a:lnTo>
                    <a:pt x="0" y="133350"/>
                  </a:lnTo>
                  <a:lnTo>
                    <a:pt x="90284" y="133350"/>
                  </a:lnTo>
                  <a:lnTo>
                    <a:pt x="90284" y="111760"/>
                  </a:lnTo>
                  <a:lnTo>
                    <a:pt x="23482" y="111760"/>
                  </a:lnTo>
                  <a:lnTo>
                    <a:pt x="23482" y="76200"/>
                  </a:lnTo>
                  <a:lnTo>
                    <a:pt x="84226" y="76200"/>
                  </a:lnTo>
                  <a:lnTo>
                    <a:pt x="84226" y="55880"/>
                  </a:lnTo>
                  <a:lnTo>
                    <a:pt x="23482" y="55880"/>
                  </a:lnTo>
                  <a:lnTo>
                    <a:pt x="23482" y="21590"/>
                  </a:lnTo>
                  <a:lnTo>
                    <a:pt x="90284" y="21590"/>
                  </a:lnTo>
                  <a:lnTo>
                    <a:pt x="90284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 userDrawn="1"/>
          </p:nvSpPr>
          <p:spPr>
            <a:xfrm>
              <a:off x="15689846" y="10014749"/>
              <a:ext cx="87630" cy="133350"/>
            </a:xfrm>
            <a:custGeom>
              <a:avLst/>
              <a:gdLst/>
              <a:ahLst/>
              <a:cxnLst/>
              <a:rect l="l" t="t" r="r" b="b"/>
              <a:pathLst>
                <a:path w="87630" h="133350">
                  <a:moveTo>
                    <a:pt x="8726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33350"/>
                  </a:lnTo>
                  <a:lnTo>
                    <a:pt x="23495" y="133350"/>
                  </a:lnTo>
                  <a:lnTo>
                    <a:pt x="23495" y="21590"/>
                  </a:lnTo>
                  <a:lnTo>
                    <a:pt x="87261" y="21590"/>
                  </a:lnTo>
                  <a:lnTo>
                    <a:pt x="8726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 userDrawn="1"/>
          </p:nvSpPr>
          <p:spPr>
            <a:xfrm>
              <a:off x="14661205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 userDrawn="1"/>
          </p:nvSpPr>
          <p:spPr>
            <a:xfrm>
              <a:off x="14661198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 userDrawn="1"/>
          </p:nvSpPr>
          <p:spPr>
            <a:xfrm>
              <a:off x="15225408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78" y="21590"/>
                  </a:lnTo>
                  <a:lnTo>
                    <a:pt x="39878" y="133350"/>
                  </a:lnTo>
                  <a:lnTo>
                    <a:pt x="63373" y="133350"/>
                  </a:lnTo>
                  <a:lnTo>
                    <a:pt x="63373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3"/>
            <p:cNvPicPr/>
            <p:nvPr userDrawn="1"/>
          </p:nvPicPr>
          <p:blipFill>
            <a:blip r:embed="rId7" cstate="print"/>
            <a:stretch>
              <a:fillRect/>
            </a:stretch>
          </p:blipFill>
          <p:spPr>
            <a:xfrm>
              <a:off x="14496003" y="10010832"/>
              <a:ext cx="123088" cy="141516"/>
            </a:xfrm>
            <a:prstGeom prst="rect">
              <a:avLst/>
            </a:prstGeom>
          </p:spPr>
        </p:pic>
        <p:grpSp>
          <p:nvGrpSpPr>
            <p:cNvPr id="19" name="object 14"/>
            <p:cNvGrpSpPr/>
            <p:nvPr userDrawn="1"/>
          </p:nvGrpSpPr>
          <p:grpSpPr>
            <a:xfrm>
              <a:off x="14806764" y="10010832"/>
              <a:ext cx="392430" cy="141605"/>
              <a:chOff x="14806764" y="10010832"/>
              <a:chExt cx="392430" cy="141605"/>
            </a:xfrm>
          </p:grpSpPr>
          <p:pic>
            <p:nvPicPr>
              <p:cNvPr id="20" name="object 15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4806764" y="10012257"/>
                <a:ext cx="241731" cy="138480"/>
              </a:xfrm>
              <a:prstGeom prst="rect">
                <a:avLst/>
              </a:prstGeom>
            </p:spPr>
          </p:pic>
          <p:pic>
            <p:nvPicPr>
              <p:cNvPr id="21" name="object 16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5075509" y="10010832"/>
                <a:ext cx="123088" cy="141516"/>
              </a:xfrm>
              <a:prstGeom prst="rect">
                <a:avLst/>
              </a:prstGeom>
            </p:spPr>
          </p:pic>
        </p:grpSp>
        <p:sp>
          <p:nvSpPr>
            <p:cNvPr id="22" name="object 17"/>
            <p:cNvSpPr/>
            <p:nvPr userDrawn="1"/>
          </p:nvSpPr>
          <p:spPr>
            <a:xfrm>
              <a:off x="16538937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 userDrawn="1"/>
          </p:nvSpPr>
          <p:spPr>
            <a:xfrm>
              <a:off x="16538931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5189" y="0"/>
                  </a:moveTo>
                  <a:lnTo>
                    <a:pt x="91706" y="0"/>
                  </a:lnTo>
                  <a:lnTo>
                    <a:pt x="91706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706" y="77470"/>
                  </a:lnTo>
                  <a:lnTo>
                    <a:pt x="91706" y="133350"/>
                  </a:lnTo>
                  <a:lnTo>
                    <a:pt x="115189" y="133350"/>
                  </a:lnTo>
                  <a:lnTo>
                    <a:pt x="115189" y="77470"/>
                  </a:lnTo>
                  <a:lnTo>
                    <a:pt x="115189" y="55880"/>
                  </a:lnTo>
                  <a:lnTo>
                    <a:pt x="11518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/>
            <p:cNvPicPr/>
            <p:nvPr userDrawn="1"/>
          </p:nvPicPr>
          <p:blipFill>
            <a:blip r:embed="rId10" cstate="print"/>
            <a:stretch>
              <a:fillRect/>
            </a:stretch>
          </p:blipFill>
          <p:spPr>
            <a:xfrm>
              <a:off x="17064702" y="10012253"/>
              <a:ext cx="139903" cy="138671"/>
            </a:xfrm>
            <a:prstGeom prst="rect">
              <a:avLst/>
            </a:prstGeom>
          </p:spPr>
        </p:pic>
        <p:sp>
          <p:nvSpPr>
            <p:cNvPr id="25" name="object 20"/>
            <p:cNvSpPr/>
            <p:nvPr userDrawn="1"/>
          </p:nvSpPr>
          <p:spPr>
            <a:xfrm>
              <a:off x="17646556" y="10014684"/>
              <a:ext cx="78105" cy="133985"/>
            </a:xfrm>
            <a:custGeom>
              <a:avLst/>
              <a:gdLst/>
              <a:ahLst/>
              <a:cxnLst/>
              <a:rect l="l" t="t" r="r" b="b"/>
              <a:pathLst>
                <a:path w="78105" h="133984">
                  <a:moveTo>
                    <a:pt x="2346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9959" y="133413"/>
                  </a:lnTo>
                  <a:lnTo>
                    <a:pt x="48471" y="131044"/>
                  </a:lnTo>
                  <a:lnTo>
                    <a:pt x="63741" y="123723"/>
                  </a:lnTo>
                  <a:lnTo>
                    <a:pt x="72431" y="113169"/>
                  </a:lnTo>
                  <a:lnTo>
                    <a:pt x="23469" y="113169"/>
                  </a:lnTo>
                  <a:lnTo>
                    <a:pt x="23469" y="72682"/>
                  </a:lnTo>
                  <a:lnTo>
                    <a:pt x="73128" y="72682"/>
                  </a:lnTo>
                  <a:lnTo>
                    <a:pt x="63665" y="61264"/>
                  </a:lnTo>
                  <a:lnTo>
                    <a:pt x="48386" y="54349"/>
                  </a:lnTo>
                  <a:lnTo>
                    <a:pt x="29959" y="52235"/>
                  </a:lnTo>
                  <a:lnTo>
                    <a:pt x="23469" y="52235"/>
                  </a:lnTo>
                  <a:lnTo>
                    <a:pt x="23469" y="0"/>
                  </a:lnTo>
                  <a:close/>
                </a:path>
                <a:path w="78105" h="133984">
                  <a:moveTo>
                    <a:pt x="73128" y="72682"/>
                  </a:moveTo>
                  <a:lnTo>
                    <a:pt x="29959" y="72682"/>
                  </a:lnTo>
                  <a:lnTo>
                    <a:pt x="42001" y="74362"/>
                  </a:lnTo>
                  <a:lnTo>
                    <a:pt x="49945" y="78851"/>
                  </a:lnTo>
                  <a:lnTo>
                    <a:pt x="54323" y="85315"/>
                  </a:lnTo>
                  <a:lnTo>
                    <a:pt x="55664" y="92925"/>
                  </a:lnTo>
                  <a:lnTo>
                    <a:pt x="54351" y="100530"/>
                  </a:lnTo>
                  <a:lnTo>
                    <a:pt x="50022" y="106995"/>
                  </a:lnTo>
                  <a:lnTo>
                    <a:pt x="42087" y="111487"/>
                  </a:lnTo>
                  <a:lnTo>
                    <a:pt x="29959" y="113169"/>
                  </a:lnTo>
                  <a:lnTo>
                    <a:pt x="72431" y="113169"/>
                  </a:lnTo>
                  <a:lnTo>
                    <a:pt x="74114" y="111125"/>
                  </a:lnTo>
                  <a:lnTo>
                    <a:pt x="77939" y="92925"/>
                  </a:lnTo>
                  <a:lnTo>
                    <a:pt x="74086" y="73837"/>
                  </a:lnTo>
                  <a:lnTo>
                    <a:pt x="73128" y="72682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1"/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7228680" y="10012257"/>
              <a:ext cx="122897" cy="138480"/>
            </a:xfrm>
            <a:prstGeom prst="rect">
              <a:avLst/>
            </a:prstGeom>
          </p:spPr>
        </p:pic>
        <p:sp>
          <p:nvSpPr>
            <p:cNvPr id="27" name="object 22"/>
            <p:cNvSpPr/>
            <p:nvPr userDrawn="1"/>
          </p:nvSpPr>
          <p:spPr>
            <a:xfrm>
              <a:off x="17383354" y="10014686"/>
              <a:ext cx="107314" cy="133985"/>
            </a:xfrm>
            <a:custGeom>
              <a:avLst/>
              <a:gdLst/>
              <a:ahLst/>
              <a:cxnLst/>
              <a:rect l="l" t="t" r="r" b="b"/>
              <a:pathLst>
                <a:path w="107315" h="133984">
                  <a:moveTo>
                    <a:pt x="23482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482" y="133413"/>
                  </a:lnTo>
                  <a:lnTo>
                    <a:pt x="23482" y="62966"/>
                  </a:lnTo>
                  <a:lnTo>
                    <a:pt x="23482" y="0"/>
                  </a:lnTo>
                  <a:close/>
                </a:path>
                <a:path w="107315" h="133984">
                  <a:moveTo>
                    <a:pt x="106908" y="0"/>
                  </a:moveTo>
                  <a:lnTo>
                    <a:pt x="78562" y="0"/>
                  </a:lnTo>
                  <a:lnTo>
                    <a:pt x="23482" y="62966"/>
                  </a:lnTo>
                  <a:lnTo>
                    <a:pt x="78155" y="133413"/>
                  </a:lnTo>
                  <a:lnTo>
                    <a:pt x="106908" y="133413"/>
                  </a:lnTo>
                  <a:lnTo>
                    <a:pt x="51244" y="62280"/>
                  </a:lnTo>
                  <a:lnTo>
                    <a:pt x="106908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3"/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16676596" y="10008005"/>
              <a:ext cx="139077" cy="140093"/>
            </a:xfrm>
            <a:prstGeom prst="rect">
              <a:avLst/>
            </a:prstGeom>
          </p:spPr>
        </p:pic>
        <p:pic>
          <p:nvPicPr>
            <p:cNvPr id="29" name="object 24"/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16377378" y="10008005"/>
              <a:ext cx="139077" cy="140093"/>
            </a:xfrm>
            <a:prstGeom prst="rect">
              <a:avLst/>
            </a:prstGeom>
          </p:spPr>
        </p:pic>
        <p:pic>
          <p:nvPicPr>
            <p:cNvPr id="30" name="object 25"/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7523452" y="10014683"/>
              <a:ext cx="85039" cy="133413"/>
            </a:xfrm>
            <a:prstGeom prst="rect">
              <a:avLst/>
            </a:prstGeom>
          </p:spPr>
        </p:pic>
        <p:sp>
          <p:nvSpPr>
            <p:cNvPr id="31" name="object 26"/>
            <p:cNvSpPr/>
            <p:nvPr userDrawn="1"/>
          </p:nvSpPr>
          <p:spPr>
            <a:xfrm>
              <a:off x="17742712" y="10014687"/>
              <a:ext cx="23495" cy="133985"/>
            </a:xfrm>
            <a:custGeom>
              <a:avLst/>
              <a:gdLst/>
              <a:ahLst/>
              <a:cxnLst/>
              <a:rect l="l" t="t" r="r" b="b"/>
              <a:pathLst>
                <a:path w="23494" h="133984">
                  <a:moveTo>
                    <a:pt x="2327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279" y="133413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27"/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6887559" y="10008003"/>
              <a:ext cx="152044" cy="141516"/>
            </a:xfrm>
            <a:prstGeom prst="rect">
              <a:avLst/>
            </a:prstGeom>
          </p:spPr>
        </p:pic>
        <p:pic>
          <p:nvPicPr>
            <p:cNvPr id="33" name="object 28"/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6236275" y="10015091"/>
              <a:ext cx="118643" cy="134823"/>
            </a:xfrm>
            <a:prstGeom prst="rect">
              <a:avLst/>
            </a:prstGeom>
          </p:spPr>
        </p:pic>
      </p:grpSp>
      <p:sp>
        <p:nvSpPr>
          <p:cNvPr id="34" name="object 29"/>
          <p:cNvSpPr/>
          <p:nvPr userDrawn="1"/>
        </p:nvSpPr>
        <p:spPr>
          <a:xfrm>
            <a:off x="17850557" y="10021300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0"/>
                </a:moveTo>
                <a:lnTo>
                  <a:pt x="0" y="374395"/>
                </a:lnTo>
              </a:path>
            </a:pathLst>
          </a:custGeom>
          <a:ln w="25400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400">
          <a:latin typeface="Circe" panose="020B0502020203020203" pitchFamily="34" charset="-52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0" userDrawn="1">
          <p15:clr>
            <a:srgbClr val="F26B43"/>
          </p15:clr>
        </p15:guide>
        <p15:guide id="2" pos="11699" userDrawn="1">
          <p15:clr>
            <a:srgbClr val="F26B43"/>
          </p15:clr>
        </p15:guide>
        <p15:guide id="3" orient="horz" pos="1256" userDrawn="1">
          <p15:clr>
            <a:srgbClr val="F26B43"/>
          </p15:clr>
        </p15:guide>
        <p15:guide id="4" orient="horz" pos="6104" userDrawn="1">
          <p15:clr>
            <a:srgbClr val="F26B43"/>
          </p15:clr>
        </p15:guide>
      </p15:sldGuideLst>
    </p:ext>
  </p:extLst>
</p:sldMaster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5.png"/><Relationship Id="rId5" Type="http://schemas.openxmlformats.org/officeDocument/2006/relationships/notesSlide" Target="../notesSlides/notesSlide16.xml"/></Relationships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0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27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301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СТРУКТУРА ЗАНЯТОСТИ И ВГП: НОЯБРЬСК И РОССИЯ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302" name="Заголовок"/>
          <p:cNvSpPr txBox="1"/>
          <p:nvPr/>
        </p:nvSpPr>
        <p:spPr>
          <a:xfrm>
            <a:off x="4800600" y="1554480"/>
            <a:ext cx="3931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62D3F"/>
                </a:solidFill>
                <a:latin typeface="Circe Bold"/>
              </a:rPr>
              <a:t>ЗАНЯТОСТЬ, %</a:t>
            </a:r>
          </a:p>
        </p:txBody>
      </p:sp>
      <p:sp>
        <p:nvSpPr>
          <p:cNvPr id="303" name="Заголовок"/>
          <p:cNvSpPr txBox="1"/>
          <p:nvPr/>
        </p:nvSpPr>
        <p:spPr>
          <a:xfrm>
            <a:off x="8641080" y="1463040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62D3F"/>
                </a:solidFill>
                <a:latin typeface="Circe Bold"/>
              </a:rPr>
              <a:t>Пр-ть труда,</a:t>
            </a:r>
          </a:p>
          <a:p>
            <a:pPr algn="ctr"/>
            <a:r>
              <a:rPr sz="1300" b="1">
                <a:solidFill>
                  <a:srgbClr val="062D3F"/>
                </a:solidFill>
                <a:latin typeface="Circe Bold"/>
              </a:rPr>
              <a:t>тыс. руб.</a:t>
            </a:r>
          </a:p>
        </p:txBody>
      </p:sp>
      <p:sp>
        <p:nvSpPr>
          <p:cNvPr id="304" name="Заголовок"/>
          <p:cNvSpPr txBox="1"/>
          <p:nvPr/>
        </p:nvSpPr>
        <p:spPr>
          <a:xfrm>
            <a:off x="10012680" y="1554480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ВГП, %</a:t>
            </a:r>
          </a:p>
        </p:txBody>
      </p:sp>
      <p:cxnSp>
        <p:nvCxnSpPr>
          <p:cNvPr id="305" name="Сетка"/>
          <p:cNvCxnSpPr/>
          <p:nvPr/>
        </p:nvCxnSpPr>
        <p:spPr>
          <a:xfrm>
            <a:off x="8732520" y="1965960"/>
            <a:ext cx="0" cy="7306056"/>
          </a:xfrm>
          <a:prstGeom prst="line">
            <a:avLst/>
          </a:prstGeom>
          <a:ln w="9525">
            <a:solidFill>
              <a:srgbClr val="D9DEE2"/>
            </a:solidFill>
          </a:ln>
        </p:spPr>
      </p:cxnSp>
      <p:cxnSp>
        <p:nvCxnSpPr>
          <p:cNvPr id="306" name="Сетка"/>
          <p:cNvCxnSpPr/>
          <p:nvPr/>
        </p:nvCxnSpPr>
        <p:spPr>
          <a:xfrm>
            <a:off x="8298180" y="1965960"/>
            <a:ext cx="0" cy="7306056"/>
          </a:xfrm>
          <a:prstGeom prst="line">
            <a:avLst/>
          </a:prstGeom>
          <a:ln w="9525">
            <a:solidFill>
              <a:srgbClr val="D9DEE2"/>
            </a:solidFill>
          </a:ln>
        </p:spPr>
      </p:cxnSp>
      <p:cxnSp>
        <p:nvCxnSpPr>
          <p:cNvPr id="307" name="Сетка"/>
          <p:cNvCxnSpPr/>
          <p:nvPr/>
        </p:nvCxnSpPr>
        <p:spPr>
          <a:xfrm>
            <a:off x="7863840" y="1965960"/>
            <a:ext cx="0" cy="7306056"/>
          </a:xfrm>
          <a:prstGeom prst="line">
            <a:avLst/>
          </a:prstGeom>
          <a:ln w="9525">
            <a:solidFill>
              <a:srgbClr val="D9DEE2"/>
            </a:solidFill>
          </a:ln>
        </p:spPr>
      </p:cxnSp>
      <p:cxnSp>
        <p:nvCxnSpPr>
          <p:cNvPr id="308" name="Сетка"/>
          <p:cNvCxnSpPr/>
          <p:nvPr/>
        </p:nvCxnSpPr>
        <p:spPr>
          <a:xfrm>
            <a:off x="7429500" y="1965960"/>
            <a:ext cx="0" cy="7306056"/>
          </a:xfrm>
          <a:prstGeom prst="line">
            <a:avLst/>
          </a:prstGeom>
          <a:ln w="9525">
            <a:solidFill>
              <a:srgbClr val="D9DEE2"/>
            </a:solidFill>
          </a:ln>
        </p:spPr>
      </p:cxnSp>
      <p:cxnSp>
        <p:nvCxnSpPr>
          <p:cNvPr id="309" name="Сетка"/>
          <p:cNvCxnSpPr/>
          <p:nvPr/>
        </p:nvCxnSpPr>
        <p:spPr>
          <a:xfrm>
            <a:off x="6995160" y="1965960"/>
            <a:ext cx="0" cy="7306056"/>
          </a:xfrm>
          <a:prstGeom prst="line">
            <a:avLst/>
          </a:prstGeom>
          <a:ln w="9525">
            <a:solidFill>
              <a:srgbClr val="D9DEE2"/>
            </a:solidFill>
          </a:ln>
        </p:spPr>
      </p:cxnSp>
      <p:cxnSp>
        <p:nvCxnSpPr>
          <p:cNvPr id="310" name="Сетка"/>
          <p:cNvCxnSpPr/>
          <p:nvPr/>
        </p:nvCxnSpPr>
        <p:spPr>
          <a:xfrm>
            <a:off x="6560820" y="1965960"/>
            <a:ext cx="0" cy="7306056"/>
          </a:xfrm>
          <a:prstGeom prst="line">
            <a:avLst/>
          </a:prstGeom>
          <a:ln w="9525">
            <a:solidFill>
              <a:srgbClr val="D9DEE2"/>
            </a:solidFill>
          </a:ln>
        </p:spPr>
      </p:cxnSp>
      <p:cxnSp>
        <p:nvCxnSpPr>
          <p:cNvPr id="311" name="Сетка"/>
          <p:cNvCxnSpPr/>
          <p:nvPr/>
        </p:nvCxnSpPr>
        <p:spPr>
          <a:xfrm>
            <a:off x="6126480" y="1965960"/>
            <a:ext cx="0" cy="7306056"/>
          </a:xfrm>
          <a:prstGeom prst="line">
            <a:avLst/>
          </a:prstGeom>
          <a:ln w="9525">
            <a:solidFill>
              <a:srgbClr val="D9DEE2"/>
            </a:solidFill>
          </a:ln>
        </p:spPr>
      </p:cxnSp>
      <p:cxnSp>
        <p:nvCxnSpPr>
          <p:cNvPr id="312" name="Сетка"/>
          <p:cNvCxnSpPr/>
          <p:nvPr/>
        </p:nvCxnSpPr>
        <p:spPr>
          <a:xfrm>
            <a:off x="5692140" y="1965960"/>
            <a:ext cx="0" cy="7306056"/>
          </a:xfrm>
          <a:prstGeom prst="line">
            <a:avLst/>
          </a:prstGeom>
          <a:ln w="9525">
            <a:solidFill>
              <a:srgbClr val="D9DEE2"/>
            </a:solidFill>
          </a:ln>
        </p:spPr>
      </p:cxnSp>
      <p:cxnSp>
        <p:nvCxnSpPr>
          <p:cNvPr id="313" name="Сетка"/>
          <p:cNvCxnSpPr/>
          <p:nvPr/>
        </p:nvCxnSpPr>
        <p:spPr>
          <a:xfrm>
            <a:off x="5257800" y="1965960"/>
            <a:ext cx="0" cy="7306056"/>
          </a:xfrm>
          <a:prstGeom prst="line">
            <a:avLst/>
          </a:prstGeom>
          <a:ln w="9525">
            <a:solidFill>
              <a:srgbClr val="D9DEE2"/>
            </a:solidFill>
          </a:ln>
        </p:spPr>
      </p:cxnSp>
      <p:cxnSp>
        <p:nvCxnSpPr>
          <p:cNvPr id="314" name="Сетка"/>
          <p:cNvCxnSpPr/>
          <p:nvPr/>
        </p:nvCxnSpPr>
        <p:spPr>
          <a:xfrm>
            <a:off x="4823460" y="1965960"/>
            <a:ext cx="0" cy="7306056"/>
          </a:xfrm>
          <a:prstGeom prst="line">
            <a:avLst/>
          </a:prstGeom>
          <a:ln w="9525">
            <a:solidFill>
              <a:srgbClr val="D9DEE2"/>
            </a:solidFill>
          </a:ln>
        </p:spPr>
      </p:cxnSp>
      <p:cxnSp>
        <p:nvCxnSpPr>
          <p:cNvPr id="315" name="Сетка"/>
          <p:cNvCxnSpPr/>
          <p:nvPr/>
        </p:nvCxnSpPr>
        <p:spPr>
          <a:xfrm>
            <a:off x="10012680" y="1965960"/>
            <a:ext cx="0" cy="7306056"/>
          </a:xfrm>
          <a:prstGeom prst="line">
            <a:avLst/>
          </a:prstGeom>
          <a:ln w="9525">
            <a:solidFill>
              <a:srgbClr val="D9DEE2"/>
            </a:solidFill>
          </a:ln>
        </p:spPr>
      </p:cxnSp>
      <p:cxnSp>
        <p:nvCxnSpPr>
          <p:cNvPr id="316" name="Сетка"/>
          <p:cNvCxnSpPr/>
          <p:nvPr/>
        </p:nvCxnSpPr>
        <p:spPr>
          <a:xfrm>
            <a:off x="10561319" y="1965960"/>
            <a:ext cx="0" cy="7306056"/>
          </a:xfrm>
          <a:prstGeom prst="line">
            <a:avLst/>
          </a:prstGeom>
          <a:ln w="9525">
            <a:solidFill>
              <a:srgbClr val="D9DEE2"/>
            </a:solidFill>
          </a:ln>
        </p:spPr>
      </p:cxnSp>
      <p:cxnSp>
        <p:nvCxnSpPr>
          <p:cNvPr id="317" name="Сетка"/>
          <p:cNvCxnSpPr/>
          <p:nvPr/>
        </p:nvCxnSpPr>
        <p:spPr>
          <a:xfrm>
            <a:off x="11109959" y="1965960"/>
            <a:ext cx="0" cy="7306056"/>
          </a:xfrm>
          <a:prstGeom prst="line">
            <a:avLst/>
          </a:prstGeom>
          <a:ln w="9525">
            <a:solidFill>
              <a:srgbClr val="D9DEE2"/>
            </a:solidFill>
          </a:ln>
        </p:spPr>
      </p:cxnSp>
      <p:cxnSp>
        <p:nvCxnSpPr>
          <p:cNvPr id="318" name="Сетка"/>
          <p:cNvCxnSpPr/>
          <p:nvPr/>
        </p:nvCxnSpPr>
        <p:spPr>
          <a:xfrm>
            <a:off x="11658600" y="1965960"/>
            <a:ext cx="0" cy="7306056"/>
          </a:xfrm>
          <a:prstGeom prst="line">
            <a:avLst/>
          </a:prstGeom>
          <a:ln w="9525">
            <a:solidFill>
              <a:srgbClr val="D9DEE2"/>
            </a:solidFill>
          </a:ln>
        </p:spPr>
      </p:cxnSp>
      <p:cxnSp>
        <p:nvCxnSpPr>
          <p:cNvPr id="319" name="Сетка"/>
          <p:cNvCxnSpPr/>
          <p:nvPr/>
        </p:nvCxnSpPr>
        <p:spPr>
          <a:xfrm>
            <a:off x="12207240" y="1965960"/>
            <a:ext cx="0" cy="7306056"/>
          </a:xfrm>
          <a:prstGeom prst="line">
            <a:avLst/>
          </a:prstGeom>
          <a:ln w="9525">
            <a:solidFill>
              <a:srgbClr val="D9DEE2"/>
            </a:solidFill>
          </a:ln>
        </p:spPr>
      </p:cxnSp>
      <p:cxnSp>
        <p:nvCxnSpPr>
          <p:cNvPr id="320" name="Сетка"/>
          <p:cNvCxnSpPr/>
          <p:nvPr/>
        </p:nvCxnSpPr>
        <p:spPr>
          <a:xfrm>
            <a:off x="12755880" y="1965960"/>
            <a:ext cx="0" cy="7306056"/>
          </a:xfrm>
          <a:prstGeom prst="line">
            <a:avLst/>
          </a:prstGeom>
          <a:ln w="9525">
            <a:solidFill>
              <a:srgbClr val="D9DEE2"/>
            </a:solidFill>
          </a:ln>
        </p:spPr>
      </p:cxnSp>
      <p:cxnSp>
        <p:nvCxnSpPr>
          <p:cNvPr id="321" name="Сетка"/>
          <p:cNvCxnSpPr/>
          <p:nvPr/>
        </p:nvCxnSpPr>
        <p:spPr>
          <a:xfrm>
            <a:off x="13304519" y="1965960"/>
            <a:ext cx="0" cy="7306056"/>
          </a:xfrm>
          <a:prstGeom prst="line">
            <a:avLst/>
          </a:prstGeom>
          <a:ln w="9525">
            <a:solidFill>
              <a:srgbClr val="D9DEE2"/>
            </a:solidFill>
          </a:ln>
        </p:spPr>
      </p:cxnSp>
      <p:cxnSp>
        <p:nvCxnSpPr>
          <p:cNvPr id="322" name="Сетка"/>
          <p:cNvCxnSpPr/>
          <p:nvPr/>
        </p:nvCxnSpPr>
        <p:spPr>
          <a:xfrm>
            <a:off x="13853159" y="1965960"/>
            <a:ext cx="0" cy="7306056"/>
          </a:xfrm>
          <a:prstGeom prst="line">
            <a:avLst/>
          </a:prstGeom>
          <a:ln w="9525">
            <a:solidFill>
              <a:srgbClr val="D9DEE2"/>
            </a:solidFill>
          </a:ln>
        </p:spPr>
      </p:cxnSp>
      <p:sp>
        <p:nvSpPr>
          <p:cNvPr id="323" name="Ось"/>
          <p:cNvSpPr txBox="1"/>
          <p:nvPr/>
        </p:nvSpPr>
        <p:spPr>
          <a:xfrm>
            <a:off x="8458200" y="9317736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E6B73"/>
                </a:solidFill>
                <a:latin typeface="Circe"/>
              </a:rPr>
              <a:t>0</a:t>
            </a:r>
          </a:p>
        </p:txBody>
      </p:sp>
      <p:sp>
        <p:nvSpPr>
          <p:cNvPr id="324" name="Ось"/>
          <p:cNvSpPr txBox="1"/>
          <p:nvPr/>
        </p:nvSpPr>
        <p:spPr>
          <a:xfrm>
            <a:off x="8023860" y="9317736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E6B73"/>
                </a:solidFill>
                <a:latin typeface="Circe"/>
              </a:rPr>
              <a:t>2,5</a:t>
            </a:r>
          </a:p>
        </p:txBody>
      </p:sp>
      <p:sp>
        <p:nvSpPr>
          <p:cNvPr id="325" name="Ось"/>
          <p:cNvSpPr txBox="1"/>
          <p:nvPr/>
        </p:nvSpPr>
        <p:spPr>
          <a:xfrm>
            <a:off x="7589520" y="9317736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E6B73"/>
                </a:solidFill>
                <a:latin typeface="Circe"/>
              </a:rPr>
              <a:t>5</a:t>
            </a:r>
          </a:p>
        </p:txBody>
      </p:sp>
      <p:sp>
        <p:nvSpPr>
          <p:cNvPr id="326" name="Ось"/>
          <p:cNvSpPr txBox="1"/>
          <p:nvPr/>
        </p:nvSpPr>
        <p:spPr>
          <a:xfrm>
            <a:off x="7155180" y="9317736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E6B73"/>
                </a:solidFill>
                <a:latin typeface="Circe"/>
              </a:rPr>
              <a:t>7,5</a:t>
            </a:r>
          </a:p>
        </p:txBody>
      </p:sp>
      <p:sp>
        <p:nvSpPr>
          <p:cNvPr id="327" name="Ось"/>
          <p:cNvSpPr txBox="1"/>
          <p:nvPr/>
        </p:nvSpPr>
        <p:spPr>
          <a:xfrm>
            <a:off x="6720840" y="9317736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E6B73"/>
                </a:solidFill>
                <a:latin typeface="Circe"/>
              </a:rPr>
              <a:t>10</a:t>
            </a:r>
          </a:p>
        </p:txBody>
      </p:sp>
      <p:sp>
        <p:nvSpPr>
          <p:cNvPr id="328" name="Ось"/>
          <p:cNvSpPr txBox="1"/>
          <p:nvPr/>
        </p:nvSpPr>
        <p:spPr>
          <a:xfrm>
            <a:off x="6286500" y="9317736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E6B73"/>
                </a:solidFill>
                <a:latin typeface="Circe"/>
              </a:rPr>
              <a:t>12,5</a:t>
            </a:r>
          </a:p>
        </p:txBody>
      </p:sp>
      <p:sp>
        <p:nvSpPr>
          <p:cNvPr id="329" name="Ось"/>
          <p:cNvSpPr txBox="1"/>
          <p:nvPr/>
        </p:nvSpPr>
        <p:spPr>
          <a:xfrm>
            <a:off x="5852160" y="9317736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E6B73"/>
                </a:solidFill>
                <a:latin typeface="Circe"/>
              </a:rPr>
              <a:t>15</a:t>
            </a:r>
          </a:p>
        </p:txBody>
      </p:sp>
      <p:sp>
        <p:nvSpPr>
          <p:cNvPr id="330" name="Ось"/>
          <p:cNvSpPr txBox="1"/>
          <p:nvPr/>
        </p:nvSpPr>
        <p:spPr>
          <a:xfrm>
            <a:off x="5417820" y="9317736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E6B73"/>
                </a:solidFill>
                <a:latin typeface="Circe"/>
              </a:rPr>
              <a:t>17,5</a:t>
            </a:r>
          </a:p>
        </p:txBody>
      </p:sp>
      <p:sp>
        <p:nvSpPr>
          <p:cNvPr id="331" name="Ось"/>
          <p:cNvSpPr txBox="1"/>
          <p:nvPr/>
        </p:nvSpPr>
        <p:spPr>
          <a:xfrm>
            <a:off x="4983480" y="9317736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E6B73"/>
                </a:solidFill>
                <a:latin typeface="Circe"/>
              </a:rPr>
              <a:t>20</a:t>
            </a:r>
          </a:p>
        </p:txBody>
      </p:sp>
      <p:sp>
        <p:nvSpPr>
          <p:cNvPr id="332" name="Ось"/>
          <p:cNvSpPr txBox="1"/>
          <p:nvPr/>
        </p:nvSpPr>
        <p:spPr>
          <a:xfrm>
            <a:off x="4549140" y="9317736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E6B73"/>
                </a:solidFill>
                <a:latin typeface="Circe"/>
              </a:rPr>
              <a:t>22,5</a:t>
            </a:r>
          </a:p>
        </p:txBody>
      </p:sp>
      <p:sp>
        <p:nvSpPr>
          <p:cNvPr id="333" name="Ось"/>
          <p:cNvSpPr txBox="1"/>
          <p:nvPr/>
        </p:nvSpPr>
        <p:spPr>
          <a:xfrm>
            <a:off x="9738359" y="9317736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E6B73"/>
                </a:solidFill>
                <a:latin typeface="Circe"/>
              </a:rPr>
              <a:t>0</a:t>
            </a:r>
          </a:p>
        </p:txBody>
      </p:sp>
      <p:sp>
        <p:nvSpPr>
          <p:cNvPr id="334" name="Ось"/>
          <p:cNvSpPr txBox="1"/>
          <p:nvPr/>
        </p:nvSpPr>
        <p:spPr>
          <a:xfrm>
            <a:off x="10286999" y="9317736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E6B73"/>
                </a:solidFill>
                <a:latin typeface="Circe"/>
              </a:rPr>
              <a:t>10</a:t>
            </a:r>
          </a:p>
        </p:txBody>
      </p:sp>
      <p:sp>
        <p:nvSpPr>
          <p:cNvPr id="335" name="Ось"/>
          <p:cNvSpPr txBox="1"/>
          <p:nvPr/>
        </p:nvSpPr>
        <p:spPr>
          <a:xfrm>
            <a:off x="10835639" y="9317736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E6B73"/>
                </a:solidFill>
                <a:latin typeface="Circe"/>
              </a:rPr>
              <a:t>20</a:t>
            </a:r>
          </a:p>
        </p:txBody>
      </p:sp>
      <p:sp>
        <p:nvSpPr>
          <p:cNvPr id="336" name="Ось"/>
          <p:cNvSpPr txBox="1"/>
          <p:nvPr/>
        </p:nvSpPr>
        <p:spPr>
          <a:xfrm>
            <a:off x="11384280" y="9317736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E6B73"/>
                </a:solidFill>
                <a:latin typeface="Circe"/>
              </a:rPr>
              <a:t>30</a:t>
            </a:r>
          </a:p>
        </p:txBody>
      </p:sp>
      <p:sp>
        <p:nvSpPr>
          <p:cNvPr id="337" name="Ось"/>
          <p:cNvSpPr txBox="1"/>
          <p:nvPr/>
        </p:nvSpPr>
        <p:spPr>
          <a:xfrm>
            <a:off x="11932919" y="9317736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E6B73"/>
                </a:solidFill>
                <a:latin typeface="Circe"/>
              </a:rPr>
              <a:t>40</a:t>
            </a:r>
          </a:p>
        </p:txBody>
      </p:sp>
      <p:sp>
        <p:nvSpPr>
          <p:cNvPr id="338" name="Ось"/>
          <p:cNvSpPr txBox="1"/>
          <p:nvPr/>
        </p:nvSpPr>
        <p:spPr>
          <a:xfrm>
            <a:off x="12481559" y="9317736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E6B73"/>
                </a:solidFill>
                <a:latin typeface="Circe"/>
              </a:rPr>
              <a:t>50</a:t>
            </a:r>
          </a:p>
        </p:txBody>
      </p:sp>
      <p:sp>
        <p:nvSpPr>
          <p:cNvPr id="339" name="Ось"/>
          <p:cNvSpPr txBox="1"/>
          <p:nvPr/>
        </p:nvSpPr>
        <p:spPr>
          <a:xfrm>
            <a:off x="13030199" y="9317736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E6B73"/>
                </a:solidFill>
                <a:latin typeface="Circe"/>
              </a:rPr>
              <a:t>60</a:t>
            </a:r>
          </a:p>
        </p:txBody>
      </p:sp>
      <p:sp>
        <p:nvSpPr>
          <p:cNvPr id="340" name="Ось"/>
          <p:cNvSpPr txBox="1"/>
          <p:nvPr/>
        </p:nvSpPr>
        <p:spPr>
          <a:xfrm>
            <a:off x="13578839" y="9317736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E6B73"/>
                </a:solidFill>
                <a:latin typeface="Circe"/>
              </a:rPr>
              <a:t>70</a:t>
            </a:r>
          </a:p>
        </p:txBody>
      </p:sp>
      <p:sp>
        <p:nvSpPr>
          <p:cNvPr id="341" name="Вид деятельности"/>
          <p:cNvSpPr txBox="1"/>
          <p:nvPr/>
        </p:nvSpPr>
        <p:spPr>
          <a:xfrm>
            <a:off x="1069848" y="2048256"/>
            <a:ext cx="361188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>
                <a:solidFill>
                  <a:srgbClr val="062D3F"/>
                </a:solidFill>
                <a:latin typeface="Circe"/>
              </a:rPr>
              <a:t>Сельское хозяйство, рыболовство</a:t>
            </a:r>
          </a:p>
        </p:txBody>
      </p:sp>
      <p:sp>
        <p:nvSpPr>
          <p:cNvPr id="342" name="Занятость"/>
          <p:cNvSpPr/>
          <p:nvPr/>
        </p:nvSpPr>
        <p:spPr>
          <a:xfrm>
            <a:off x="8697772" y="2075688"/>
            <a:ext cx="34747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Значение"/>
          <p:cNvSpPr txBox="1"/>
          <p:nvPr/>
        </p:nvSpPr>
        <p:spPr>
          <a:xfrm>
            <a:off x="8213140" y="2039112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0,2</a:t>
            </a:r>
          </a:p>
        </p:txBody>
      </p:sp>
      <p:sp>
        <p:nvSpPr>
          <p:cNvPr id="344" name="Занятость"/>
          <p:cNvSpPr/>
          <p:nvPr/>
        </p:nvSpPr>
        <p:spPr>
          <a:xfrm>
            <a:off x="7637983" y="2249424"/>
            <a:ext cx="1094536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Значение"/>
          <p:cNvSpPr txBox="1"/>
          <p:nvPr/>
        </p:nvSpPr>
        <p:spPr>
          <a:xfrm>
            <a:off x="7153351" y="2212848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6,3</a:t>
            </a:r>
          </a:p>
        </p:txBody>
      </p:sp>
      <p:sp>
        <p:nvSpPr>
          <p:cNvPr id="346" name="ВГП"/>
          <p:cNvSpPr/>
          <p:nvPr/>
        </p:nvSpPr>
        <p:spPr>
          <a:xfrm>
            <a:off x="10012680" y="2075688"/>
            <a:ext cx="18288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Значение"/>
          <p:cNvSpPr txBox="1"/>
          <p:nvPr/>
        </p:nvSpPr>
        <p:spPr>
          <a:xfrm>
            <a:off x="10067543" y="2039112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0,024</a:t>
            </a:r>
          </a:p>
        </p:txBody>
      </p:sp>
      <p:sp>
        <p:nvSpPr>
          <p:cNvPr id="348" name="ВГП"/>
          <p:cNvSpPr/>
          <p:nvPr/>
        </p:nvSpPr>
        <p:spPr>
          <a:xfrm>
            <a:off x="10012680" y="2249424"/>
            <a:ext cx="257860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Значение"/>
          <p:cNvSpPr txBox="1"/>
          <p:nvPr/>
        </p:nvSpPr>
        <p:spPr>
          <a:xfrm>
            <a:off x="10307116" y="2212848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4,7</a:t>
            </a:r>
          </a:p>
        </p:txBody>
      </p:sp>
      <p:sp>
        <p:nvSpPr>
          <p:cNvPr id="350" name="Производительность Ноябрьск"/>
          <p:cNvSpPr txBox="1"/>
          <p:nvPr/>
        </p:nvSpPr>
        <p:spPr>
          <a:xfrm>
            <a:off x="8778240" y="2057400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B07D00"/>
                </a:solidFill>
                <a:latin typeface="Circe Bold"/>
              </a:rPr>
              <a:t>800</a:t>
            </a:r>
          </a:p>
        </p:txBody>
      </p:sp>
      <p:sp>
        <p:nvSpPr>
          <p:cNvPr id="351" name="Производительность РФ"/>
          <p:cNvSpPr txBox="1"/>
          <p:nvPr/>
        </p:nvSpPr>
        <p:spPr>
          <a:xfrm>
            <a:off x="8778240" y="2221992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2F5D75"/>
                </a:solidFill>
                <a:latin typeface="Circe"/>
              </a:rPr>
              <a:t>862</a:t>
            </a:r>
          </a:p>
        </p:txBody>
      </p:sp>
      <p:sp>
        <p:nvSpPr>
          <p:cNvPr id="352" name="Вид деятельности"/>
          <p:cNvSpPr txBox="1"/>
          <p:nvPr/>
        </p:nvSpPr>
        <p:spPr>
          <a:xfrm>
            <a:off x="1069848" y="2435191"/>
            <a:ext cx="361188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>
                <a:solidFill>
                  <a:srgbClr val="062D3F"/>
                </a:solidFill>
                <a:latin typeface="Circe"/>
              </a:rPr>
              <a:t>Добыча полезных ископаемых</a:t>
            </a:r>
          </a:p>
        </p:txBody>
      </p:sp>
      <p:sp>
        <p:nvSpPr>
          <p:cNvPr id="353" name="Занятость"/>
          <p:cNvSpPr/>
          <p:nvPr/>
        </p:nvSpPr>
        <p:spPr>
          <a:xfrm>
            <a:off x="5796381" y="2462623"/>
            <a:ext cx="2936138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Значение"/>
          <p:cNvSpPr txBox="1"/>
          <p:nvPr/>
        </p:nvSpPr>
        <p:spPr>
          <a:xfrm>
            <a:off x="5311749" y="2426047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16,9</a:t>
            </a:r>
          </a:p>
        </p:txBody>
      </p:sp>
      <p:sp>
        <p:nvSpPr>
          <p:cNvPr id="355" name="Занятость"/>
          <p:cNvSpPr/>
          <p:nvPr/>
        </p:nvSpPr>
        <p:spPr>
          <a:xfrm>
            <a:off x="8454542" y="2636359"/>
            <a:ext cx="277977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Значение"/>
          <p:cNvSpPr txBox="1"/>
          <p:nvPr/>
        </p:nvSpPr>
        <p:spPr>
          <a:xfrm>
            <a:off x="7969910" y="2599783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1,6</a:t>
            </a:r>
          </a:p>
        </p:txBody>
      </p:sp>
      <p:sp>
        <p:nvSpPr>
          <p:cNvPr id="357" name="ВГП"/>
          <p:cNvSpPr/>
          <p:nvPr/>
        </p:nvSpPr>
        <p:spPr>
          <a:xfrm>
            <a:off x="10012680" y="2462623"/>
            <a:ext cx="3527755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Значение"/>
          <p:cNvSpPr txBox="1"/>
          <p:nvPr/>
        </p:nvSpPr>
        <p:spPr>
          <a:xfrm>
            <a:off x="13577011" y="2426047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64,3</a:t>
            </a:r>
          </a:p>
        </p:txBody>
      </p:sp>
      <p:sp>
        <p:nvSpPr>
          <p:cNvPr id="359" name="ВГП"/>
          <p:cNvSpPr/>
          <p:nvPr/>
        </p:nvSpPr>
        <p:spPr>
          <a:xfrm>
            <a:off x="10012680" y="2636359"/>
            <a:ext cx="554126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Значение"/>
          <p:cNvSpPr txBox="1"/>
          <p:nvPr/>
        </p:nvSpPr>
        <p:spPr>
          <a:xfrm>
            <a:off x="10603382" y="2599783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10,1</a:t>
            </a:r>
          </a:p>
        </p:txBody>
      </p:sp>
      <p:sp>
        <p:nvSpPr>
          <p:cNvPr id="361" name="Производительность Ноябрьск"/>
          <p:cNvSpPr txBox="1"/>
          <p:nvPr/>
        </p:nvSpPr>
        <p:spPr>
          <a:xfrm>
            <a:off x="8778240" y="2444335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B07D00"/>
                </a:solidFill>
                <a:latin typeface="Circe Bold"/>
              </a:rPr>
              <a:t>31 400</a:t>
            </a:r>
          </a:p>
        </p:txBody>
      </p:sp>
      <p:sp>
        <p:nvSpPr>
          <p:cNvPr id="362" name="Производительность РФ"/>
          <p:cNvSpPr txBox="1"/>
          <p:nvPr/>
        </p:nvSpPr>
        <p:spPr>
          <a:xfrm>
            <a:off x="8778240" y="2608927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2F5D75"/>
                </a:solidFill>
                <a:latin typeface="Circe"/>
              </a:rPr>
              <a:t>7 253</a:t>
            </a:r>
          </a:p>
        </p:txBody>
      </p:sp>
      <p:sp>
        <p:nvSpPr>
          <p:cNvPr id="363" name="Вид деятельности"/>
          <p:cNvSpPr txBox="1"/>
          <p:nvPr/>
        </p:nvSpPr>
        <p:spPr>
          <a:xfrm>
            <a:off x="1069848" y="2822127"/>
            <a:ext cx="361188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>
                <a:solidFill>
                  <a:srgbClr val="062D3F"/>
                </a:solidFill>
                <a:latin typeface="Circe"/>
              </a:rPr>
              <a:t>Обрабатывающие производства</a:t>
            </a:r>
          </a:p>
        </p:txBody>
      </p:sp>
      <p:sp>
        <p:nvSpPr>
          <p:cNvPr id="364" name="Занятость"/>
          <p:cNvSpPr/>
          <p:nvPr/>
        </p:nvSpPr>
        <p:spPr>
          <a:xfrm>
            <a:off x="7968081" y="2849559"/>
            <a:ext cx="764438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Значение"/>
          <p:cNvSpPr txBox="1"/>
          <p:nvPr/>
        </p:nvSpPr>
        <p:spPr>
          <a:xfrm>
            <a:off x="7483449" y="2812983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4,4</a:t>
            </a:r>
          </a:p>
        </p:txBody>
      </p:sp>
      <p:sp>
        <p:nvSpPr>
          <p:cNvPr id="366" name="Занятость"/>
          <p:cNvSpPr/>
          <p:nvPr/>
        </p:nvSpPr>
        <p:spPr>
          <a:xfrm>
            <a:off x="6282842" y="3023295"/>
            <a:ext cx="2449677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Значение"/>
          <p:cNvSpPr txBox="1"/>
          <p:nvPr/>
        </p:nvSpPr>
        <p:spPr>
          <a:xfrm>
            <a:off x="5798210" y="2986719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14,1</a:t>
            </a:r>
          </a:p>
        </p:txBody>
      </p:sp>
      <p:sp>
        <p:nvSpPr>
          <p:cNvPr id="368" name="ВГП"/>
          <p:cNvSpPr/>
          <p:nvPr/>
        </p:nvSpPr>
        <p:spPr>
          <a:xfrm>
            <a:off x="10012680" y="2849559"/>
            <a:ext cx="630936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Значение"/>
          <p:cNvSpPr txBox="1"/>
          <p:nvPr/>
        </p:nvSpPr>
        <p:spPr>
          <a:xfrm>
            <a:off x="10680191" y="2812983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11,5</a:t>
            </a:r>
          </a:p>
        </p:txBody>
      </p:sp>
      <p:sp>
        <p:nvSpPr>
          <p:cNvPr id="370" name="ВГП"/>
          <p:cNvSpPr/>
          <p:nvPr/>
        </p:nvSpPr>
        <p:spPr>
          <a:xfrm>
            <a:off x="10012680" y="3023295"/>
            <a:ext cx="905256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Значение"/>
          <p:cNvSpPr txBox="1"/>
          <p:nvPr/>
        </p:nvSpPr>
        <p:spPr>
          <a:xfrm>
            <a:off x="10954511" y="2986719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16,5</a:t>
            </a:r>
          </a:p>
        </p:txBody>
      </p:sp>
      <p:sp>
        <p:nvSpPr>
          <p:cNvPr id="372" name="Производительность Ноябрьск"/>
          <p:cNvSpPr txBox="1"/>
          <p:nvPr/>
        </p:nvSpPr>
        <p:spPr>
          <a:xfrm>
            <a:off x="8778240" y="2831271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B07D00"/>
                </a:solidFill>
                <a:latin typeface="Circe Bold"/>
              </a:rPr>
              <a:t>21 500</a:t>
            </a:r>
          </a:p>
        </p:txBody>
      </p:sp>
      <p:sp>
        <p:nvSpPr>
          <p:cNvPr id="373" name="Производительность РФ"/>
          <p:cNvSpPr txBox="1"/>
          <p:nvPr/>
        </p:nvSpPr>
        <p:spPr>
          <a:xfrm>
            <a:off x="8778240" y="2995863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2F5D75"/>
                </a:solidFill>
                <a:latin typeface="Circe"/>
              </a:rPr>
              <a:t>1 373</a:t>
            </a:r>
          </a:p>
        </p:txBody>
      </p:sp>
      <p:sp>
        <p:nvSpPr>
          <p:cNvPr id="374" name="Вид деятельности"/>
          <p:cNvSpPr txBox="1"/>
          <p:nvPr/>
        </p:nvSpPr>
        <p:spPr>
          <a:xfrm>
            <a:off x="1069848" y="3209062"/>
            <a:ext cx="361188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>
                <a:solidFill>
                  <a:srgbClr val="062D3F"/>
                </a:solidFill>
                <a:latin typeface="Circe"/>
              </a:rPr>
              <a:t>Обеспечение электроэнергией и газом</a:t>
            </a:r>
          </a:p>
        </p:txBody>
      </p:sp>
      <p:sp>
        <p:nvSpPr>
          <p:cNvPr id="375" name="Занятость"/>
          <p:cNvSpPr/>
          <p:nvPr/>
        </p:nvSpPr>
        <p:spPr>
          <a:xfrm>
            <a:off x="7811719" y="3236494"/>
            <a:ext cx="920800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Значение"/>
          <p:cNvSpPr txBox="1"/>
          <p:nvPr/>
        </p:nvSpPr>
        <p:spPr>
          <a:xfrm>
            <a:off x="7327087" y="3199918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5,3</a:t>
            </a:r>
          </a:p>
        </p:txBody>
      </p:sp>
      <p:sp>
        <p:nvSpPr>
          <p:cNvPr id="377" name="Занятость"/>
          <p:cNvSpPr/>
          <p:nvPr/>
        </p:nvSpPr>
        <p:spPr>
          <a:xfrm>
            <a:off x="8350300" y="3410230"/>
            <a:ext cx="382219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Значение"/>
          <p:cNvSpPr txBox="1"/>
          <p:nvPr/>
        </p:nvSpPr>
        <p:spPr>
          <a:xfrm>
            <a:off x="7865668" y="3373654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2,2</a:t>
            </a:r>
          </a:p>
        </p:txBody>
      </p:sp>
      <p:sp>
        <p:nvSpPr>
          <p:cNvPr id="379" name="ВГП"/>
          <p:cNvSpPr/>
          <p:nvPr/>
        </p:nvSpPr>
        <p:spPr>
          <a:xfrm>
            <a:off x="10012680" y="3236494"/>
            <a:ext cx="65836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Значение"/>
          <p:cNvSpPr txBox="1"/>
          <p:nvPr/>
        </p:nvSpPr>
        <p:spPr>
          <a:xfrm>
            <a:off x="10115092" y="3199918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1,2</a:t>
            </a:r>
          </a:p>
        </p:txBody>
      </p:sp>
      <p:sp>
        <p:nvSpPr>
          <p:cNvPr id="381" name="ВГП"/>
          <p:cNvSpPr/>
          <p:nvPr/>
        </p:nvSpPr>
        <p:spPr>
          <a:xfrm>
            <a:off x="10012680" y="3410230"/>
            <a:ext cx="164592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Значение"/>
          <p:cNvSpPr txBox="1"/>
          <p:nvPr/>
        </p:nvSpPr>
        <p:spPr>
          <a:xfrm>
            <a:off x="10213847" y="3373654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3,0</a:t>
            </a:r>
          </a:p>
        </p:txBody>
      </p:sp>
      <p:sp>
        <p:nvSpPr>
          <p:cNvPr id="383" name="Производительность Ноябрьск"/>
          <p:cNvSpPr txBox="1"/>
          <p:nvPr/>
        </p:nvSpPr>
        <p:spPr>
          <a:xfrm>
            <a:off x="8778240" y="3218206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B07D00"/>
                </a:solidFill>
                <a:latin typeface="Circe Bold"/>
              </a:rPr>
              <a:t>1 900</a:t>
            </a:r>
          </a:p>
        </p:txBody>
      </p:sp>
      <p:sp>
        <p:nvSpPr>
          <p:cNvPr id="384" name="Производительность РФ"/>
          <p:cNvSpPr txBox="1"/>
          <p:nvPr/>
        </p:nvSpPr>
        <p:spPr>
          <a:xfrm>
            <a:off x="8778240" y="3382798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2F5D75"/>
                </a:solidFill>
                <a:latin typeface="Circe"/>
              </a:rPr>
              <a:t>1 550</a:t>
            </a:r>
          </a:p>
        </p:txBody>
      </p:sp>
      <p:sp>
        <p:nvSpPr>
          <p:cNvPr id="385" name="Вид деятельности"/>
          <p:cNvSpPr txBox="1"/>
          <p:nvPr/>
        </p:nvSpPr>
        <p:spPr>
          <a:xfrm>
            <a:off x="1069848" y="3595998"/>
            <a:ext cx="361188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>
                <a:solidFill>
                  <a:srgbClr val="062D3F"/>
                </a:solidFill>
                <a:latin typeface="Circe"/>
              </a:rPr>
              <a:t>Водоснабжение, организация сбора и утилизация отходов</a:t>
            </a:r>
          </a:p>
        </p:txBody>
      </p:sp>
      <p:sp>
        <p:nvSpPr>
          <p:cNvPr id="386" name="Занятость"/>
          <p:cNvSpPr/>
          <p:nvPr/>
        </p:nvSpPr>
        <p:spPr>
          <a:xfrm>
            <a:off x="8506663" y="3623430"/>
            <a:ext cx="225856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Значение"/>
          <p:cNvSpPr txBox="1"/>
          <p:nvPr/>
        </p:nvSpPr>
        <p:spPr>
          <a:xfrm>
            <a:off x="8022031" y="3586854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1,3</a:t>
            </a:r>
          </a:p>
        </p:txBody>
      </p:sp>
      <p:sp>
        <p:nvSpPr>
          <p:cNvPr id="388" name="Занятость"/>
          <p:cNvSpPr/>
          <p:nvPr/>
        </p:nvSpPr>
        <p:spPr>
          <a:xfrm>
            <a:off x="8558784" y="3797166"/>
            <a:ext cx="173736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Значение"/>
          <p:cNvSpPr txBox="1"/>
          <p:nvPr/>
        </p:nvSpPr>
        <p:spPr>
          <a:xfrm>
            <a:off x="8074152" y="3760590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1,0</a:t>
            </a:r>
          </a:p>
        </p:txBody>
      </p:sp>
      <p:sp>
        <p:nvSpPr>
          <p:cNvPr id="390" name="ВГП"/>
          <p:cNvSpPr/>
          <p:nvPr/>
        </p:nvSpPr>
        <p:spPr>
          <a:xfrm>
            <a:off x="10012680" y="3623430"/>
            <a:ext cx="32918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Значение"/>
          <p:cNvSpPr txBox="1"/>
          <p:nvPr/>
        </p:nvSpPr>
        <p:spPr>
          <a:xfrm>
            <a:off x="10082174" y="3586854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0,6</a:t>
            </a:r>
          </a:p>
        </p:txBody>
      </p:sp>
      <p:sp>
        <p:nvSpPr>
          <p:cNvPr id="392" name="ВГП"/>
          <p:cNvSpPr/>
          <p:nvPr/>
        </p:nvSpPr>
        <p:spPr>
          <a:xfrm>
            <a:off x="10012680" y="3797166"/>
            <a:ext cx="32918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Значение"/>
          <p:cNvSpPr txBox="1"/>
          <p:nvPr/>
        </p:nvSpPr>
        <p:spPr>
          <a:xfrm>
            <a:off x="10082174" y="3760590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0,6</a:t>
            </a:r>
          </a:p>
        </p:txBody>
      </p:sp>
      <p:sp>
        <p:nvSpPr>
          <p:cNvPr id="394" name="Производительность Ноябрьск"/>
          <p:cNvSpPr txBox="1"/>
          <p:nvPr/>
        </p:nvSpPr>
        <p:spPr>
          <a:xfrm>
            <a:off x="8778240" y="3605142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B07D00"/>
                </a:solidFill>
                <a:latin typeface="Circe Bold"/>
              </a:rPr>
              <a:t>4 100</a:t>
            </a:r>
          </a:p>
        </p:txBody>
      </p:sp>
      <p:sp>
        <p:nvSpPr>
          <p:cNvPr id="395" name="Производительность РФ"/>
          <p:cNvSpPr txBox="1"/>
          <p:nvPr/>
        </p:nvSpPr>
        <p:spPr>
          <a:xfrm>
            <a:off x="8778240" y="3769734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2F5D75"/>
                </a:solidFill>
                <a:latin typeface="Circe"/>
              </a:rPr>
              <a:t>733</a:t>
            </a:r>
          </a:p>
        </p:txBody>
      </p:sp>
      <p:sp>
        <p:nvSpPr>
          <p:cNvPr id="396" name="Вид деятельности"/>
          <p:cNvSpPr txBox="1"/>
          <p:nvPr/>
        </p:nvSpPr>
        <p:spPr>
          <a:xfrm>
            <a:off x="1069848" y="3982933"/>
            <a:ext cx="361188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>
                <a:solidFill>
                  <a:srgbClr val="062D3F"/>
                </a:solidFill>
                <a:latin typeface="Circe"/>
              </a:rPr>
              <a:t>Строительство</a:t>
            </a:r>
          </a:p>
        </p:txBody>
      </p:sp>
      <p:sp>
        <p:nvSpPr>
          <p:cNvPr id="397" name="Занятость"/>
          <p:cNvSpPr/>
          <p:nvPr/>
        </p:nvSpPr>
        <p:spPr>
          <a:xfrm>
            <a:off x="7724851" y="4010365"/>
            <a:ext cx="1007668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Значение"/>
          <p:cNvSpPr txBox="1"/>
          <p:nvPr/>
        </p:nvSpPr>
        <p:spPr>
          <a:xfrm>
            <a:off x="7240219" y="3973789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5,8</a:t>
            </a:r>
          </a:p>
        </p:txBody>
      </p:sp>
      <p:sp>
        <p:nvSpPr>
          <p:cNvPr id="399" name="Занятость"/>
          <p:cNvSpPr/>
          <p:nvPr/>
        </p:nvSpPr>
        <p:spPr>
          <a:xfrm>
            <a:off x="7134148" y="4184101"/>
            <a:ext cx="1598371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Значение"/>
          <p:cNvSpPr txBox="1"/>
          <p:nvPr/>
        </p:nvSpPr>
        <p:spPr>
          <a:xfrm>
            <a:off x="6649516" y="4147525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9,2</a:t>
            </a:r>
          </a:p>
        </p:txBody>
      </p:sp>
      <p:sp>
        <p:nvSpPr>
          <p:cNvPr id="401" name="ВГП"/>
          <p:cNvSpPr/>
          <p:nvPr/>
        </p:nvSpPr>
        <p:spPr>
          <a:xfrm>
            <a:off x="10012680" y="4010365"/>
            <a:ext cx="197510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Значение"/>
          <p:cNvSpPr txBox="1"/>
          <p:nvPr/>
        </p:nvSpPr>
        <p:spPr>
          <a:xfrm>
            <a:off x="10246766" y="3973789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3,6</a:t>
            </a:r>
          </a:p>
        </p:txBody>
      </p:sp>
      <p:sp>
        <p:nvSpPr>
          <p:cNvPr id="403" name="ВГП"/>
          <p:cNvSpPr/>
          <p:nvPr/>
        </p:nvSpPr>
        <p:spPr>
          <a:xfrm>
            <a:off x="10012680" y="4184101"/>
            <a:ext cx="318211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Значение"/>
          <p:cNvSpPr txBox="1"/>
          <p:nvPr/>
        </p:nvSpPr>
        <p:spPr>
          <a:xfrm>
            <a:off x="10367467" y="4147525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5,8</a:t>
            </a:r>
          </a:p>
        </p:txBody>
      </p:sp>
      <p:sp>
        <p:nvSpPr>
          <p:cNvPr id="405" name="Производительность Ноябрьск"/>
          <p:cNvSpPr txBox="1"/>
          <p:nvPr/>
        </p:nvSpPr>
        <p:spPr>
          <a:xfrm>
            <a:off x="8778240" y="3992077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B07D00"/>
                </a:solidFill>
                <a:latin typeface="Circe Bold"/>
              </a:rPr>
              <a:t>5 100</a:t>
            </a:r>
          </a:p>
        </p:txBody>
      </p:sp>
      <p:sp>
        <p:nvSpPr>
          <p:cNvPr id="406" name="Производительность РФ"/>
          <p:cNvSpPr txBox="1"/>
          <p:nvPr/>
        </p:nvSpPr>
        <p:spPr>
          <a:xfrm>
            <a:off x="8778240" y="4156669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2F5D75"/>
                </a:solidFill>
                <a:latin typeface="Circe"/>
              </a:rPr>
              <a:t>740</a:t>
            </a:r>
          </a:p>
        </p:txBody>
      </p:sp>
      <p:sp>
        <p:nvSpPr>
          <p:cNvPr id="407" name="Вид деятельности"/>
          <p:cNvSpPr txBox="1"/>
          <p:nvPr/>
        </p:nvSpPr>
        <p:spPr>
          <a:xfrm>
            <a:off x="1069848" y="4369869"/>
            <a:ext cx="361188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>
                <a:solidFill>
                  <a:srgbClr val="062D3F"/>
                </a:solidFill>
                <a:latin typeface="Circe"/>
              </a:rPr>
              <a:t>Торговля, ремонт автотранспортных средств</a:t>
            </a:r>
          </a:p>
        </p:txBody>
      </p:sp>
      <p:sp>
        <p:nvSpPr>
          <p:cNvPr id="408" name="Занятость"/>
          <p:cNvSpPr/>
          <p:nvPr/>
        </p:nvSpPr>
        <p:spPr>
          <a:xfrm>
            <a:off x="7811719" y="4397301"/>
            <a:ext cx="920800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Значение"/>
          <p:cNvSpPr txBox="1"/>
          <p:nvPr/>
        </p:nvSpPr>
        <p:spPr>
          <a:xfrm>
            <a:off x="7327087" y="4360725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5,3</a:t>
            </a:r>
          </a:p>
        </p:txBody>
      </p:sp>
      <p:sp>
        <p:nvSpPr>
          <p:cNvPr id="410" name="Занятость"/>
          <p:cNvSpPr/>
          <p:nvPr/>
        </p:nvSpPr>
        <p:spPr>
          <a:xfrm>
            <a:off x="5483656" y="4571037"/>
            <a:ext cx="3248863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Значение"/>
          <p:cNvSpPr txBox="1"/>
          <p:nvPr/>
        </p:nvSpPr>
        <p:spPr>
          <a:xfrm>
            <a:off x="4999024" y="4534461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18,7</a:t>
            </a:r>
          </a:p>
        </p:txBody>
      </p:sp>
      <p:sp>
        <p:nvSpPr>
          <p:cNvPr id="412" name="ВГП"/>
          <p:cNvSpPr/>
          <p:nvPr/>
        </p:nvSpPr>
        <p:spPr>
          <a:xfrm>
            <a:off x="10012680" y="4397301"/>
            <a:ext cx="54864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Значение"/>
          <p:cNvSpPr txBox="1"/>
          <p:nvPr/>
        </p:nvSpPr>
        <p:spPr>
          <a:xfrm>
            <a:off x="10104119" y="4360725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1,0</a:t>
            </a:r>
          </a:p>
        </p:txBody>
      </p:sp>
      <p:sp>
        <p:nvSpPr>
          <p:cNvPr id="414" name="ВГП"/>
          <p:cNvSpPr/>
          <p:nvPr/>
        </p:nvSpPr>
        <p:spPr>
          <a:xfrm>
            <a:off x="10012680" y="4571037"/>
            <a:ext cx="872337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Значение"/>
          <p:cNvSpPr txBox="1"/>
          <p:nvPr/>
        </p:nvSpPr>
        <p:spPr>
          <a:xfrm>
            <a:off x="10921593" y="4534461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15,9</a:t>
            </a:r>
          </a:p>
        </p:txBody>
      </p:sp>
      <p:sp>
        <p:nvSpPr>
          <p:cNvPr id="416" name="Производительность Ноябрьск"/>
          <p:cNvSpPr txBox="1"/>
          <p:nvPr/>
        </p:nvSpPr>
        <p:spPr>
          <a:xfrm>
            <a:off x="8778240" y="4379013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B07D00"/>
                </a:solidFill>
                <a:latin typeface="Circe Bold"/>
              </a:rPr>
              <a:t>1 500</a:t>
            </a:r>
          </a:p>
        </p:txBody>
      </p:sp>
      <p:sp>
        <p:nvSpPr>
          <p:cNvPr id="417" name="Производительность РФ"/>
          <p:cNvSpPr txBox="1"/>
          <p:nvPr/>
        </p:nvSpPr>
        <p:spPr>
          <a:xfrm>
            <a:off x="8778240" y="4543605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2F5D75"/>
                </a:solidFill>
                <a:latin typeface="Circe"/>
              </a:rPr>
              <a:t>995</a:t>
            </a:r>
          </a:p>
        </p:txBody>
      </p:sp>
      <p:sp>
        <p:nvSpPr>
          <p:cNvPr id="418" name="Вид деятельности"/>
          <p:cNvSpPr txBox="1"/>
          <p:nvPr/>
        </p:nvSpPr>
        <p:spPr>
          <a:xfrm>
            <a:off x="1069848" y="4756805"/>
            <a:ext cx="361188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>
                <a:solidFill>
                  <a:srgbClr val="062D3F"/>
                </a:solidFill>
                <a:latin typeface="Circe"/>
              </a:rPr>
              <a:t>Транспортировка и хранение</a:t>
            </a:r>
          </a:p>
        </p:txBody>
      </p:sp>
      <p:sp>
        <p:nvSpPr>
          <p:cNvPr id="419" name="Занятость"/>
          <p:cNvSpPr/>
          <p:nvPr/>
        </p:nvSpPr>
        <p:spPr>
          <a:xfrm>
            <a:off x="6456578" y="4784237"/>
            <a:ext cx="2275941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Значение"/>
          <p:cNvSpPr txBox="1"/>
          <p:nvPr/>
        </p:nvSpPr>
        <p:spPr>
          <a:xfrm>
            <a:off x="5971946" y="4747661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13,1</a:t>
            </a:r>
          </a:p>
        </p:txBody>
      </p:sp>
      <p:sp>
        <p:nvSpPr>
          <p:cNvPr id="421" name="Занятость"/>
          <p:cNvSpPr/>
          <p:nvPr/>
        </p:nvSpPr>
        <p:spPr>
          <a:xfrm>
            <a:off x="7342632" y="4957973"/>
            <a:ext cx="1389888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Значение"/>
          <p:cNvSpPr txBox="1"/>
          <p:nvPr/>
        </p:nvSpPr>
        <p:spPr>
          <a:xfrm>
            <a:off x="6858000" y="4921397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8,0</a:t>
            </a:r>
          </a:p>
        </p:txBody>
      </p:sp>
      <p:sp>
        <p:nvSpPr>
          <p:cNvPr id="423" name="ВГП"/>
          <p:cNvSpPr/>
          <p:nvPr/>
        </p:nvSpPr>
        <p:spPr>
          <a:xfrm>
            <a:off x="10012680" y="4784237"/>
            <a:ext cx="246888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Значение"/>
          <p:cNvSpPr txBox="1"/>
          <p:nvPr/>
        </p:nvSpPr>
        <p:spPr>
          <a:xfrm>
            <a:off x="10296143" y="4747661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4,5</a:t>
            </a:r>
          </a:p>
        </p:txBody>
      </p:sp>
      <p:sp>
        <p:nvSpPr>
          <p:cNvPr id="425" name="ВГП"/>
          <p:cNvSpPr/>
          <p:nvPr/>
        </p:nvSpPr>
        <p:spPr>
          <a:xfrm>
            <a:off x="10012680" y="4957973"/>
            <a:ext cx="395020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Значение"/>
          <p:cNvSpPr txBox="1"/>
          <p:nvPr/>
        </p:nvSpPr>
        <p:spPr>
          <a:xfrm>
            <a:off x="10444276" y="4921397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7,2</a:t>
            </a:r>
          </a:p>
        </p:txBody>
      </p:sp>
      <p:sp>
        <p:nvSpPr>
          <p:cNvPr id="427" name="Производительность Ноябрьск"/>
          <p:cNvSpPr txBox="1"/>
          <p:nvPr/>
        </p:nvSpPr>
        <p:spPr>
          <a:xfrm>
            <a:off x="8778240" y="4765949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B07D00"/>
                </a:solidFill>
                <a:latin typeface="Circe Bold"/>
              </a:rPr>
              <a:t>2 800</a:t>
            </a:r>
          </a:p>
        </p:txBody>
      </p:sp>
      <p:sp>
        <p:nvSpPr>
          <p:cNvPr id="428" name="Производительность РФ"/>
          <p:cNvSpPr txBox="1"/>
          <p:nvPr/>
        </p:nvSpPr>
        <p:spPr>
          <a:xfrm>
            <a:off x="8778240" y="4930541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2F5D75"/>
                </a:solidFill>
                <a:latin typeface="Circe"/>
              </a:rPr>
              <a:t>1 056</a:t>
            </a:r>
          </a:p>
        </p:txBody>
      </p:sp>
      <p:sp>
        <p:nvSpPr>
          <p:cNvPr id="429" name="Вид деятельности"/>
          <p:cNvSpPr txBox="1"/>
          <p:nvPr/>
        </p:nvSpPr>
        <p:spPr>
          <a:xfrm>
            <a:off x="1069848" y="5143740"/>
            <a:ext cx="361188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>
                <a:solidFill>
                  <a:srgbClr val="062D3F"/>
                </a:solidFill>
                <a:latin typeface="Circe"/>
              </a:rPr>
              <a:t>Гостиницы и предприятия общественного питания</a:t>
            </a:r>
          </a:p>
        </p:txBody>
      </p:sp>
      <p:sp>
        <p:nvSpPr>
          <p:cNvPr id="430" name="Занятость"/>
          <p:cNvSpPr/>
          <p:nvPr/>
        </p:nvSpPr>
        <p:spPr>
          <a:xfrm>
            <a:off x="7968081" y="5171172"/>
            <a:ext cx="764438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Значение"/>
          <p:cNvSpPr txBox="1"/>
          <p:nvPr/>
        </p:nvSpPr>
        <p:spPr>
          <a:xfrm>
            <a:off x="7483449" y="5134596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4,4</a:t>
            </a:r>
          </a:p>
        </p:txBody>
      </p:sp>
      <p:sp>
        <p:nvSpPr>
          <p:cNvPr id="432" name="Занятость"/>
          <p:cNvSpPr/>
          <p:nvPr/>
        </p:nvSpPr>
        <p:spPr>
          <a:xfrm>
            <a:off x="8280806" y="5344908"/>
            <a:ext cx="451713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Значение"/>
          <p:cNvSpPr txBox="1"/>
          <p:nvPr/>
        </p:nvSpPr>
        <p:spPr>
          <a:xfrm>
            <a:off x="7796174" y="5308332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2,6</a:t>
            </a:r>
          </a:p>
        </p:txBody>
      </p:sp>
      <p:sp>
        <p:nvSpPr>
          <p:cNvPr id="434" name="ВГП"/>
          <p:cNvSpPr/>
          <p:nvPr/>
        </p:nvSpPr>
        <p:spPr>
          <a:xfrm>
            <a:off x="10012680" y="5171172"/>
            <a:ext cx="43891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Значение"/>
          <p:cNvSpPr txBox="1"/>
          <p:nvPr/>
        </p:nvSpPr>
        <p:spPr>
          <a:xfrm>
            <a:off x="10093147" y="5134596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0,8</a:t>
            </a:r>
          </a:p>
        </p:txBody>
      </p:sp>
      <p:sp>
        <p:nvSpPr>
          <p:cNvPr id="436" name="ВГП"/>
          <p:cNvSpPr/>
          <p:nvPr/>
        </p:nvSpPr>
        <p:spPr>
          <a:xfrm>
            <a:off x="10012680" y="5344908"/>
            <a:ext cx="54864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Значение"/>
          <p:cNvSpPr txBox="1"/>
          <p:nvPr/>
        </p:nvSpPr>
        <p:spPr>
          <a:xfrm>
            <a:off x="10104119" y="5308332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1,0</a:t>
            </a:r>
          </a:p>
        </p:txBody>
      </p:sp>
      <p:sp>
        <p:nvSpPr>
          <p:cNvPr id="438" name="Производительность Ноябрьск"/>
          <p:cNvSpPr txBox="1"/>
          <p:nvPr/>
        </p:nvSpPr>
        <p:spPr>
          <a:xfrm>
            <a:off x="8778240" y="5152884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B07D00"/>
                </a:solidFill>
                <a:latin typeface="Circe Bold"/>
              </a:rPr>
              <a:t>1 400</a:t>
            </a:r>
          </a:p>
        </p:txBody>
      </p:sp>
      <p:sp>
        <p:nvSpPr>
          <p:cNvPr id="439" name="Производительность РФ"/>
          <p:cNvSpPr txBox="1"/>
          <p:nvPr/>
        </p:nvSpPr>
        <p:spPr>
          <a:xfrm>
            <a:off x="8778240" y="5317476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2F5D75"/>
                </a:solidFill>
                <a:latin typeface="Circe"/>
              </a:rPr>
              <a:t>436</a:t>
            </a:r>
          </a:p>
        </p:txBody>
      </p:sp>
      <p:sp>
        <p:nvSpPr>
          <p:cNvPr id="440" name="Вид деятельности"/>
          <p:cNvSpPr txBox="1"/>
          <p:nvPr/>
        </p:nvSpPr>
        <p:spPr>
          <a:xfrm>
            <a:off x="1069848" y="5530676"/>
            <a:ext cx="361188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>
                <a:solidFill>
                  <a:srgbClr val="062D3F"/>
                </a:solidFill>
                <a:latin typeface="Circe"/>
              </a:rPr>
              <a:t>Информация и связь</a:t>
            </a:r>
          </a:p>
        </p:txBody>
      </p:sp>
      <p:sp>
        <p:nvSpPr>
          <p:cNvPr id="441" name="Занятость"/>
          <p:cNvSpPr/>
          <p:nvPr/>
        </p:nvSpPr>
        <p:spPr>
          <a:xfrm>
            <a:off x="8437168" y="5558108"/>
            <a:ext cx="295351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Значение"/>
          <p:cNvSpPr txBox="1"/>
          <p:nvPr/>
        </p:nvSpPr>
        <p:spPr>
          <a:xfrm>
            <a:off x="7952536" y="5521532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1,7</a:t>
            </a:r>
          </a:p>
        </p:txBody>
      </p:sp>
      <p:sp>
        <p:nvSpPr>
          <p:cNvPr id="443" name="Занятость"/>
          <p:cNvSpPr/>
          <p:nvPr/>
        </p:nvSpPr>
        <p:spPr>
          <a:xfrm>
            <a:off x="8350300" y="5731844"/>
            <a:ext cx="382219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Значение"/>
          <p:cNvSpPr txBox="1"/>
          <p:nvPr/>
        </p:nvSpPr>
        <p:spPr>
          <a:xfrm>
            <a:off x="7865668" y="5695268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2,2</a:t>
            </a:r>
          </a:p>
        </p:txBody>
      </p:sp>
      <p:sp>
        <p:nvSpPr>
          <p:cNvPr id="445" name="ВГП"/>
          <p:cNvSpPr/>
          <p:nvPr/>
        </p:nvSpPr>
        <p:spPr>
          <a:xfrm>
            <a:off x="10012680" y="5558108"/>
            <a:ext cx="27432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Значение"/>
          <p:cNvSpPr txBox="1"/>
          <p:nvPr/>
        </p:nvSpPr>
        <p:spPr>
          <a:xfrm>
            <a:off x="10076687" y="5521532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0,5</a:t>
            </a:r>
          </a:p>
        </p:txBody>
      </p:sp>
      <p:sp>
        <p:nvSpPr>
          <p:cNvPr id="447" name="ВГП"/>
          <p:cNvSpPr/>
          <p:nvPr/>
        </p:nvSpPr>
        <p:spPr>
          <a:xfrm>
            <a:off x="10012680" y="5731844"/>
            <a:ext cx="202996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Значение"/>
          <p:cNvSpPr txBox="1"/>
          <p:nvPr/>
        </p:nvSpPr>
        <p:spPr>
          <a:xfrm>
            <a:off x="10252252" y="5695268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3,7</a:t>
            </a:r>
          </a:p>
        </p:txBody>
      </p:sp>
      <p:sp>
        <p:nvSpPr>
          <p:cNvPr id="449" name="Производительность Ноябрьск"/>
          <p:cNvSpPr txBox="1"/>
          <p:nvPr/>
        </p:nvSpPr>
        <p:spPr>
          <a:xfrm>
            <a:off x="8778240" y="5539820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B07D00"/>
                </a:solidFill>
                <a:latin typeface="Circe Bold"/>
              </a:rPr>
              <a:t>2 300</a:t>
            </a:r>
          </a:p>
        </p:txBody>
      </p:sp>
      <p:sp>
        <p:nvSpPr>
          <p:cNvPr id="450" name="Производительность РФ"/>
          <p:cNvSpPr txBox="1"/>
          <p:nvPr/>
        </p:nvSpPr>
        <p:spPr>
          <a:xfrm>
            <a:off x="8778240" y="5704412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2F5D75"/>
                </a:solidFill>
                <a:latin typeface="Circe"/>
              </a:rPr>
              <a:t>1 985</a:t>
            </a:r>
          </a:p>
        </p:txBody>
      </p:sp>
      <p:sp>
        <p:nvSpPr>
          <p:cNvPr id="451" name="Вид деятельности"/>
          <p:cNvSpPr txBox="1"/>
          <p:nvPr/>
        </p:nvSpPr>
        <p:spPr>
          <a:xfrm>
            <a:off x="1069848" y="5917611"/>
            <a:ext cx="361188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>
                <a:solidFill>
                  <a:srgbClr val="062D3F"/>
                </a:solidFill>
                <a:latin typeface="Circe"/>
              </a:rPr>
              <a:t>Финансы и страхование</a:t>
            </a:r>
          </a:p>
        </p:txBody>
      </p:sp>
      <p:sp>
        <p:nvSpPr>
          <p:cNvPr id="452" name="Занятость"/>
          <p:cNvSpPr/>
          <p:nvPr/>
        </p:nvSpPr>
        <p:spPr>
          <a:xfrm>
            <a:off x="8628278" y="5945043"/>
            <a:ext cx="104241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Значение"/>
          <p:cNvSpPr txBox="1"/>
          <p:nvPr/>
        </p:nvSpPr>
        <p:spPr>
          <a:xfrm>
            <a:off x="8143646" y="5908467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0,6</a:t>
            </a:r>
          </a:p>
        </p:txBody>
      </p:sp>
      <p:sp>
        <p:nvSpPr>
          <p:cNvPr id="454" name="Занятость"/>
          <p:cNvSpPr/>
          <p:nvPr/>
        </p:nvSpPr>
        <p:spPr>
          <a:xfrm>
            <a:off x="8332927" y="6118779"/>
            <a:ext cx="399592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Значение"/>
          <p:cNvSpPr txBox="1"/>
          <p:nvPr/>
        </p:nvSpPr>
        <p:spPr>
          <a:xfrm>
            <a:off x="7848295" y="6082203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2,3</a:t>
            </a:r>
          </a:p>
        </p:txBody>
      </p:sp>
      <p:sp>
        <p:nvSpPr>
          <p:cNvPr id="456" name="ВГП"/>
          <p:cNvSpPr/>
          <p:nvPr/>
        </p:nvSpPr>
        <p:spPr>
          <a:xfrm>
            <a:off x="10012680" y="5945043"/>
            <a:ext cx="18288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Значение"/>
          <p:cNvSpPr txBox="1"/>
          <p:nvPr/>
        </p:nvSpPr>
        <p:spPr>
          <a:xfrm>
            <a:off x="10067543" y="5908467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0,18</a:t>
            </a:r>
          </a:p>
        </p:txBody>
      </p:sp>
      <p:sp>
        <p:nvSpPr>
          <p:cNvPr id="458" name="ВГП"/>
          <p:cNvSpPr/>
          <p:nvPr/>
        </p:nvSpPr>
        <p:spPr>
          <a:xfrm>
            <a:off x="10012680" y="6118779"/>
            <a:ext cx="32918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Значение"/>
          <p:cNvSpPr txBox="1"/>
          <p:nvPr/>
        </p:nvSpPr>
        <p:spPr>
          <a:xfrm>
            <a:off x="10082174" y="6082203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0,6</a:t>
            </a:r>
          </a:p>
        </p:txBody>
      </p:sp>
      <p:sp>
        <p:nvSpPr>
          <p:cNvPr id="460" name="Производительность Ноябрьск"/>
          <p:cNvSpPr txBox="1"/>
          <p:nvPr/>
        </p:nvSpPr>
        <p:spPr>
          <a:xfrm>
            <a:off x="8778240" y="5926755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B07D00"/>
                </a:solidFill>
                <a:latin typeface="Circe Bold"/>
              </a:rPr>
              <a:t>2 600</a:t>
            </a:r>
          </a:p>
        </p:txBody>
      </p:sp>
      <p:sp>
        <p:nvSpPr>
          <p:cNvPr id="461" name="Производительность РФ"/>
          <p:cNvSpPr txBox="1"/>
          <p:nvPr/>
        </p:nvSpPr>
        <p:spPr>
          <a:xfrm>
            <a:off x="8778240" y="6091347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2F5D75"/>
                </a:solidFill>
                <a:latin typeface="Circe"/>
              </a:rPr>
              <a:t>320</a:t>
            </a:r>
          </a:p>
        </p:txBody>
      </p:sp>
      <p:sp>
        <p:nvSpPr>
          <p:cNvPr id="462" name="Вид деятельности"/>
          <p:cNvSpPr txBox="1"/>
          <p:nvPr/>
        </p:nvSpPr>
        <p:spPr>
          <a:xfrm>
            <a:off x="1069848" y="6304547"/>
            <a:ext cx="361188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>
                <a:solidFill>
                  <a:srgbClr val="062D3F"/>
                </a:solidFill>
                <a:latin typeface="Circe"/>
              </a:rPr>
              <a:t>Операции с недвижимым имуществом</a:t>
            </a:r>
          </a:p>
        </p:txBody>
      </p:sp>
      <p:sp>
        <p:nvSpPr>
          <p:cNvPr id="463" name="Занятость"/>
          <p:cNvSpPr/>
          <p:nvPr/>
        </p:nvSpPr>
        <p:spPr>
          <a:xfrm>
            <a:off x="7846466" y="6331979"/>
            <a:ext cx="886053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Значение"/>
          <p:cNvSpPr txBox="1"/>
          <p:nvPr/>
        </p:nvSpPr>
        <p:spPr>
          <a:xfrm>
            <a:off x="7361834" y="6295403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5,1</a:t>
            </a:r>
          </a:p>
        </p:txBody>
      </p:sp>
      <p:sp>
        <p:nvSpPr>
          <p:cNvPr id="465" name="Занятость"/>
          <p:cNvSpPr/>
          <p:nvPr/>
        </p:nvSpPr>
        <p:spPr>
          <a:xfrm>
            <a:off x="8263432" y="6505715"/>
            <a:ext cx="469087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Значение"/>
          <p:cNvSpPr txBox="1"/>
          <p:nvPr/>
        </p:nvSpPr>
        <p:spPr>
          <a:xfrm>
            <a:off x="7778800" y="6469139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2,7</a:t>
            </a:r>
          </a:p>
        </p:txBody>
      </p:sp>
      <p:sp>
        <p:nvSpPr>
          <p:cNvPr id="467" name="ВГП"/>
          <p:cNvSpPr/>
          <p:nvPr/>
        </p:nvSpPr>
        <p:spPr>
          <a:xfrm>
            <a:off x="10012680" y="6331979"/>
            <a:ext cx="131673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Значение"/>
          <p:cNvSpPr txBox="1"/>
          <p:nvPr/>
        </p:nvSpPr>
        <p:spPr>
          <a:xfrm>
            <a:off x="10180929" y="6295403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2,4</a:t>
            </a:r>
          </a:p>
        </p:txBody>
      </p:sp>
      <p:sp>
        <p:nvSpPr>
          <p:cNvPr id="469" name="ВГП"/>
          <p:cNvSpPr/>
          <p:nvPr/>
        </p:nvSpPr>
        <p:spPr>
          <a:xfrm>
            <a:off x="10012680" y="6505715"/>
            <a:ext cx="603503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Значение"/>
          <p:cNvSpPr txBox="1"/>
          <p:nvPr/>
        </p:nvSpPr>
        <p:spPr>
          <a:xfrm>
            <a:off x="10652759" y="6469139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11,0</a:t>
            </a:r>
          </a:p>
        </p:txBody>
      </p:sp>
      <p:sp>
        <p:nvSpPr>
          <p:cNvPr id="471" name="Производительность Ноябрьск"/>
          <p:cNvSpPr txBox="1"/>
          <p:nvPr/>
        </p:nvSpPr>
        <p:spPr>
          <a:xfrm>
            <a:off x="8778240" y="6313691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B07D00"/>
                </a:solidFill>
                <a:latin typeface="Circe Bold"/>
              </a:rPr>
              <a:t>4 000</a:t>
            </a:r>
          </a:p>
        </p:txBody>
      </p:sp>
      <p:sp>
        <p:nvSpPr>
          <p:cNvPr id="472" name="Производительность РФ"/>
          <p:cNvSpPr txBox="1"/>
          <p:nvPr/>
        </p:nvSpPr>
        <p:spPr>
          <a:xfrm>
            <a:off x="8778240" y="6478283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2F5D75"/>
                </a:solidFill>
                <a:latin typeface="Circe"/>
              </a:rPr>
              <a:t>4 799</a:t>
            </a:r>
          </a:p>
        </p:txBody>
      </p:sp>
      <p:sp>
        <p:nvSpPr>
          <p:cNvPr id="473" name="Вид деятельности"/>
          <p:cNvSpPr txBox="1"/>
          <p:nvPr/>
        </p:nvSpPr>
        <p:spPr>
          <a:xfrm>
            <a:off x="1069848" y="6691482"/>
            <a:ext cx="361188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>
                <a:solidFill>
                  <a:srgbClr val="062D3F"/>
                </a:solidFill>
                <a:latin typeface="Circe"/>
              </a:rPr>
              <a:t>Деятельность профессиональная, научная и техническая</a:t>
            </a:r>
          </a:p>
        </p:txBody>
      </p:sp>
      <p:sp>
        <p:nvSpPr>
          <p:cNvPr id="474" name="Занятость"/>
          <p:cNvSpPr/>
          <p:nvPr/>
        </p:nvSpPr>
        <p:spPr>
          <a:xfrm>
            <a:off x="7915960" y="6718914"/>
            <a:ext cx="816559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Значение"/>
          <p:cNvSpPr txBox="1"/>
          <p:nvPr/>
        </p:nvSpPr>
        <p:spPr>
          <a:xfrm>
            <a:off x="7431328" y="6682338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4,7</a:t>
            </a:r>
          </a:p>
        </p:txBody>
      </p:sp>
      <p:sp>
        <p:nvSpPr>
          <p:cNvPr id="476" name="Занятость"/>
          <p:cNvSpPr/>
          <p:nvPr/>
        </p:nvSpPr>
        <p:spPr>
          <a:xfrm>
            <a:off x="7933334" y="6892650"/>
            <a:ext cx="799185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Значение"/>
          <p:cNvSpPr txBox="1"/>
          <p:nvPr/>
        </p:nvSpPr>
        <p:spPr>
          <a:xfrm>
            <a:off x="7448702" y="6856074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4,6</a:t>
            </a:r>
          </a:p>
        </p:txBody>
      </p:sp>
      <p:sp>
        <p:nvSpPr>
          <p:cNvPr id="478" name="ВГП"/>
          <p:cNvSpPr/>
          <p:nvPr/>
        </p:nvSpPr>
        <p:spPr>
          <a:xfrm>
            <a:off x="10012680" y="6718914"/>
            <a:ext cx="54864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Значение"/>
          <p:cNvSpPr txBox="1"/>
          <p:nvPr/>
        </p:nvSpPr>
        <p:spPr>
          <a:xfrm>
            <a:off x="10104119" y="6682338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1,0</a:t>
            </a:r>
          </a:p>
        </p:txBody>
      </p:sp>
      <p:sp>
        <p:nvSpPr>
          <p:cNvPr id="480" name="ВГП"/>
          <p:cNvSpPr/>
          <p:nvPr/>
        </p:nvSpPr>
        <p:spPr>
          <a:xfrm>
            <a:off x="10012680" y="6892650"/>
            <a:ext cx="246888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Значение"/>
          <p:cNvSpPr txBox="1"/>
          <p:nvPr/>
        </p:nvSpPr>
        <p:spPr>
          <a:xfrm>
            <a:off x="10296143" y="6856074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4,5</a:t>
            </a:r>
          </a:p>
        </p:txBody>
      </p:sp>
      <p:sp>
        <p:nvSpPr>
          <p:cNvPr id="482" name="Производительность Ноябрьск"/>
          <p:cNvSpPr txBox="1"/>
          <p:nvPr/>
        </p:nvSpPr>
        <p:spPr>
          <a:xfrm>
            <a:off x="8778240" y="6700626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B07D00"/>
                </a:solidFill>
                <a:latin typeface="Circe Bold"/>
              </a:rPr>
              <a:t>1 800</a:t>
            </a:r>
          </a:p>
        </p:txBody>
      </p:sp>
      <p:sp>
        <p:nvSpPr>
          <p:cNvPr id="483" name="Производительность РФ"/>
          <p:cNvSpPr txBox="1"/>
          <p:nvPr/>
        </p:nvSpPr>
        <p:spPr>
          <a:xfrm>
            <a:off x="8778240" y="6865218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2F5D75"/>
                </a:solidFill>
                <a:latin typeface="Circe"/>
              </a:rPr>
              <a:t>1 148</a:t>
            </a:r>
          </a:p>
        </p:txBody>
      </p:sp>
      <p:sp>
        <p:nvSpPr>
          <p:cNvPr id="484" name="Вид деятельности"/>
          <p:cNvSpPr txBox="1"/>
          <p:nvPr/>
        </p:nvSpPr>
        <p:spPr>
          <a:xfrm>
            <a:off x="1069848" y="7078418"/>
            <a:ext cx="361188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>
                <a:solidFill>
                  <a:srgbClr val="062D3F"/>
                </a:solidFill>
                <a:latin typeface="Circe"/>
              </a:rPr>
              <a:t>Деятельность административная и сопутствующие дополнительные услуги</a:t>
            </a:r>
          </a:p>
        </p:txBody>
      </p:sp>
      <p:sp>
        <p:nvSpPr>
          <p:cNvPr id="485" name="Занятость"/>
          <p:cNvSpPr/>
          <p:nvPr/>
        </p:nvSpPr>
        <p:spPr>
          <a:xfrm>
            <a:off x="7637983" y="7105850"/>
            <a:ext cx="1094536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6" name="Значение"/>
          <p:cNvSpPr txBox="1"/>
          <p:nvPr/>
        </p:nvSpPr>
        <p:spPr>
          <a:xfrm>
            <a:off x="7153351" y="7069274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6,3</a:t>
            </a:r>
          </a:p>
        </p:txBody>
      </p:sp>
      <p:sp>
        <p:nvSpPr>
          <p:cNvPr id="487" name="Занятость"/>
          <p:cNvSpPr/>
          <p:nvPr/>
        </p:nvSpPr>
        <p:spPr>
          <a:xfrm>
            <a:off x="8193938" y="7279586"/>
            <a:ext cx="538581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8" name="Значение"/>
          <p:cNvSpPr txBox="1"/>
          <p:nvPr/>
        </p:nvSpPr>
        <p:spPr>
          <a:xfrm>
            <a:off x="7709306" y="7243010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3,1</a:t>
            </a:r>
          </a:p>
        </p:txBody>
      </p:sp>
      <p:sp>
        <p:nvSpPr>
          <p:cNvPr id="489" name="ВГП"/>
          <p:cNvSpPr/>
          <p:nvPr/>
        </p:nvSpPr>
        <p:spPr>
          <a:xfrm>
            <a:off x="10012680" y="7105850"/>
            <a:ext cx="109728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0" name="Значение"/>
          <p:cNvSpPr txBox="1"/>
          <p:nvPr/>
        </p:nvSpPr>
        <p:spPr>
          <a:xfrm>
            <a:off x="10158983" y="7069274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2,0</a:t>
            </a:r>
          </a:p>
        </p:txBody>
      </p:sp>
      <p:sp>
        <p:nvSpPr>
          <p:cNvPr id="491" name="ВГП"/>
          <p:cNvSpPr/>
          <p:nvPr/>
        </p:nvSpPr>
        <p:spPr>
          <a:xfrm>
            <a:off x="10012680" y="7279586"/>
            <a:ext cx="142646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2" name="Значение"/>
          <p:cNvSpPr txBox="1"/>
          <p:nvPr/>
        </p:nvSpPr>
        <p:spPr>
          <a:xfrm>
            <a:off x="10191902" y="7243010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2,6</a:t>
            </a:r>
          </a:p>
        </p:txBody>
      </p:sp>
      <p:sp>
        <p:nvSpPr>
          <p:cNvPr id="493" name="Производительность Ноябрьск"/>
          <p:cNvSpPr txBox="1"/>
          <p:nvPr/>
        </p:nvSpPr>
        <p:spPr>
          <a:xfrm>
            <a:off x="8778240" y="7087562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B07D00"/>
                </a:solidFill>
                <a:latin typeface="Circe Bold"/>
              </a:rPr>
              <a:t>2 600</a:t>
            </a:r>
          </a:p>
        </p:txBody>
      </p:sp>
      <p:sp>
        <p:nvSpPr>
          <p:cNvPr id="494" name="Производительность РФ"/>
          <p:cNvSpPr txBox="1"/>
          <p:nvPr/>
        </p:nvSpPr>
        <p:spPr>
          <a:xfrm>
            <a:off x="8778240" y="7252154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2F5D75"/>
                </a:solidFill>
                <a:latin typeface="Circe"/>
              </a:rPr>
              <a:t>1 000</a:t>
            </a:r>
          </a:p>
        </p:txBody>
      </p:sp>
      <p:sp>
        <p:nvSpPr>
          <p:cNvPr id="495" name="Вид деятельности"/>
          <p:cNvSpPr txBox="1"/>
          <p:nvPr/>
        </p:nvSpPr>
        <p:spPr>
          <a:xfrm>
            <a:off x="1069848" y="7465354"/>
            <a:ext cx="361188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>
                <a:solidFill>
                  <a:srgbClr val="062D3F"/>
                </a:solidFill>
                <a:latin typeface="Circe"/>
              </a:rPr>
              <a:t>Образование</a:t>
            </a:r>
          </a:p>
        </p:txBody>
      </p:sp>
      <p:sp>
        <p:nvSpPr>
          <p:cNvPr id="496" name="Занятость"/>
          <p:cNvSpPr/>
          <p:nvPr/>
        </p:nvSpPr>
        <p:spPr>
          <a:xfrm>
            <a:off x="7412126" y="7492786"/>
            <a:ext cx="1320393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7" name="Значение"/>
          <p:cNvSpPr txBox="1"/>
          <p:nvPr/>
        </p:nvSpPr>
        <p:spPr>
          <a:xfrm>
            <a:off x="6927494" y="7456210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7,6</a:t>
            </a:r>
          </a:p>
        </p:txBody>
      </p:sp>
      <p:sp>
        <p:nvSpPr>
          <p:cNvPr id="498" name="Занятость"/>
          <p:cNvSpPr/>
          <p:nvPr/>
        </p:nvSpPr>
        <p:spPr>
          <a:xfrm>
            <a:off x="7429500" y="7666522"/>
            <a:ext cx="1303020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9" name="Значение"/>
          <p:cNvSpPr txBox="1"/>
          <p:nvPr/>
        </p:nvSpPr>
        <p:spPr>
          <a:xfrm>
            <a:off x="6944868" y="7629946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7,5</a:t>
            </a:r>
          </a:p>
        </p:txBody>
      </p:sp>
      <p:sp>
        <p:nvSpPr>
          <p:cNvPr id="500" name="ВГП"/>
          <p:cNvSpPr/>
          <p:nvPr/>
        </p:nvSpPr>
        <p:spPr>
          <a:xfrm>
            <a:off x="10012680" y="7492786"/>
            <a:ext cx="58704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1" name="Значение"/>
          <p:cNvSpPr txBox="1"/>
          <p:nvPr/>
        </p:nvSpPr>
        <p:spPr>
          <a:xfrm>
            <a:off x="10107960" y="7456210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1,07</a:t>
            </a:r>
          </a:p>
        </p:txBody>
      </p:sp>
      <p:sp>
        <p:nvSpPr>
          <p:cNvPr id="502" name="ВГП"/>
          <p:cNvSpPr/>
          <p:nvPr/>
        </p:nvSpPr>
        <p:spPr>
          <a:xfrm>
            <a:off x="10012680" y="7666522"/>
            <a:ext cx="142646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3" name="Значение"/>
          <p:cNvSpPr txBox="1"/>
          <p:nvPr/>
        </p:nvSpPr>
        <p:spPr>
          <a:xfrm>
            <a:off x="10191902" y="7629946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2,6</a:t>
            </a:r>
          </a:p>
        </p:txBody>
      </p:sp>
      <p:sp>
        <p:nvSpPr>
          <p:cNvPr id="504" name="Производительность Ноябрьск"/>
          <p:cNvSpPr txBox="1"/>
          <p:nvPr/>
        </p:nvSpPr>
        <p:spPr>
          <a:xfrm>
            <a:off x="8778240" y="7474498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B07D00"/>
                </a:solidFill>
                <a:latin typeface="Circe Bold"/>
              </a:rPr>
              <a:t>1 200</a:t>
            </a:r>
          </a:p>
        </p:txBody>
      </p:sp>
      <p:sp>
        <p:nvSpPr>
          <p:cNvPr id="505" name="Производительность РФ"/>
          <p:cNvSpPr txBox="1"/>
          <p:nvPr/>
        </p:nvSpPr>
        <p:spPr>
          <a:xfrm>
            <a:off x="8778240" y="7639090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2F5D75"/>
                </a:solidFill>
                <a:latin typeface="Circe"/>
              </a:rPr>
              <a:t>407</a:t>
            </a:r>
          </a:p>
        </p:txBody>
      </p:sp>
      <p:sp>
        <p:nvSpPr>
          <p:cNvPr id="506" name="Вид деятельности"/>
          <p:cNvSpPr txBox="1"/>
          <p:nvPr/>
        </p:nvSpPr>
        <p:spPr>
          <a:xfrm>
            <a:off x="1069848" y="7852289"/>
            <a:ext cx="361188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>
                <a:solidFill>
                  <a:srgbClr val="062D3F"/>
                </a:solidFill>
                <a:latin typeface="Circe"/>
              </a:rPr>
              <a:t>Здравоохранение и социальные услуги</a:t>
            </a:r>
          </a:p>
        </p:txBody>
      </p:sp>
      <p:sp>
        <p:nvSpPr>
          <p:cNvPr id="507" name="Занятость"/>
          <p:cNvSpPr/>
          <p:nvPr/>
        </p:nvSpPr>
        <p:spPr>
          <a:xfrm>
            <a:off x="6995160" y="7879721"/>
            <a:ext cx="1737360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8" name="Значение"/>
          <p:cNvSpPr txBox="1"/>
          <p:nvPr/>
        </p:nvSpPr>
        <p:spPr>
          <a:xfrm>
            <a:off x="6510528" y="7843145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10,0</a:t>
            </a:r>
          </a:p>
        </p:txBody>
      </p:sp>
      <p:sp>
        <p:nvSpPr>
          <p:cNvPr id="509" name="Занятость"/>
          <p:cNvSpPr/>
          <p:nvPr/>
        </p:nvSpPr>
        <p:spPr>
          <a:xfrm>
            <a:off x="7637983" y="8053457"/>
            <a:ext cx="1094536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0" name="Значение"/>
          <p:cNvSpPr txBox="1"/>
          <p:nvPr/>
        </p:nvSpPr>
        <p:spPr>
          <a:xfrm>
            <a:off x="7153351" y="8016881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6,3</a:t>
            </a:r>
          </a:p>
        </p:txBody>
      </p:sp>
      <p:sp>
        <p:nvSpPr>
          <p:cNvPr id="511" name="ВГП"/>
          <p:cNvSpPr/>
          <p:nvPr/>
        </p:nvSpPr>
        <p:spPr>
          <a:xfrm>
            <a:off x="10012680" y="7879721"/>
            <a:ext cx="208483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2" name="Значение"/>
          <p:cNvSpPr txBox="1"/>
          <p:nvPr/>
        </p:nvSpPr>
        <p:spPr>
          <a:xfrm>
            <a:off x="10257739" y="7843145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3,8</a:t>
            </a:r>
          </a:p>
        </p:txBody>
      </p:sp>
      <p:sp>
        <p:nvSpPr>
          <p:cNvPr id="513" name="ВГП"/>
          <p:cNvSpPr/>
          <p:nvPr/>
        </p:nvSpPr>
        <p:spPr>
          <a:xfrm>
            <a:off x="10012680" y="8053457"/>
            <a:ext cx="186537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4" name="Значение"/>
          <p:cNvSpPr txBox="1"/>
          <p:nvPr/>
        </p:nvSpPr>
        <p:spPr>
          <a:xfrm>
            <a:off x="10235793" y="8016881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3,4</a:t>
            </a:r>
          </a:p>
        </p:txBody>
      </p:sp>
      <p:sp>
        <p:nvSpPr>
          <p:cNvPr id="515" name="Производительность Ноябрьск"/>
          <p:cNvSpPr txBox="1"/>
          <p:nvPr/>
        </p:nvSpPr>
        <p:spPr>
          <a:xfrm>
            <a:off x="8778240" y="7861433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B07D00"/>
                </a:solidFill>
                <a:latin typeface="Circe Bold"/>
              </a:rPr>
              <a:t>3 100</a:t>
            </a:r>
          </a:p>
        </p:txBody>
      </p:sp>
      <p:sp>
        <p:nvSpPr>
          <p:cNvPr id="516" name="Производительность РФ"/>
          <p:cNvSpPr txBox="1"/>
          <p:nvPr/>
        </p:nvSpPr>
        <p:spPr>
          <a:xfrm>
            <a:off x="8778240" y="8026025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2F5D75"/>
                </a:solidFill>
                <a:latin typeface="Circe"/>
              </a:rPr>
              <a:t>634</a:t>
            </a:r>
          </a:p>
        </p:txBody>
      </p:sp>
      <p:sp>
        <p:nvSpPr>
          <p:cNvPr id="517" name="Вид деятельности"/>
          <p:cNvSpPr txBox="1"/>
          <p:nvPr/>
        </p:nvSpPr>
        <p:spPr>
          <a:xfrm>
            <a:off x="1069848" y="8239225"/>
            <a:ext cx="361188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>
                <a:solidFill>
                  <a:srgbClr val="062D3F"/>
                </a:solidFill>
                <a:latin typeface="Circe"/>
              </a:rPr>
              <a:t>Культура, спорт, организация досуга и развлечений</a:t>
            </a:r>
          </a:p>
        </p:txBody>
      </p:sp>
      <p:sp>
        <p:nvSpPr>
          <p:cNvPr id="518" name="Занятость"/>
          <p:cNvSpPr/>
          <p:nvPr/>
        </p:nvSpPr>
        <p:spPr>
          <a:xfrm>
            <a:off x="8437168" y="8266657"/>
            <a:ext cx="295351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9" name="Значение"/>
          <p:cNvSpPr txBox="1"/>
          <p:nvPr/>
        </p:nvSpPr>
        <p:spPr>
          <a:xfrm>
            <a:off x="7952536" y="8230081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1,7</a:t>
            </a:r>
          </a:p>
        </p:txBody>
      </p:sp>
      <p:sp>
        <p:nvSpPr>
          <p:cNvPr id="520" name="Занятость"/>
          <p:cNvSpPr/>
          <p:nvPr/>
        </p:nvSpPr>
        <p:spPr>
          <a:xfrm>
            <a:off x="8402421" y="8440393"/>
            <a:ext cx="330098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1" name="Значение"/>
          <p:cNvSpPr txBox="1"/>
          <p:nvPr/>
        </p:nvSpPr>
        <p:spPr>
          <a:xfrm>
            <a:off x="7917789" y="8403817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1,9</a:t>
            </a:r>
          </a:p>
        </p:txBody>
      </p:sp>
      <p:sp>
        <p:nvSpPr>
          <p:cNvPr id="522" name="ВГП"/>
          <p:cNvSpPr/>
          <p:nvPr/>
        </p:nvSpPr>
        <p:spPr>
          <a:xfrm>
            <a:off x="10012680" y="8266657"/>
            <a:ext cx="18288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3" name="Значение"/>
          <p:cNvSpPr txBox="1"/>
          <p:nvPr/>
        </p:nvSpPr>
        <p:spPr>
          <a:xfrm>
            <a:off x="10067543" y="8230081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0,2</a:t>
            </a:r>
          </a:p>
        </p:txBody>
      </p:sp>
      <p:sp>
        <p:nvSpPr>
          <p:cNvPr id="524" name="ВГП"/>
          <p:cNvSpPr/>
          <p:nvPr/>
        </p:nvSpPr>
        <p:spPr>
          <a:xfrm>
            <a:off x="10012680" y="8440393"/>
            <a:ext cx="49377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5" name="Значение"/>
          <p:cNvSpPr txBox="1"/>
          <p:nvPr/>
        </p:nvSpPr>
        <p:spPr>
          <a:xfrm>
            <a:off x="10098633" y="8403817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0,9</a:t>
            </a:r>
          </a:p>
        </p:txBody>
      </p:sp>
      <p:sp>
        <p:nvSpPr>
          <p:cNvPr id="526" name="Производительность Ноябрьск"/>
          <p:cNvSpPr txBox="1"/>
          <p:nvPr/>
        </p:nvSpPr>
        <p:spPr>
          <a:xfrm>
            <a:off x="8778240" y="8248369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B07D00"/>
                </a:solidFill>
                <a:latin typeface="Circe Bold"/>
              </a:rPr>
              <a:t>1 000</a:t>
            </a:r>
          </a:p>
        </p:txBody>
      </p:sp>
      <p:sp>
        <p:nvSpPr>
          <p:cNvPr id="527" name="Производительность РФ"/>
          <p:cNvSpPr txBox="1"/>
          <p:nvPr/>
        </p:nvSpPr>
        <p:spPr>
          <a:xfrm>
            <a:off x="8778240" y="8412961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2F5D75"/>
                </a:solidFill>
                <a:latin typeface="Circe"/>
              </a:rPr>
              <a:t>539</a:t>
            </a:r>
          </a:p>
        </p:txBody>
      </p:sp>
      <p:sp>
        <p:nvSpPr>
          <p:cNvPr id="528" name="Вид деятельности"/>
          <p:cNvSpPr txBox="1"/>
          <p:nvPr/>
        </p:nvSpPr>
        <p:spPr>
          <a:xfrm>
            <a:off x="1069848" y="8626160"/>
            <a:ext cx="361188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>
                <a:solidFill>
                  <a:srgbClr val="062D3F"/>
                </a:solidFill>
                <a:latin typeface="Circe"/>
              </a:rPr>
              <a:t>Госуправление и обеспечение воен. безопасности, социальное обеспечение</a:t>
            </a:r>
          </a:p>
        </p:txBody>
      </p:sp>
      <p:sp>
        <p:nvSpPr>
          <p:cNvPr id="529" name="Занятость"/>
          <p:cNvSpPr/>
          <p:nvPr/>
        </p:nvSpPr>
        <p:spPr>
          <a:xfrm>
            <a:off x="7829092" y="8653592"/>
            <a:ext cx="903427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0" name="Значение"/>
          <p:cNvSpPr txBox="1"/>
          <p:nvPr/>
        </p:nvSpPr>
        <p:spPr>
          <a:xfrm>
            <a:off x="7344460" y="8617016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5,2</a:t>
            </a:r>
          </a:p>
        </p:txBody>
      </p:sp>
      <p:sp>
        <p:nvSpPr>
          <p:cNvPr id="531" name="Занятость"/>
          <p:cNvSpPr/>
          <p:nvPr/>
        </p:nvSpPr>
        <p:spPr>
          <a:xfrm>
            <a:off x="7811719" y="8827328"/>
            <a:ext cx="920800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2" name="Значение"/>
          <p:cNvSpPr txBox="1"/>
          <p:nvPr/>
        </p:nvSpPr>
        <p:spPr>
          <a:xfrm>
            <a:off x="7327087" y="8790752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5,3</a:t>
            </a:r>
          </a:p>
        </p:txBody>
      </p:sp>
      <p:sp>
        <p:nvSpPr>
          <p:cNvPr id="533" name="ВГП"/>
          <p:cNvSpPr/>
          <p:nvPr/>
        </p:nvSpPr>
        <p:spPr>
          <a:xfrm>
            <a:off x="10012680" y="8653592"/>
            <a:ext cx="76809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4" name="Значение"/>
          <p:cNvSpPr txBox="1"/>
          <p:nvPr/>
        </p:nvSpPr>
        <p:spPr>
          <a:xfrm>
            <a:off x="10126065" y="8617016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1,4</a:t>
            </a:r>
          </a:p>
        </p:txBody>
      </p:sp>
      <p:sp>
        <p:nvSpPr>
          <p:cNvPr id="535" name="ВГП"/>
          <p:cNvSpPr/>
          <p:nvPr/>
        </p:nvSpPr>
        <p:spPr>
          <a:xfrm>
            <a:off x="10012680" y="8827328"/>
            <a:ext cx="307238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6" name="Значение"/>
          <p:cNvSpPr txBox="1"/>
          <p:nvPr/>
        </p:nvSpPr>
        <p:spPr>
          <a:xfrm>
            <a:off x="10356494" y="8790752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5,6</a:t>
            </a:r>
          </a:p>
        </p:txBody>
      </p:sp>
      <p:sp>
        <p:nvSpPr>
          <p:cNvPr id="537" name="Производительность Ноябрьск"/>
          <p:cNvSpPr txBox="1"/>
          <p:nvPr/>
        </p:nvSpPr>
        <p:spPr>
          <a:xfrm>
            <a:off x="8778240" y="8635304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B07D00"/>
                </a:solidFill>
                <a:latin typeface="Circe Bold"/>
              </a:rPr>
              <a:t>2 200</a:t>
            </a:r>
          </a:p>
        </p:txBody>
      </p:sp>
      <p:sp>
        <p:nvSpPr>
          <p:cNvPr id="538" name="Производительность РФ"/>
          <p:cNvSpPr txBox="1"/>
          <p:nvPr/>
        </p:nvSpPr>
        <p:spPr>
          <a:xfrm>
            <a:off x="8778240" y="8799896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2F5D75"/>
                </a:solidFill>
                <a:latin typeface="Circe"/>
              </a:rPr>
              <a:t>1 243</a:t>
            </a:r>
          </a:p>
        </p:txBody>
      </p:sp>
      <p:sp>
        <p:nvSpPr>
          <p:cNvPr id="539" name="Вид деятельности"/>
          <p:cNvSpPr txBox="1"/>
          <p:nvPr/>
        </p:nvSpPr>
        <p:spPr>
          <a:xfrm>
            <a:off x="1069848" y="9013096"/>
            <a:ext cx="361188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0">
                <a:solidFill>
                  <a:srgbClr val="062D3F"/>
                </a:solidFill>
                <a:latin typeface="Circe"/>
              </a:rPr>
              <a:t>Предоставление прочих видов услуг</a:t>
            </a:r>
          </a:p>
        </p:txBody>
      </p:sp>
      <p:sp>
        <p:nvSpPr>
          <p:cNvPr id="540" name="Занятость"/>
          <p:cNvSpPr/>
          <p:nvPr/>
        </p:nvSpPr>
        <p:spPr>
          <a:xfrm>
            <a:off x="8663025" y="9040528"/>
            <a:ext cx="69494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1" name="Значение"/>
          <p:cNvSpPr txBox="1"/>
          <p:nvPr/>
        </p:nvSpPr>
        <p:spPr>
          <a:xfrm>
            <a:off x="8178393" y="9003952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0,4</a:t>
            </a:r>
          </a:p>
        </p:txBody>
      </p:sp>
      <p:sp>
        <p:nvSpPr>
          <p:cNvPr id="542" name="Занятость"/>
          <p:cNvSpPr/>
          <p:nvPr/>
        </p:nvSpPr>
        <p:spPr>
          <a:xfrm>
            <a:off x="8663025" y="9214264"/>
            <a:ext cx="69494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3" name="Значение"/>
          <p:cNvSpPr txBox="1"/>
          <p:nvPr/>
        </p:nvSpPr>
        <p:spPr>
          <a:xfrm>
            <a:off x="8178393" y="9177688"/>
            <a:ext cx="4572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062D3F"/>
                </a:solidFill>
                <a:latin typeface="Circe"/>
              </a:rPr>
              <a:t>0,4</a:t>
            </a:r>
          </a:p>
        </p:txBody>
      </p:sp>
      <p:sp>
        <p:nvSpPr>
          <p:cNvPr id="544" name="ВГП"/>
          <p:cNvSpPr/>
          <p:nvPr/>
        </p:nvSpPr>
        <p:spPr>
          <a:xfrm>
            <a:off x="10012680" y="9040528"/>
            <a:ext cx="18288" cy="1554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5" name="Значение"/>
          <p:cNvSpPr txBox="1"/>
          <p:nvPr/>
        </p:nvSpPr>
        <p:spPr>
          <a:xfrm>
            <a:off x="10067543" y="9003952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0,025</a:t>
            </a:r>
          </a:p>
        </p:txBody>
      </p:sp>
      <p:sp>
        <p:nvSpPr>
          <p:cNvPr id="546" name="ВГП"/>
          <p:cNvSpPr/>
          <p:nvPr/>
        </p:nvSpPr>
        <p:spPr>
          <a:xfrm>
            <a:off x="10012680" y="9214264"/>
            <a:ext cx="27432" cy="15544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7" name="Значение"/>
          <p:cNvSpPr txBox="1"/>
          <p:nvPr/>
        </p:nvSpPr>
        <p:spPr>
          <a:xfrm>
            <a:off x="10076687" y="9177688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62D3F"/>
                </a:solidFill>
                <a:latin typeface="Circe"/>
              </a:rPr>
              <a:t>0,5</a:t>
            </a:r>
          </a:p>
        </p:txBody>
      </p:sp>
      <p:sp>
        <p:nvSpPr>
          <p:cNvPr id="548" name="Производительность Ноябрьск"/>
          <p:cNvSpPr txBox="1"/>
          <p:nvPr/>
        </p:nvSpPr>
        <p:spPr>
          <a:xfrm>
            <a:off x="8778240" y="9022240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B07D00"/>
                </a:solidFill>
                <a:latin typeface="Circe Bold"/>
              </a:rPr>
              <a:t>600</a:t>
            </a:r>
          </a:p>
        </p:txBody>
      </p:sp>
      <p:sp>
        <p:nvSpPr>
          <p:cNvPr id="549" name="Производительность РФ"/>
          <p:cNvSpPr txBox="1"/>
          <p:nvPr/>
        </p:nvSpPr>
        <p:spPr>
          <a:xfrm>
            <a:off x="8778240" y="9186832"/>
            <a:ext cx="1143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2F5D75"/>
                </a:solidFill>
                <a:latin typeface="Circe"/>
              </a:rPr>
              <a:t>1 379</a:t>
            </a:r>
          </a:p>
        </p:txBody>
      </p:sp>
      <p:sp>
        <p:nvSpPr>
          <p:cNvPr id="550" name="Шарик"/>
          <p:cNvSpPr/>
          <p:nvPr/>
        </p:nvSpPr>
        <p:spPr>
          <a:xfrm>
            <a:off x="14401800" y="2011680"/>
            <a:ext cx="777240" cy="77724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51" name="Значок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5536" y="2185416"/>
            <a:ext cx="429768" cy="429768"/>
          </a:xfrm>
          <a:prstGeom prst="rect">
            <a:avLst/>
          </a:prstGeom>
        </p:spPr>
      </p:pic>
      <p:sp>
        <p:nvSpPr>
          <p:cNvPr id="552" name="Показатель"/>
          <p:cNvSpPr txBox="1"/>
          <p:nvPr/>
        </p:nvSpPr>
        <p:spPr>
          <a:xfrm>
            <a:off x="15361920" y="1965960"/>
            <a:ext cx="2606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55 005 чел.</a:t>
            </a:r>
          </a:p>
          <a:p>
            <a:pPr algn="l"/>
            <a:r>
              <a:rPr sz="1400" b="1">
                <a:solidFill>
                  <a:srgbClr val="062D3F"/>
                </a:solidFill>
                <a:latin typeface="Circe Bold"/>
              </a:rPr>
              <a:t>Численность занятых</a:t>
            </a:r>
          </a:p>
        </p:txBody>
      </p:sp>
      <p:sp>
        <p:nvSpPr>
          <p:cNvPr id="553" name="Шарик"/>
          <p:cNvSpPr/>
          <p:nvPr/>
        </p:nvSpPr>
        <p:spPr>
          <a:xfrm>
            <a:off x="14401800" y="3108960"/>
            <a:ext cx="777240" cy="77724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54" name="Значок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5536" y="3282696"/>
            <a:ext cx="429768" cy="429768"/>
          </a:xfrm>
          <a:prstGeom prst="rect">
            <a:avLst/>
          </a:prstGeom>
        </p:spPr>
      </p:pic>
      <p:sp>
        <p:nvSpPr>
          <p:cNvPr id="555" name="Показатель"/>
          <p:cNvSpPr txBox="1"/>
          <p:nvPr/>
        </p:nvSpPr>
        <p:spPr>
          <a:xfrm>
            <a:off x="15361920" y="3063240"/>
            <a:ext cx="2606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102 938 чел.</a:t>
            </a:r>
          </a:p>
          <a:p>
            <a:pPr algn="l"/>
            <a:r>
              <a:rPr sz="1400" b="1">
                <a:solidFill>
                  <a:srgbClr val="062D3F"/>
                </a:solidFill>
                <a:latin typeface="Circe Bold"/>
              </a:rPr>
              <a:t>Численность населения</a:t>
            </a:r>
          </a:p>
        </p:txBody>
      </p:sp>
      <p:sp>
        <p:nvSpPr>
          <p:cNvPr id="556" name="Шарик"/>
          <p:cNvSpPr/>
          <p:nvPr/>
        </p:nvSpPr>
        <p:spPr>
          <a:xfrm>
            <a:off x="14401800" y="4206240"/>
            <a:ext cx="777240" cy="77724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57" name="Значок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5536" y="4379976"/>
            <a:ext cx="429768" cy="429768"/>
          </a:xfrm>
          <a:prstGeom prst="rect">
            <a:avLst/>
          </a:prstGeom>
        </p:spPr>
      </p:pic>
      <p:sp>
        <p:nvSpPr>
          <p:cNvPr id="558" name="Показатель"/>
          <p:cNvSpPr txBox="1"/>
          <p:nvPr/>
        </p:nvSpPr>
        <p:spPr>
          <a:xfrm>
            <a:off x="15361920" y="4160520"/>
            <a:ext cx="2606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062D3F"/>
                </a:solidFill>
                <a:latin typeface="Circe Bold"/>
              </a:rPr>
              <a:t>453 млрд руб.</a:t>
            </a:r>
          </a:p>
          <a:p>
            <a:pPr algn="l"/>
            <a:r>
              <a:rPr sz="1400" b="1">
                <a:solidFill>
                  <a:srgbClr val="062D3F"/>
                </a:solidFill>
                <a:latin typeface="Circe Bold"/>
              </a:rPr>
              <a:t>Валовая добавленная стоимость</a:t>
            </a:r>
          </a:p>
        </p:txBody>
      </p:sp>
      <p:sp>
        <p:nvSpPr>
          <p:cNvPr id="559" name="Показатель"/>
          <p:cNvSpPr txBox="1"/>
          <p:nvPr/>
        </p:nvSpPr>
        <p:spPr>
          <a:xfrm>
            <a:off x="14401800" y="5349240"/>
            <a:ext cx="353872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>
                <a:solidFill>
                  <a:srgbClr val="B07D00"/>
                </a:solidFill>
                <a:latin typeface="Circe Bold"/>
              </a:rPr>
              <a:t>8 240</a:t>
            </a:r>
            <a:r>
              <a:rPr sz="1800" b="1">
                <a:solidFill>
                  <a:srgbClr val="B07D00"/>
                </a:solidFill>
                <a:latin typeface="Circe Bold"/>
              </a:rPr>
              <a:t> тыс. руб.</a:t>
            </a:r>
          </a:p>
        </p:txBody>
      </p:sp>
      <p:sp>
        <p:nvSpPr>
          <p:cNvPr id="560" name="Пояснение"/>
          <p:cNvSpPr txBox="1"/>
          <p:nvPr/>
        </p:nvSpPr>
        <p:spPr>
          <a:xfrm>
            <a:off x="14401800" y="6126479"/>
            <a:ext cx="35387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62D3F"/>
                </a:solidFill>
                <a:latin typeface="Circe"/>
              </a:rPr>
              <a:t>Средняя производительность труда на 1 работника</a:t>
            </a:r>
          </a:p>
          <a:p>
            <a:pPr algn="l"/>
            <a:r>
              <a:rPr sz="1600" b="0">
                <a:solidFill>
                  <a:srgbClr val="2F5D75"/>
                </a:solidFill>
                <a:latin typeface="Circe"/>
              </a:rPr>
              <a:t>РФ – 1690 тыс. руб.</a:t>
            </a:r>
          </a:p>
        </p:txBody>
      </p:sp>
      <p:sp>
        <p:nvSpPr>
          <p:cNvPr id="561" name="Показатель"/>
          <p:cNvSpPr txBox="1"/>
          <p:nvPr/>
        </p:nvSpPr>
        <p:spPr>
          <a:xfrm>
            <a:off x="14401800" y="7223760"/>
            <a:ext cx="353872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>
                <a:solidFill>
                  <a:srgbClr val="B07D00"/>
                </a:solidFill>
                <a:latin typeface="Circe Bold"/>
              </a:rPr>
              <a:t>4 410</a:t>
            </a:r>
            <a:r>
              <a:rPr sz="1800" b="1">
                <a:solidFill>
                  <a:srgbClr val="B07D00"/>
                </a:solidFill>
                <a:latin typeface="Circe Bold"/>
              </a:rPr>
              <a:t> тыс. руб.</a:t>
            </a:r>
          </a:p>
        </p:txBody>
      </p:sp>
      <p:sp>
        <p:nvSpPr>
          <p:cNvPr id="562" name="Пояснение"/>
          <p:cNvSpPr txBox="1"/>
          <p:nvPr/>
        </p:nvSpPr>
        <p:spPr>
          <a:xfrm>
            <a:off x="14401800" y="8001000"/>
            <a:ext cx="35387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62D3F"/>
                </a:solidFill>
                <a:latin typeface="Circe"/>
              </a:rPr>
              <a:t>ВГП на душу населения</a:t>
            </a:r>
          </a:p>
          <a:p>
            <a:pPr algn="l"/>
            <a:r>
              <a:rPr sz="1600" b="0">
                <a:solidFill>
                  <a:srgbClr val="2F5D75"/>
                </a:solidFill>
                <a:latin typeface="Circe"/>
              </a:rPr>
              <a:t>РФ – 824 тыс. руб.</a:t>
            </a:r>
          </a:p>
        </p:txBody>
      </p:sp>
      <p:sp>
        <p:nvSpPr>
          <p:cNvPr id="563" name="Условный знак"/>
          <p:cNvSpPr/>
          <p:nvPr/>
        </p:nvSpPr>
        <p:spPr>
          <a:xfrm>
            <a:off x="14401800" y="8778240"/>
            <a:ext cx="256032" cy="20116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4" name="Легенда"/>
          <p:cNvSpPr txBox="1"/>
          <p:nvPr/>
        </p:nvSpPr>
        <p:spPr>
          <a:xfrm>
            <a:off x="14767559" y="8732520"/>
            <a:ext cx="3108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г. Ноябрьск</a:t>
            </a:r>
          </a:p>
        </p:txBody>
      </p:sp>
      <p:sp>
        <p:nvSpPr>
          <p:cNvPr id="565" name="Условный знак"/>
          <p:cNvSpPr/>
          <p:nvPr/>
        </p:nvSpPr>
        <p:spPr>
          <a:xfrm>
            <a:off x="14401800" y="9134856"/>
            <a:ext cx="256032" cy="20116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6" name="Легенда"/>
          <p:cNvSpPr txBox="1"/>
          <p:nvPr/>
        </p:nvSpPr>
        <p:spPr>
          <a:xfrm>
            <a:off x="14767559" y="9089136"/>
            <a:ext cx="3108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Российская Федерация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ной слайд">
  <a:themeElements>
    <a:clrScheme name="ИГП ony">
      <a:dk1>
        <a:sysClr val="windowText" lastClr="000000"/>
      </a:dk1>
      <a:lt1>
        <a:sysClr val="window" lastClr="FFFFFF"/>
      </a:lt1>
      <a:dk2>
        <a:srgbClr val="25253B"/>
      </a:dk2>
      <a:lt2>
        <a:srgbClr val="EDEDED"/>
      </a:lt2>
      <a:accent1>
        <a:srgbClr val="1678E2"/>
      </a:accent1>
      <a:accent2>
        <a:srgbClr val="EDDAC4"/>
      </a:accent2>
      <a:accent3>
        <a:srgbClr val="F13D53"/>
      </a:accent3>
      <a:accent4>
        <a:srgbClr val="FFC000"/>
      </a:accent4>
      <a:accent5>
        <a:srgbClr val="66ABD6"/>
      </a:accent5>
      <a:accent6>
        <a:srgbClr val="DAE856"/>
      </a:accent6>
      <a:hlink>
        <a:srgbClr val="0563C1"/>
      </a:hlink>
      <a:folHlink>
        <a:srgbClr val="954F72"/>
      </a:folHlink>
    </a:clrScheme>
    <a:fontScheme name="Институт Генплана Москвы">
      <a:majorFont>
        <a:latin typeface="Circe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3088</TotalTime>
  <Words>7447</Words>
  <Application>Microsoft Office PowerPoint</Application>
  <PresentationFormat>Произвольный</PresentationFormat>
  <Paragraphs>1788</Paragraphs>
  <Slides>51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51</vt:i4>
      </vt:variant>
    </vt:vector>
  </HeadingPairs>
  <TitlesOfParts>
    <vt:vector size="59" baseType="lpstr">
      <vt:lpstr>Arial</vt:lpstr>
      <vt:lpstr>Calibri</vt:lpstr>
      <vt:lpstr>Century Gothic</vt:lpstr>
      <vt:lpstr>Circe</vt:lpstr>
      <vt:lpstr>Circe Bold</vt:lpstr>
      <vt:lpstr>Inter V Extra Bold</vt:lpstr>
      <vt:lpstr>Wingdings</vt:lpstr>
      <vt:lpstr>Основной слайд</vt:lpstr>
      <vt:lpstr>Комплексная диагностика  социально-экономического состояния сельских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ПОЛОВОЗРАСТНАЯ СТРУКТУРА НАСЕЛЕНИЯ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Шевцов Александр Александрович</dc:creator>
  <cp:lastModifiedBy>Шевцов Александр Александрович</cp:lastModifiedBy>
  <cp:revision>131</cp:revision>
  <cp:lastPrinted>2026-10-05T13:20:42Z</cp:lastPrinted>
  <dcterms:created xsi:type="dcterms:W3CDTF">2022-11-22T08:46:48Z</dcterms:created>
  <dcterms:modified xsi:type="dcterms:W3CDTF">2026-10-13T13:22:34Z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2022-11-22T00:00:00Z</vt:filetime>
  </property>
  <property fmtid="{D5CDD505-2E9C-101B-9397-08002B2CF9AE}" pid="5" name="Producer">
    <vt:lpwstr>Adobe PDF Library 16.0.3</vt:lpwstr>
  </property>
</Properties>
</file>