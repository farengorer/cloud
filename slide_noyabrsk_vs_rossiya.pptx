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431" r:id="rId58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F2A504"/>
    <a:srgbClr val="062D3F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59" autoAdjust="0"/>
    <p:restoredTop sz="94660"/>
  </p:normalViewPr>
  <p:slideViewPr>
    <p:cSldViewPr>
      <p:cViewPr>
        <p:scale>
          <a:sx n="75" d="100"/>
          <a:sy n="75" d="100"/>
        </p:scale>
        <p:origin x="654" y="-132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перестроен по образцу слайда про Севастополь. Существующее положение Ноябрьска сравнивается со средними по России, которые использованы на слайде про Севастополь (структура занятости, структура ВРП и производительность по видам деятельности). Данные Ноябрьска взяты из прежнего слайда (значения существующего положения), производительность переведена из млн руб. в тыс. руб. Ось ВГП растянута до 70 процентов из-за доли добычи (64,3 процента). Средняя производительность (8 240 тыс. руб.) и ВГП на душу (4 410 тыс. руб.) рассчитаны как 453,5 млрд руб. на 55,0 тыс. занятых и на 102,9 тыс. жителей. Прогноз к 2035 году и приросты показателей со слайда убраны. Среднероссийская производительность по видам деятельности из слайда про Севастополь даёт взвешенное среднее около 1170 тыс. руб. при заявленных 1690 тыс. руб., расхождение стоит проверить.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Relationship Id="rId12" Type="http://schemas.openxmlformats.org/officeDocument/2006/relationships/image" Target="../media/image6.png"/><Relationship Id="rId13" Type="http://schemas.openxmlformats.org/officeDocument/2006/relationships/image" Target="../media/image7.png"/><Relationship Id="rId14" Type="http://schemas.openxmlformats.org/officeDocument/2006/relationships/image" Target="../media/image8.png"/><Relationship Id="rId15" Type="http://schemas.openxmlformats.org/officeDocument/2006/relationships/image" Target="../media/image9.png"/><Relationship Id="rId16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7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0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27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3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СТРУКТУРА ЗАНЯТОСТИ И ВГП: НОЯБРЬСК И РОССИЯ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302" name="Заголовок"/>
          <p:cNvSpPr txBox="1"/>
          <p:nvPr/>
        </p:nvSpPr>
        <p:spPr>
          <a:xfrm>
            <a:off x="4800600" y="1554480"/>
            <a:ext cx="3931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62D3F"/>
                </a:solidFill>
                <a:latin typeface="Circe Bold"/>
              </a:rPr>
              <a:t>ЗАНЯТОСТЬ, %</a:t>
            </a:r>
          </a:p>
        </p:txBody>
      </p:sp>
      <p:sp>
        <p:nvSpPr>
          <p:cNvPr id="303" name="Заголовок"/>
          <p:cNvSpPr txBox="1"/>
          <p:nvPr/>
        </p:nvSpPr>
        <p:spPr>
          <a:xfrm>
            <a:off x="8641080" y="1463040"/>
            <a:ext cx="1417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Пр-ть труда,</a:t>
            </a:r>
          </a:p>
          <a:p>
            <a:pPr algn="ctr"/>
            <a:r>
              <a:rPr sz="1300" b="1">
                <a:solidFill>
                  <a:srgbClr val="062D3F"/>
                </a:solidFill>
                <a:latin typeface="Circe Bold"/>
              </a:rPr>
              <a:t>тыс. руб.</a:t>
            </a:r>
          </a:p>
        </p:txBody>
      </p:sp>
      <p:sp>
        <p:nvSpPr>
          <p:cNvPr id="304" name="Заголовок"/>
          <p:cNvSpPr txBox="1"/>
          <p:nvPr/>
        </p:nvSpPr>
        <p:spPr>
          <a:xfrm>
            <a:off x="10012680" y="155448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ВГП, %</a:t>
            </a:r>
          </a:p>
        </p:txBody>
      </p:sp>
      <p:cxnSp>
        <p:nvCxnSpPr>
          <p:cNvPr id="305" name="Сетка"/>
          <p:cNvCxnSpPr/>
          <p:nvPr/>
        </p:nvCxnSpPr>
        <p:spPr>
          <a:xfrm>
            <a:off x="873252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06" name="Сетка"/>
          <p:cNvCxnSpPr/>
          <p:nvPr/>
        </p:nvCxnSpPr>
        <p:spPr>
          <a:xfrm>
            <a:off x="829818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07" name="Сетка"/>
          <p:cNvCxnSpPr/>
          <p:nvPr/>
        </p:nvCxnSpPr>
        <p:spPr>
          <a:xfrm>
            <a:off x="786384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08" name="Сетка"/>
          <p:cNvCxnSpPr/>
          <p:nvPr/>
        </p:nvCxnSpPr>
        <p:spPr>
          <a:xfrm>
            <a:off x="742950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09" name="Сетка"/>
          <p:cNvCxnSpPr/>
          <p:nvPr/>
        </p:nvCxnSpPr>
        <p:spPr>
          <a:xfrm>
            <a:off x="699516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0" name="Сетка"/>
          <p:cNvCxnSpPr/>
          <p:nvPr/>
        </p:nvCxnSpPr>
        <p:spPr>
          <a:xfrm>
            <a:off x="656082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1" name="Сетка"/>
          <p:cNvCxnSpPr/>
          <p:nvPr/>
        </p:nvCxnSpPr>
        <p:spPr>
          <a:xfrm>
            <a:off x="612648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2" name="Сетка"/>
          <p:cNvCxnSpPr/>
          <p:nvPr/>
        </p:nvCxnSpPr>
        <p:spPr>
          <a:xfrm>
            <a:off x="569214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3" name="Сетка"/>
          <p:cNvCxnSpPr/>
          <p:nvPr/>
        </p:nvCxnSpPr>
        <p:spPr>
          <a:xfrm>
            <a:off x="525780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4" name="Сетка"/>
          <p:cNvCxnSpPr/>
          <p:nvPr/>
        </p:nvCxnSpPr>
        <p:spPr>
          <a:xfrm>
            <a:off x="482346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5" name="Сетка"/>
          <p:cNvCxnSpPr/>
          <p:nvPr/>
        </p:nvCxnSpPr>
        <p:spPr>
          <a:xfrm>
            <a:off x="1001268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6" name="Сетка"/>
          <p:cNvCxnSpPr/>
          <p:nvPr/>
        </p:nvCxnSpPr>
        <p:spPr>
          <a:xfrm>
            <a:off x="10561319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7" name="Сетка"/>
          <p:cNvCxnSpPr/>
          <p:nvPr/>
        </p:nvCxnSpPr>
        <p:spPr>
          <a:xfrm>
            <a:off x="11109959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8" name="Сетка"/>
          <p:cNvCxnSpPr/>
          <p:nvPr/>
        </p:nvCxnSpPr>
        <p:spPr>
          <a:xfrm>
            <a:off x="1165860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19" name="Сетка"/>
          <p:cNvCxnSpPr/>
          <p:nvPr/>
        </p:nvCxnSpPr>
        <p:spPr>
          <a:xfrm>
            <a:off x="1220724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20" name="Сетка"/>
          <p:cNvCxnSpPr/>
          <p:nvPr/>
        </p:nvCxnSpPr>
        <p:spPr>
          <a:xfrm>
            <a:off x="12755880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21" name="Сетка"/>
          <p:cNvCxnSpPr/>
          <p:nvPr/>
        </p:nvCxnSpPr>
        <p:spPr>
          <a:xfrm>
            <a:off x="13304519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cxnSp>
        <p:nvCxnSpPr>
          <p:cNvPr id="322" name="Сетка"/>
          <p:cNvCxnSpPr/>
          <p:nvPr/>
        </p:nvCxnSpPr>
        <p:spPr>
          <a:xfrm>
            <a:off x="13853159" y="1965960"/>
            <a:ext cx="0" cy="7306056"/>
          </a:xfrm>
          <a:prstGeom prst="line">
            <a:avLst/>
          </a:prstGeom>
          <a:ln w="9525">
            <a:solidFill>
              <a:srgbClr val="D9DEE2"/>
            </a:solidFill>
          </a:ln>
        </p:spPr>
      </p:cxnSp>
      <p:sp>
        <p:nvSpPr>
          <p:cNvPr id="323" name="Ось"/>
          <p:cNvSpPr txBox="1"/>
          <p:nvPr/>
        </p:nvSpPr>
        <p:spPr>
          <a:xfrm>
            <a:off x="845820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0</a:t>
            </a:r>
          </a:p>
        </p:txBody>
      </p:sp>
      <p:sp>
        <p:nvSpPr>
          <p:cNvPr id="324" name="Ось"/>
          <p:cNvSpPr txBox="1"/>
          <p:nvPr/>
        </p:nvSpPr>
        <p:spPr>
          <a:xfrm>
            <a:off x="802386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2,5</a:t>
            </a:r>
          </a:p>
        </p:txBody>
      </p:sp>
      <p:sp>
        <p:nvSpPr>
          <p:cNvPr id="325" name="Ось"/>
          <p:cNvSpPr txBox="1"/>
          <p:nvPr/>
        </p:nvSpPr>
        <p:spPr>
          <a:xfrm>
            <a:off x="758952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5</a:t>
            </a:r>
          </a:p>
        </p:txBody>
      </p:sp>
      <p:sp>
        <p:nvSpPr>
          <p:cNvPr id="326" name="Ось"/>
          <p:cNvSpPr txBox="1"/>
          <p:nvPr/>
        </p:nvSpPr>
        <p:spPr>
          <a:xfrm>
            <a:off x="715518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7,5</a:t>
            </a:r>
          </a:p>
        </p:txBody>
      </p:sp>
      <p:sp>
        <p:nvSpPr>
          <p:cNvPr id="327" name="Ось"/>
          <p:cNvSpPr txBox="1"/>
          <p:nvPr/>
        </p:nvSpPr>
        <p:spPr>
          <a:xfrm>
            <a:off x="672084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10</a:t>
            </a:r>
          </a:p>
        </p:txBody>
      </p:sp>
      <p:sp>
        <p:nvSpPr>
          <p:cNvPr id="328" name="Ось"/>
          <p:cNvSpPr txBox="1"/>
          <p:nvPr/>
        </p:nvSpPr>
        <p:spPr>
          <a:xfrm>
            <a:off x="628650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12,5</a:t>
            </a:r>
          </a:p>
        </p:txBody>
      </p:sp>
      <p:sp>
        <p:nvSpPr>
          <p:cNvPr id="329" name="Ось"/>
          <p:cNvSpPr txBox="1"/>
          <p:nvPr/>
        </p:nvSpPr>
        <p:spPr>
          <a:xfrm>
            <a:off x="585216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15</a:t>
            </a:r>
          </a:p>
        </p:txBody>
      </p:sp>
      <p:sp>
        <p:nvSpPr>
          <p:cNvPr id="330" name="Ось"/>
          <p:cNvSpPr txBox="1"/>
          <p:nvPr/>
        </p:nvSpPr>
        <p:spPr>
          <a:xfrm>
            <a:off x="541782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17,5</a:t>
            </a:r>
          </a:p>
        </p:txBody>
      </p:sp>
      <p:sp>
        <p:nvSpPr>
          <p:cNvPr id="331" name="Ось"/>
          <p:cNvSpPr txBox="1"/>
          <p:nvPr/>
        </p:nvSpPr>
        <p:spPr>
          <a:xfrm>
            <a:off x="498348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20</a:t>
            </a:r>
          </a:p>
        </p:txBody>
      </p:sp>
      <p:sp>
        <p:nvSpPr>
          <p:cNvPr id="332" name="Ось"/>
          <p:cNvSpPr txBox="1"/>
          <p:nvPr/>
        </p:nvSpPr>
        <p:spPr>
          <a:xfrm>
            <a:off x="454914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22,5</a:t>
            </a:r>
          </a:p>
        </p:txBody>
      </p:sp>
      <p:sp>
        <p:nvSpPr>
          <p:cNvPr id="333" name="Ось"/>
          <p:cNvSpPr txBox="1"/>
          <p:nvPr/>
        </p:nvSpPr>
        <p:spPr>
          <a:xfrm>
            <a:off x="973835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0</a:t>
            </a:r>
          </a:p>
        </p:txBody>
      </p:sp>
      <p:sp>
        <p:nvSpPr>
          <p:cNvPr id="334" name="Ось"/>
          <p:cNvSpPr txBox="1"/>
          <p:nvPr/>
        </p:nvSpPr>
        <p:spPr>
          <a:xfrm>
            <a:off x="1028699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10</a:t>
            </a:r>
          </a:p>
        </p:txBody>
      </p:sp>
      <p:sp>
        <p:nvSpPr>
          <p:cNvPr id="335" name="Ось"/>
          <p:cNvSpPr txBox="1"/>
          <p:nvPr/>
        </p:nvSpPr>
        <p:spPr>
          <a:xfrm>
            <a:off x="1083563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20</a:t>
            </a:r>
          </a:p>
        </p:txBody>
      </p:sp>
      <p:sp>
        <p:nvSpPr>
          <p:cNvPr id="336" name="Ось"/>
          <p:cNvSpPr txBox="1"/>
          <p:nvPr/>
        </p:nvSpPr>
        <p:spPr>
          <a:xfrm>
            <a:off x="11384280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30</a:t>
            </a:r>
          </a:p>
        </p:txBody>
      </p:sp>
      <p:sp>
        <p:nvSpPr>
          <p:cNvPr id="337" name="Ось"/>
          <p:cNvSpPr txBox="1"/>
          <p:nvPr/>
        </p:nvSpPr>
        <p:spPr>
          <a:xfrm>
            <a:off x="1193291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40</a:t>
            </a:r>
          </a:p>
        </p:txBody>
      </p:sp>
      <p:sp>
        <p:nvSpPr>
          <p:cNvPr id="338" name="Ось"/>
          <p:cNvSpPr txBox="1"/>
          <p:nvPr/>
        </p:nvSpPr>
        <p:spPr>
          <a:xfrm>
            <a:off x="1248155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50</a:t>
            </a:r>
          </a:p>
        </p:txBody>
      </p:sp>
      <p:sp>
        <p:nvSpPr>
          <p:cNvPr id="339" name="Ось"/>
          <p:cNvSpPr txBox="1"/>
          <p:nvPr/>
        </p:nvSpPr>
        <p:spPr>
          <a:xfrm>
            <a:off x="1303019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60</a:t>
            </a:r>
          </a:p>
        </p:txBody>
      </p:sp>
      <p:sp>
        <p:nvSpPr>
          <p:cNvPr id="340" name="Ось"/>
          <p:cNvSpPr txBox="1"/>
          <p:nvPr/>
        </p:nvSpPr>
        <p:spPr>
          <a:xfrm>
            <a:off x="13578839" y="9317736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E6B73"/>
                </a:solidFill>
                <a:latin typeface="Circe"/>
              </a:rPr>
              <a:t>70</a:t>
            </a:r>
          </a:p>
        </p:txBody>
      </p:sp>
      <p:sp>
        <p:nvSpPr>
          <p:cNvPr id="341" name="Вид деятельности"/>
          <p:cNvSpPr txBox="1"/>
          <p:nvPr/>
        </p:nvSpPr>
        <p:spPr>
          <a:xfrm>
            <a:off x="1069848" y="2048256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Сельское хозяйство, рыболовство</a:t>
            </a:r>
          </a:p>
        </p:txBody>
      </p:sp>
      <p:sp>
        <p:nvSpPr>
          <p:cNvPr id="342" name="Занятость"/>
          <p:cNvSpPr/>
          <p:nvPr/>
        </p:nvSpPr>
        <p:spPr>
          <a:xfrm>
            <a:off x="8697772" y="2075688"/>
            <a:ext cx="34747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Значение"/>
          <p:cNvSpPr txBox="1"/>
          <p:nvPr/>
        </p:nvSpPr>
        <p:spPr>
          <a:xfrm>
            <a:off x="8213140" y="203911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0,2</a:t>
            </a:r>
          </a:p>
        </p:txBody>
      </p:sp>
      <p:sp>
        <p:nvSpPr>
          <p:cNvPr id="344" name="Занятость"/>
          <p:cNvSpPr/>
          <p:nvPr/>
        </p:nvSpPr>
        <p:spPr>
          <a:xfrm>
            <a:off x="7637983" y="2249424"/>
            <a:ext cx="109453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Значение"/>
          <p:cNvSpPr txBox="1"/>
          <p:nvPr/>
        </p:nvSpPr>
        <p:spPr>
          <a:xfrm>
            <a:off x="7153351" y="2212848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6,3</a:t>
            </a:r>
          </a:p>
        </p:txBody>
      </p:sp>
      <p:sp>
        <p:nvSpPr>
          <p:cNvPr id="346" name="ВГП"/>
          <p:cNvSpPr/>
          <p:nvPr/>
        </p:nvSpPr>
        <p:spPr>
          <a:xfrm>
            <a:off x="10012680" y="2075688"/>
            <a:ext cx="1828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Значение"/>
          <p:cNvSpPr txBox="1"/>
          <p:nvPr/>
        </p:nvSpPr>
        <p:spPr>
          <a:xfrm>
            <a:off x="10067543" y="203911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0,024</a:t>
            </a:r>
          </a:p>
        </p:txBody>
      </p:sp>
      <p:sp>
        <p:nvSpPr>
          <p:cNvPr id="348" name="ВГП"/>
          <p:cNvSpPr/>
          <p:nvPr/>
        </p:nvSpPr>
        <p:spPr>
          <a:xfrm>
            <a:off x="10012680" y="2249424"/>
            <a:ext cx="257860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Значение"/>
          <p:cNvSpPr txBox="1"/>
          <p:nvPr/>
        </p:nvSpPr>
        <p:spPr>
          <a:xfrm>
            <a:off x="10307116" y="2212848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4,7</a:t>
            </a:r>
          </a:p>
        </p:txBody>
      </p:sp>
      <p:sp>
        <p:nvSpPr>
          <p:cNvPr id="350" name="Производительность Ноябрьск"/>
          <p:cNvSpPr txBox="1"/>
          <p:nvPr/>
        </p:nvSpPr>
        <p:spPr>
          <a:xfrm>
            <a:off x="8778240" y="2057400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800</a:t>
            </a:r>
          </a:p>
        </p:txBody>
      </p:sp>
      <p:sp>
        <p:nvSpPr>
          <p:cNvPr id="351" name="Производительность РФ"/>
          <p:cNvSpPr txBox="1"/>
          <p:nvPr/>
        </p:nvSpPr>
        <p:spPr>
          <a:xfrm>
            <a:off x="8778240" y="2221992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862</a:t>
            </a:r>
          </a:p>
        </p:txBody>
      </p:sp>
      <p:sp>
        <p:nvSpPr>
          <p:cNvPr id="352" name="Вид деятельности"/>
          <p:cNvSpPr txBox="1"/>
          <p:nvPr/>
        </p:nvSpPr>
        <p:spPr>
          <a:xfrm>
            <a:off x="1069848" y="2435191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Добыча полезных ископаемых</a:t>
            </a:r>
          </a:p>
        </p:txBody>
      </p:sp>
      <p:sp>
        <p:nvSpPr>
          <p:cNvPr id="353" name="Занятость"/>
          <p:cNvSpPr/>
          <p:nvPr/>
        </p:nvSpPr>
        <p:spPr>
          <a:xfrm>
            <a:off x="5796381" y="2462623"/>
            <a:ext cx="293613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Значение"/>
          <p:cNvSpPr txBox="1"/>
          <p:nvPr/>
        </p:nvSpPr>
        <p:spPr>
          <a:xfrm>
            <a:off x="5311749" y="2426047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16,9</a:t>
            </a:r>
          </a:p>
        </p:txBody>
      </p:sp>
      <p:sp>
        <p:nvSpPr>
          <p:cNvPr id="355" name="Занятость"/>
          <p:cNvSpPr/>
          <p:nvPr/>
        </p:nvSpPr>
        <p:spPr>
          <a:xfrm>
            <a:off x="8454542" y="2636359"/>
            <a:ext cx="27797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Значение"/>
          <p:cNvSpPr txBox="1"/>
          <p:nvPr/>
        </p:nvSpPr>
        <p:spPr>
          <a:xfrm>
            <a:off x="7969910" y="2599783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1,6</a:t>
            </a:r>
          </a:p>
        </p:txBody>
      </p:sp>
      <p:sp>
        <p:nvSpPr>
          <p:cNvPr id="357" name="ВГП"/>
          <p:cNvSpPr/>
          <p:nvPr/>
        </p:nvSpPr>
        <p:spPr>
          <a:xfrm>
            <a:off x="10012680" y="2462623"/>
            <a:ext cx="3527755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Значение"/>
          <p:cNvSpPr txBox="1"/>
          <p:nvPr/>
        </p:nvSpPr>
        <p:spPr>
          <a:xfrm>
            <a:off x="13577011" y="2426047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64,3</a:t>
            </a:r>
          </a:p>
        </p:txBody>
      </p:sp>
      <p:sp>
        <p:nvSpPr>
          <p:cNvPr id="359" name="ВГП"/>
          <p:cNvSpPr/>
          <p:nvPr/>
        </p:nvSpPr>
        <p:spPr>
          <a:xfrm>
            <a:off x="10012680" y="2636359"/>
            <a:ext cx="55412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Значение"/>
          <p:cNvSpPr txBox="1"/>
          <p:nvPr/>
        </p:nvSpPr>
        <p:spPr>
          <a:xfrm>
            <a:off x="10603382" y="2599783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10,1</a:t>
            </a:r>
          </a:p>
        </p:txBody>
      </p:sp>
      <p:sp>
        <p:nvSpPr>
          <p:cNvPr id="361" name="Производительность Ноябрьск"/>
          <p:cNvSpPr txBox="1"/>
          <p:nvPr/>
        </p:nvSpPr>
        <p:spPr>
          <a:xfrm>
            <a:off x="8778240" y="2444335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31 400</a:t>
            </a:r>
          </a:p>
        </p:txBody>
      </p:sp>
      <p:sp>
        <p:nvSpPr>
          <p:cNvPr id="362" name="Производительность РФ"/>
          <p:cNvSpPr txBox="1"/>
          <p:nvPr/>
        </p:nvSpPr>
        <p:spPr>
          <a:xfrm>
            <a:off x="8778240" y="2608927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7 253</a:t>
            </a:r>
          </a:p>
        </p:txBody>
      </p:sp>
      <p:sp>
        <p:nvSpPr>
          <p:cNvPr id="363" name="Вид деятельности"/>
          <p:cNvSpPr txBox="1"/>
          <p:nvPr/>
        </p:nvSpPr>
        <p:spPr>
          <a:xfrm>
            <a:off x="1069848" y="2822127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Обрабатывающие производства</a:t>
            </a:r>
          </a:p>
        </p:txBody>
      </p:sp>
      <p:sp>
        <p:nvSpPr>
          <p:cNvPr id="364" name="Занятость"/>
          <p:cNvSpPr/>
          <p:nvPr/>
        </p:nvSpPr>
        <p:spPr>
          <a:xfrm>
            <a:off x="7968081" y="2849559"/>
            <a:ext cx="76443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Значение"/>
          <p:cNvSpPr txBox="1"/>
          <p:nvPr/>
        </p:nvSpPr>
        <p:spPr>
          <a:xfrm>
            <a:off x="7483449" y="2812983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4,4</a:t>
            </a:r>
          </a:p>
        </p:txBody>
      </p:sp>
      <p:sp>
        <p:nvSpPr>
          <p:cNvPr id="366" name="Занятость"/>
          <p:cNvSpPr/>
          <p:nvPr/>
        </p:nvSpPr>
        <p:spPr>
          <a:xfrm>
            <a:off x="6282842" y="3023295"/>
            <a:ext cx="244967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Значение"/>
          <p:cNvSpPr txBox="1"/>
          <p:nvPr/>
        </p:nvSpPr>
        <p:spPr>
          <a:xfrm>
            <a:off x="5798210" y="2986719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14,1</a:t>
            </a:r>
          </a:p>
        </p:txBody>
      </p:sp>
      <p:sp>
        <p:nvSpPr>
          <p:cNvPr id="368" name="ВГП"/>
          <p:cNvSpPr/>
          <p:nvPr/>
        </p:nvSpPr>
        <p:spPr>
          <a:xfrm>
            <a:off x="10012680" y="2849559"/>
            <a:ext cx="630936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Значение"/>
          <p:cNvSpPr txBox="1"/>
          <p:nvPr/>
        </p:nvSpPr>
        <p:spPr>
          <a:xfrm>
            <a:off x="10680191" y="2812983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11,5</a:t>
            </a:r>
          </a:p>
        </p:txBody>
      </p:sp>
      <p:sp>
        <p:nvSpPr>
          <p:cNvPr id="370" name="ВГП"/>
          <p:cNvSpPr/>
          <p:nvPr/>
        </p:nvSpPr>
        <p:spPr>
          <a:xfrm>
            <a:off x="10012680" y="3023295"/>
            <a:ext cx="90525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Значение"/>
          <p:cNvSpPr txBox="1"/>
          <p:nvPr/>
        </p:nvSpPr>
        <p:spPr>
          <a:xfrm>
            <a:off x="10954511" y="2986719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16,5</a:t>
            </a:r>
          </a:p>
        </p:txBody>
      </p:sp>
      <p:sp>
        <p:nvSpPr>
          <p:cNvPr id="372" name="Производительность Ноябрьск"/>
          <p:cNvSpPr txBox="1"/>
          <p:nvPr/>
        </p:nvSpPr>
        <p:spPr>
          <a:xfrm>
            <a:off x="8778240" y="2831271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21 500</a:t>
            </a:r>
          </a:p>
        </p:txBody>
      </p:sp>
      <p:sp>
        <p:nvSpPr>
          <p:cNvPr id="373" name="Производительность РФ"/>
          <p:cNvSpPr txBox="1"/>
          <p:nvPr/>
        </p:nvSpPr>
        <p:spPr>
          <a:xfrm>
            <a:off x="8778240" y="2995863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1 373</a:t>
            </a:r>
          </a:p>
        </p:txBody>
      </p:sp>
      <p:sp>
        <p:nvSpPr>
          <p:cNvPr id="374" name="Вид деятельности"/>
          <p:cNvSpPr txBox="1"/>
          <p:nvPr/>
        </p:nvSpPr>
        <p:spPr>
          <a:xfrm>
            <a:off x="1069848" y="3209062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Обеспечение электроэнергией и газом</a:t>
            </a:r>
          </a:p>
        </p:txBody>
      </p:sp>
      <p:sp>
        <p:nvSpPr>
          <p:cNvPr id="375" name="Занятость"/>
          <p:cNvSpPr/>
          <p:nvPr/>
        </p:nvSpPr>
        <p:spPr>
          <a:xfrm>
            <a:off x="7811719" y="3236494"/>
            <a:ext cx="920800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Значение"/>
          <p:cNvSpPr txBox="1"/>
          <p:nvPr/>
        </p:nvSpPr>
        <p:spPr>
          <a:xfrm>
            <a:off x="7327087" y="3199918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5,3</a:t>
            </a:r>
          </a:p>
        </p:txBody>
      </p:sp>
      <p:sp>
        <p:nvSpPr>
          <p:cNvPr id="377" name="Занятость"/>
          <p:cNvSpPr/>
          <p:nvPr/>
        </p:nvSpPr>
        <p:spPr>
          <a:xfrm>
            <a:off x="8350300" y="3410230"/>
            <a:ext cx="382219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Значение"/>
          <p:cNvSpPr txBox="1"/>
          <p:nvPr/>
        </p:nvSpPr>
        <p:spPr>
          <a:xfrm>
            <a:off x="7865668" y="337365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2,2</a:t>
            </a:r>
          </a:p>
        </p:txBody>
      </p:sp>
      <p:sp>
        <p:nvSpPr>
          <p:cNvPr id="379" name="ВГП"/>
          <p:cNvSpPr/>
          <p:nvPr/>
        </p:nvSpPr>
        <p:spPr>
          <a:xfrm>
            <a:off x="10012680" y="3236494"/>
            <a:ext cx="65836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Значение"/>
          <p:cNvSpPr txBox="1"/>
          <p:nvPr/>
        </p:nvSpPr>
        <p:spPr>
          <a:xfrm>
            <a:off x="10115092" y="3199918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1,2</a:t>
            </a:r>
          </a:p>
        </p:txBody>
      </p:sp>
      <p:sp>
        <p:nvSpPr>
          <p:cNvPr id="381" name="ВГП"/>
          <p:cNvSpPr/>
          <p:nvPr/>
        </p:nvSpPr>
        <p:spPr>
          <a:xfrm>
            <a:off x="10012680" y="3410230"/>
            <a:ext cx="164592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Значение"/>
          <p:cNvSpPr txBox="1"/>
          <p:nvPr/>
        </p:nvSpPr>
        <p:spPr>
          <a:xfrm>
            <a:off x="10213847" y="3373654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3,0</a:t>
            </a:r>
          </a:p>
        </p:txBody>
      </p:sp>
      <p:sp>
        <p:nvSpPr>
          <p:cNvPr id="383" name="Производительность Ноябрьск"/>
          <p:cNvSpPr txBox="1"/>
          <p:nvPr/>
        </p:nvSpPr>
        <p:spPr>
          <a:xfrm>
            <a:off x="8778240" y="3218206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1 900</a:t>
            </a:r>
          </a:p>
        </p:txBody>
      </p:sp>
      <p:sp>
        <p:nvSpPr>
          <p:cNvPr id="384" name="Производительность РФ"/>
          <p:cNvSpPr txBox="1"/>
          <p:nvPr/>
        </p:nvSpPr>
        <p:spPr>
          <a:xfrm>
            <a:off x="8778240" y="3382798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1 550</a:t>
            </a:r>
          </a:p>
        </p:txBody>
      </p:sp>
      <p:sp>
        <p:nvSpPr>
          <p:cNvPr id="385" name="Вид деятельности"/>
          <p:cNvSpPr txBox="1"/>
          <p:nvPr/>
        </p:nvSpPr>
        <p:spPr>
          <a:xfrm>
            <a:off x="1069848" y="3595998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Водоснабжение, организация сбора и утилизация отходов</a:t>
            </a:r>
          </a:p>
        </p:txBody>
      </p:sp>
      <p:sp>
        <p:nvSpPr>
          <p:cNvPr id="386" name="Занятость"/>
          <p:cNvSpPr/>
          <p:nvPr/>
        </p:nvSpPr>
        <p:spPr>
          <a:xfrm>
            <a:off x="8506663" y="3623430"/>
            <a:ext cx="225856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Значение"/>
          <p:cNvSpPr txBox="1"/>
          <p:nvPr/>
        </p:nvSpPr>
        <p:spPr>
          <a:xfrm>
            <a:off x="8022031" y="358685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1,3</a:t>
            </a:r>
          </a:p>
        </p:txBody>
      </p:sp>
      <p:sp>
        <p:nvSpPr>
          <p:cNvPr id="388" name="Занятость"/>
          <p:cNvSpPr/>
          <p:nvPr/>
        </p:nvSpPr>
        <p:spPr>
          <a:xfrm>
            <a:off x="8558784" y="3797166"/>
            <a:ext cx="17373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Значение"/>
          <p:cNvSpPr txBox="1"/>
          <p:nvPr/>
        </p:nvSpPr>
        <p:spPr>
          <a:xfrm>
            <a:off x="8074152" y="3760590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1,0</a:t>
            </a:r>
          </a:p>
        </p:txBody>
      </p:sp>
      <p:sp>
        <p:nvSpPr>
          <p:cNvPr id="390" name="ВГП"/>
          <p:cNvSpPr/>
          <p:nvPr/>
        </p:nvSpPr>
        <p:spPr>
          <a:xfrm>
            <a:off x="10012680" y="3623430"/>
            <a:ext cx="3291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Значение"/>
          <p:cNvSpPr txBox="1"/>
          <p:nvPr/>
        </p:nvSpPr>
        <p:spPr>
          <a:xfrm>
            <a:off x="10082174" y="3586854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0,6</a:t>
            </a:r>
          </a:p>
        </p:txBody>
      </p:sp>
      <p:sp>
        <p:nvSpPr>
          <p:cNvPr id="392" name="ВГП"/>
          <p:cNvSpPr/>
          <p:nvPr/>
        </p:nvSpPr>
        <p:spPr>
          <a:xfrm>
            <a:off x="10012680" y="3797166"/>
            <a:ext cx="3291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Значение"/>
          <p:cNvSpPr txBox="1"/>
          <p:nvPr/>
        </p:nvSpPr>
        <p:spPr>
          <a:xfrm>
            <a:off x="10082174" y="3760590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0,6</a:t>
            </a:r>
          </a:p>
        </p:txBody>
      </p:sp>
      <p:sp>
        <p:nvSpPr>
          <p:cNvPr id="394" name="Производительность Ноябрьск"/>
          <p:cNvSpPr txBox="1"/>
          <p:nvPr/>
        </p:nvSpPr>
        <p:spPr>
          <a:xfrm>
            <a:off x="8778240" y="3605142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4 100</a:t>
            </a:r>
          </a:p>
        </p:txBody>
      </p:sp>
      <p:sp>
        <p:nvSpPr>
          <p:cNvPr id="395" name="Производительность РФ"/>
          <p:cNvSpPr txBox="1"/>
          <p:nvPr/>
        </p:nvSpPr>
        <p:spPr>
          <a:xfrm>
            <a:off x="8778240" y="3769734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733</a:t>
            </a:r>
          </a:p>
        </p:txBody>
      </p:sp>
      <p:sp>
        <p:nvSpPr>
          <p:cNvPr id="396" name="Вид деятельности"/>
          <p:cNvSpPr txBox="1"/>
          <p:nvPr/>
        </p:nvSpPr>
        <p:spPr>
          <a:xfrm>
            <a:off x="1069848" y="3982933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Строительство</a:t>
            </a:r>
          </a:p>
        </p:txBody>
      </p:sp>
      <p:sp>
        <p:nvSpPr>
          <p:cNvPr id="397" name="Занятость"/>
          <p:cNvSpPr/>
          <p:nvPr/>
        </p:nvSpPr>
        <p:spPr>
          <a:xfrm>
            <a:off x="7724851" y="4010365"/>
            <a:ext cx="100766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Значение"/>
          <p:cNvSpPr txBox="1"/>
          <p:nvPr/>
        </p:nvSpPr>
        <p:spPr>
          <a:xfrm>
            <a:off x="7240219" y="3973789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5,8</a:t>
            </a:r>
          </a:p>
        </p:txBody>
      </p:sp>
      <p:sp>
        <p:nvSpPr>
          <p:cNvPr id="399" name="Занятость"/>
          <p:cNvSpPr/>
          <p:nvPr/>
        </p:nvSpPr>
        <p:spPr>
          <a:xfrm>
            <a:off x="7134148" y="4184101"/>
            <a:ext cx="1598371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Значение"/>
          <p:cNvSpPr txBox="1"/>
          <p:nvPr/>
        </p:nvSpPr>
        <p:spPr>
          <a:xfrm>
            <a:off x="6649516" y="4147525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9,2</a:t>
            </a:r>
          </a:p>
        </p:txBody>
      </p:sp>
      <p:sp>
        <p:nvSpPr>
          <p:cNvPr id="401" name="ВГП"/>
          <p:cNvSpPr/>
          <p:nvPr/>
        </p:nvSpPr>
        <p:spPr>
          <a:xfrm>
            <a:off x="10012680" y="4010365"/>
            <a:ext cx="197510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Значение"/>
          <p:cNvSpPr txBox="1"/>
          <p:nvPr/>
        </p:nvSpPr>
        <p:spPr>
          <a:xfrm>
            <a:off x="10246766" y="3973789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3,6</a:t>
            </a:r>
          </a:p>
        </p:txBody>
      </p:sp>
      <p:sp>
        <p:nvSpPr>
          <p:cNvPr id="403" name="ВГП"/>
          <p:cNvSpPr/>
          <p:nvPr/>
        </p:nvSpPr>
        <p:spPr>
          <a:xfrm>
            <a:off x="10012680" y="4184101"/>
            <a:ext cx="318211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Значение"/>
          <p:cNvSpPr txBox="1"/>
          <p:nvPr/>
        </p:nvSpPr>
        <p:spPr>
          <a:xfrm>
            <a:off x="10367467" y="4147525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5,8</a:t>
            </a:r>
          </a:p>
        </p:txBody>
      </p:sp>
      <p:sp>
        <p:nvSpPr>
          <p:cNvPr id="405" name="Производительность Ноябрьск"/>
          <p:cNvSpPr txBox="1"/>
          <p:nvPr/>
        </p:nvSpPr>
        <p:spPr>
          <a:xfrm>
            <a:off x="8778240" y="3992077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5 100</a:t>
            </a:r>
          </a:p>
        </p:txBody>
      </p:sp>
      <p:sp>
        <p:nvSpPr>
          <p:cNvPr id="406" name="Производительность РФ"/>
          <p:cNvSpPr txBox="1"/>
          <p:nvPr/>
        </p:nvSpPr>
        <p:spPr>
          <a:xfrm>
            <a:off x="8778240" y="4156669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740</a:t>
            </a:r>
          </a:p>
        </p:txBody>
      </p:sp>
      <p:sp>
        <p:nvSpPr>
          <p:cNvPr id="407" name="Вид деятельности"/>
          <p:cNvSpPr txBox="1"/>
          <p:nvPr/>
        </p:nvSpPr>
        <p:spPr>
          <a:xfrm>
            <a:off x="1069848" y="4369869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Торговля, ремонт автотранспортных средств</a:t>
            </a:r>
          </a:p>
        </p:txBody>
      </p:sp>
      <p:sp>
        <p:nvSpPr>
          <p:cNvPr id="408" name="Занятость"/>
          <p:cNvSpPr/>
          <p:nvPr/>
        </p:nvSpPr>
        <p:spPr>
          <a:xfrm>
            <a:off x="7811719" y="4397301"/>
            <a:ext cx="920800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Значение"/>
          <p:cNvSpPr txBox="1"/>
          <p:nvPr/>
        </p:nvSpPr>
        <p:spPr>
          <a:xfrm>
            <a:off x="7327087" y="4360725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5,3</a:t>
            </a:r>
          </a:p>
        </p:txBody>
      </p:sp>
      <p:sp>
        <p:nvSpPr>
          <p:cNvPr id="410" name="Занятость"/>
          <p:cNvSpPr/>
          <p:nvPr/>
        </p:nvSpPr>
        <p:spPr>
          <a:xfrm>
            <a:off x="5483656" y="4571037"/>
            <a:ext cx="3248863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Значение"/>
          <p:cNvSpPr txBox="1"/>
          <p:nvPr/>
        </p:nvSpPr>
        <p:spPr>
          <a:xfrm>
            <a:off x="4999024" y="4534461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18,7</a:t>
            </a:r>
          </a:p>
        </p:txBody>
      </p:sp>
      <p:sp>
        <p:nvSpPr>
          <p:cNvPr id="412" name="ВГП"/>
          <p:cNvSpPr/>
          <p:nvPr/>
        </p:nvSpPr>
        <p:spPr>
          <a:xfrm>
            <a:off x="10012680" y="4397301"/>
            <a:ext cx="54864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Значение"/>
          <p:cNvSpPr txBox="1"/>
          <p:nvPr/>
        </p:nvSpPr>
        <p:spPr>
          <a:xfrm>
            <a:off x="10104119" y="4360725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1,0</a:t>
            </a:r>
          </a:p>
        </p:txBody>
      </p:sp>
      <p:sp>
        <p:nvSpPr>
          <p:cNvPr id="414" name="ВГП"/>
          <p:cNvSpPr/>
          <p:nvPr/>
        </p:nvSpPr>
        <p:spPr>
          <a:xfrm>
            <a:off x="10012680" y="4571037"/>
            <a:ext cx="87233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Значение"/>
          <p:cNvSpPr txBox="1"/>
          <p:nvPr/>
        </p:nvSpPr>
        <p:spPr>
          <a:xfrm>
            <a:off x="10921593" y="4534461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15,9</a:t>
            </a:r>
          </a:p>
        </p:txBody>
      </p:sp>
      <p:sp>
        <p:nvSpPr>
          <p:cNvPr id="416" name="Производительность Ноябрьск"/>
          <p:cNvSpPr txBox="1"/>
          <p:nvPr/>
        </p:nvSpPr>
        <p:spPr>
          <a:xfrm>
            <a:off x="8778240" y="4379013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1 500</a:t>
            </a:r>
          </a:p>
        </p:txBody>
      </p:sp>
      <p:sp>
        <p:nvSpPr>
          <p:cNvPr id="417" name="Производительность РФ"/>
          <p:cNvSpPr txBox="1"/>
          <p:nvPr/>
        </p:nvSpPr>
        <p:spPr>
          <a:xfrm>
            <a:off x="8778240" y="4543605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995</a:t>
            </a:r>
          </a:p>
        </p:txBody>
      </p:sp>
      <p:sp>
        <p:nvSpPr>
          <p:cNvPr id="418" name="Вид деятельности"/>
          <p:cNvSpPr txBox="1"/>
          <p:nvPr/>
        </p:nvSpPr>
        <p:spPr>
          <a:xfrm>
            <a:off x="1069848" y="4756805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Транспортировка и хранение</a:t>
            </a:r>
          </a:p>
        </p:txBody>
      </p:sp>
      <p:sp>
        <p:nvSpPr>
          <p:cNvPr id="419" name="Занятость"/>
          <p:cNvSpPr/>
          <p:nvPr/>
        </p:nvSpPr>
        <p:spPr>
          <a:xfrm>
            <a:off x="6456578" y="4784237"/>
            <a:ext cx="2275941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Значение"/>
          <p:cNvSpPr txBox="1"/>
          <p:nvPr/>
        </p:nvSpPr>
        <p:spPr>
          <a:xfrm>
            <a:off x="5971946" y="4747661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13,1</a:t>
            </a:r>
          </a:p>
        </p:txBody>
      </p:sp>
      <p:sp>
        <p:nvSpPr>
          <p:cNvPr id="421" name="Занятость"/>
          <p:cNvSpPr/>
          <p:nvPr/>
        </p:nvSpPr>
        <p:spPr>
          <a:xfrm>
            <a:off x="7342632" y="4957973"/>
            <a:ext cx="138988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Значение"/>
          <p:cNvSpPr txBox="1"/>
          <p:nvPr/>
        </p:nvSpPr>
        <p:spPr>
          <a:xfrm>
            <a:off x="6858000" y="4921397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8,0</a:t>
            </a:r>
          </a:p>
        </p:txBody>
      </p:sp>
      <p:sp>
        <p:nvSpPr>
          <p:cNvPr id="423" name="ВГП"/>
          <p:cNvSpPr/>
          <p:nvPr/>
        </p:nvSpPr>
        <p:spPr>
          <a:xfrm>
            <a:off x="10012680" y="4784237"/>
            <a:ext cx="24688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Значение"/>
          <p:cNvSpPr txBox="1"/>
          <p:nvPr/>
        </p:nvSpPr>
        <p:spPr>
          <a:xfrm>
            <a:off x="10296143" y="4747661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4,5</a:t>
            </a:r>
          </a:p>
        </p:txBody>
      </p:sp>
      <p:sp>
        <p:nvSpPr>
          <p:cNvPr id="425" name="ВГП"/>
          <p:cNvSpPr/>
          <p:nvPr/>
        </p:nvSpPr>
        <p:spPr>
          <a:xfrm>
            <a:off x="10012680" y="4957973"/>
            <a:ext cx="395020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Значение"/>
          <p:cNvSpPr txBox="1"/>
          <p:nvPr/>
        </p:nvSpPr>
        <p:spPr>
          <a:xfrm>
            <a:off x="10444276" y="4921397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7,2</a:t>
            </a:r>
          </a:p>
        </p:txBody>
      </p:sp>
      <p:sp>
        <p:nvSpPr>
          <p:cNvPr id="427" name="Производительность Ноябрьск"/>
          <p:cNvSpPr txBox="1"/>
          <p:nvPr/>
        </p:nvSpPr>
        <p:spPr>
          <a:xfrm>
            <a:off x="8778240" y="4765949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2 800</a:t>
            </a:r>
          </a:p>
        </p:txBody>
      </p:sp>
      <p:sp>
        <p:nvSpPr>
          <p:cNvPr id="428" name="Производительность РФ"/>
          <p:cNvSpPr txBox="1"/>
          <p:nvPr/>
        </p:nvSpPr>
        <p:spPr>
          <a:xfrm>
            <a:off x="8778240" y="4930541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1 056</a:t>
            </a:r>
          </a:p>
        </p:txBody>
      </p:sp>
      <p:sp>
        <p:nvSpPr>
          <p:cNvPr id="429" name="Вид деятельности"/>
          <p:cNvSpPr txBox="1"/>
          <p:nvPr/>
        </p:nvSpPr>
        <p:spPr>
          <a:xfrm>
            <a:off x="1069848" y="5143740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Гостиницы и предприятия общественного питания</a:t>
            </a:r>
          </a:p>
        </p:txBody>
      </p:sp>
      <p:sp>
        <p:nvSpPr>
          <p:cNvPr id="430" name="Занятость"/>
          <p:cNvSpPr/>
          <p:nvPr/>
        </p:nvSpPr>
        <p:spPr>
          <a:xfrm>
            <a:off x="7968081" y="5171172"/>
            <a:ext cx="76443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Значение"/>
          <p:cNvSpPr txBox="1"/>
          <p:nvPr/>
        </p:nvSpPr>
        <p:spPr>
          <a:xfrm>
            <a:off x="7483449" y="513459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4,4</a:t>
            </a:r>
          </a:p>
        </p:txBody>
      </p:sp>
      <p:sp>
        <p:nvSpPr>
          <p:cNvPr id="432" name="Занятость"/>
          <p:cNvSpPr/>
          <p:nvPr/>
        </p:nvSpPr>
        <p:spPr>
          <a:xfrm>
            <a:off x="8280806" y="5344908"/>
            <a:ext cx="451713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Значение"/>
          <p:cNvSpPr txBox="1"/>
          <p:nvPr/>
        </p:nvSpPr>
        <p:spPr>
          <a:xfrm>
            <a:off x="7796174" y="530833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2,6</a:t>
            </a:r>
          </a:p>
        </p:txBody>
      </p:sp>
      <p:sp>
        <p:nvSpPr>
          <p:cNvPr id="434" name="ВГП"/>
          <p:cNvSpPr/>
          <p:nvPr/>
        </p:nvSpPr>
        <p:spPr>
          <a:xfrm>
            <a:off x="10012680" y="5171172"/>
            <a:ext cx="43891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Значение"/>
          <p:cNvSpPr txBox="1"/>
          <p:nvPr/>
        </p:nvSpPr>
        <p:spPr>
          <a:xfrm>
            <a:off x="10093147" y="5134596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0,8</a:t>
            </a:r>
          </a:p>
        </p:txBody>
      </p:sp>
      <p:sp>
        <p:nvSpPr>
          <p:cNvPr id="436" name="ВГП"/>
          <p:cNvSpPr/>
          <p:nvPr/>
        </p:nvSpPr>
        <p:spPr>
          <a:xfrm>
            <a:off x="10012680" y="5344908"/>
            <a:ext cx="54864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Значение"/>
          <p:cNvSpPr txBox="1"/>
          <p:nvPr/>
        </p:nvSpPr>
        <p:spPr>
          <a:xfrm>
            <a:off x="10104119" y="530833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1,0</a:t>
            </a:r>
          </a:p>
        </p:txBody>
      </p:sp>
      <p:sp>
        <p:nvSpPr>
          <p:cNvPr id="438" name="Производительность Ноябрьск"/>
          <p:cNvSpPr txBox="1"/>
          <p:nvPr/>
        </p:nvSpPr>
        <p:spPr>
          <a:xfrm>
            <a:off x="8778240" y="5152884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1 400</a:t>
            </a:r>
          </a:p>
        </p:txBody>
      </p:sp>
      <p:sp>
        <p:nvSpPr>
          <p:cNvPr id="439" name="Производительность РФ"/>
          <p:cNvSpPr txBox="1"/>
          <p:nvPr/>
        </p:nvSpPr>
        <p:spPr>
          <a:xfrm>
            <a:off x="8778240" y="5317476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436</a:t>
            </a:r>
          </a:p>
        </p:txBody>
      </p:sp>
      <p:sp>
        <p:nvSpPr>
          <p:cNvPr id="440" name="Вид деятельности"/>
          <p:cNvSpPr txBox="1"/>
          <p:nvPr/>
        </p:nvSpPr>
        <p:spPr>
          <a:xfrm>
            <a:off x="1069848" y="5530676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Информация и связь</a:t>
            </a:r>
          </a:p>
        </p:txBody>
      </p:sp>
      <p:sp>
        <p:nvSpPr>
          <p:cNvPr id="441" name="Занятость"/>
          <p:cNvSpPr/>
          <p:nvPr/>
        </p:nvSpPr>
        <p:spPr>
          <a:xfrm>
            <a:off x="8437168" y="5558108"/>
            <a:ext cx="295351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Значение"/>
          <p:cNvSpPr txBox="1"/>
          <p:nvPr/>
        </p:nvSpPr>
        <p:spPr>
          <a:xfrm>
            <a:off x="7952536" y="552153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1,7</a:t>
            </a:r>
          </a:p>
        </p:txBody>
      </p:sp>
      <p:sp>
        <p:nvSpPr>
          <p:cNvPr id="443" name="Занятость"/>
          <p:cNvSpPr/>
          <p:nvPr/>
        </p:nvSpPr>
        <p:spPr>
          <a:xfrm>
            <a:off x="8350300" y="5731844"/>
            <a:ext cx="382219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Значение"/>
          <p:cNvSpPr txBox="1"/>
          <p:nvPr/>
        </p:nvSpPr>
        <p:spPr>
          <a:xfrm>
            <a:off x="7865668" y="5695268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2,2</a:t>
            </a:r>
          </a:p>
        </p:txBody>
      </p:sp>
      <p:sp>
        <p:nvSpPr>
          <p:cNvPr id="445" name="ВГП"/>
          <p:cNvSpPr/>
          <p:nvPr/>
        </p:nvSpPr>
        <p:spPr>
          <a:xfrm>
            <a:off x="10012680" y="5558108"/>
            <a:ext cx="27432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Значение"/>
          <p:cNvSpPr txBox="1"/>
          <p:nvPr/>
        </p:nvSpPr>
        <p:spPr>
          <a:xfrm>
            <a:off x="10076687" y="552153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0,5</a:t>
            </a:r>
          </a:p>
        </p:txBody>
      </p:sp>
      <p:sp>
        <p:nvSpPr>
          <p:cNvPr id="447" name="ВГП"/>
          <p:cNvSpPr/>
          <p:nvPr/>
        </p:nvSpPr>
        <p:spPr>
          <a:xfrm>
            <a:off x="10012680" y="5731844"/>
            <a:ext cx="20299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Значение"/>
          <p:cNvSpPr txBox="1"/>
          <p:nvPr/>
        </p:nvSpPr>
        <p:spPr>
          <a:xfrm>
            <a:off x="10252252" y="5695268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3,7</a:t>
            </a:r>
          </a:p>
        </p:txBody>
      </p:sp>
      <p:sp>
        <p:nvSpPr>
          <p:cNvPr id="449" name="Производительность Ноябрьск"/>
          <p:cNvSpPr txBox="1"/>
          <p:nvPr/>
        </p:nvSpPr>
        <p:spPr>
          <a:xfrm>
            <a:off x="8778240" y="5539820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2 300</a:t>
            </a:r>
          </a:p>
        </p:txBody>
      </p:sp>
      <p:sp>
        <p:nvSpPr>
          <p:cNvPr id="450" name="Производительность РФ"/>
          <p:cNvSpPr txBox="1"/>
          <p:nvPr/>
        </p:nvSpPr>
        <p:spPr>
          <a:xfrm>
            <a:off x="8778240" y="5704412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1 985</a:t>
            </a:r>
          </a:p>
        </p:txBody>
      </p:sp>
      <p:sp>
        <p:nvSpPr>
          <p:cNvPr id="451" name="Вид деятельности"/>
          <p:cNvSpPr txBox="1"/>
          <p:nvPr/>
        </p:nvSpPr>
        <p:spPr>
          <a:xfrm>
            <a:off x="1069848" y="5917611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Финансы и страхование</a:t>
            </a:r>
          </a:p>
        </p:txBody>
      </p:sp>
      <p:sp>
        <p:nvSpPr>
          <p:cNvPr id="452" name="Занятость"/>
          <p:cNvSpPr/>
          <p:nvPr/>
        </p:nvSpPr>
        <p:spPr>
          <a:xfrm>
            <a:off x="8628278" y="5945043"/>
            <a:ext cx="104241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Значение"/>
          <p:cNvSpPr txBox="1"/>
          <p:nvPr/>
        </p:nvSpPr>
        <p:spPr>
          <a:xfrm>
            <a:off x="8143646" y="5908467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0,6</a:t>
            </a:r>
          </a:p>
        </p:txBody>
      </p:sp>
      <p:sp>
        <p:nvSpPr>
          <p:cNvPr id="454" name="Занятость"/>
          <p:cNvSpPr/>
          <p:nvPr/>
        </p:nvSpPr>
        <p:spPr>
          <a:xfrm>
            <a:off x="8332927" y="6118779"/>
            <a:ext cx="399592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Значение"/>
          <p:cNvSpPr txBox="1"/>
          <p:nvPr/>
        </p:nvSpPr>
        <p:spPr>
          <a:xfrm>
            <a:off x="7848295" y="6082203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2,3</a:t>
            </a:r>
          </a:p>
        </p:txBody>
      </p:sp>
      <p:sp>
        <p:nvSpPr>
          <p:cNvPr id="456" name="ВГП"/>
          <p:cNvSpPr/>
          <p:nvPr/>
        </p:nvSpPr>
        <p:spPr>
          <a:xfrm>
            <a:off x="10012680" y="5945043"/>
            <a:ext cx="1828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Значение"/>
          <p:cNvSpPr txBox="1"/>
          <p:nvPr/>
        </p:nvSpPr>
        <p:spPr>
          <a:xfrm>
            <a:off x="10067543" y="5908467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0,18</a:t>
            </a:r>
          </a:p>
        </p:txBody>
      </p:sp>
      <p:sp>
        <p:nvSpPr>
          <p:cNvPr id="458" name="ВГП"/>
          <p:cNvSpPr/>
          <p:nvPr/>
        </p:nvSpPr>
        <p:spPr>
          <a:xfrm>
            <a:off x="10012680" y="6118779"/>
            <a:ext cx="3291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Значение"/>
          <p:cNvSpPr txBox="1"/>
          <p:nvPr/>
        </p:nvSpPr>
        <p:spPr>
          <a:xfrm>
            <a:off x="10082174" y="6082203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0,6</a:t>
            </a:r>
          </a:p>
        </p:txBody>
      </p:sp>
      <p:sp>
        <p:nvSpPr>
          <p:cNvPr id="460" name="Производительность Ноябрьск"/>
          <p:cNvSpPr txBox="1"/>
          <p:nvPr/>
        </p:nvSpPr>
        <p:spPr>
          <a:xfrm>
            <a:off x="8778240" y="5926755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2 600</a:t>
            </a:r>
          </a:p>
        </p:txBody>
      </p:sp>
      <p:sp>
        <p:nvSpPr>
          <p:cNvPr id="461" name="Производительность РФ"/>
          <p:cNvSpPr txBox="1"/>
          <p:nvPr/>
        </p:nvSpPr>
        <p:spPr>
          <a:xfrm>
            <a:off x="8778240" y="6091347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320</a:t>
            </a:r>
          </a:p>
        </p:txBody>
      </p:sp>
      <p:sp>
        <p:nvSpPr>
          <p:cNvPr id="462" name="Вид деятельности"/>
          <p:cNvSpPr txBox="1"/>
          <p:nvPr/>
        </p:nvSpPr>
        <p:spPr>
          <a:xfrm>
            <a:off x="1069848" y="6304547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Операции с недвижимым имуществом</a:t>
            </a:r>
          </a:p>
        </p:txBody>
      </p:sp>
      <p:sp>
        <p:nvSpPr>
          <p:cNvPr id="463" name="Занятость"/>
          <p:cNvSpPr/>
          <p:nvPr/>
        </p:nvSpPr>
        <p:spPr>
          <a:xfrm>
            <a:off x="7846466" y="6331979"/>
            <a:ext cx="886053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Значение"/>
          <p:cNvSpPr txBox="1"/>
          <p:nvPr/>
        </p:nvSpPr>
        <p:spPr>
          <a:xfrm>
            <a:off x="7361834" y="6295403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5,1</a:t>
            </a:r>
          </a:p>
        </p:txBody>
      </p:sp>
      <p:sp>
        <p:nvSpPr>
          <p:cNvPr id="465" name="Занятость"/>
          <p:cNvSpPr/>
          <p:nvPr/>
        </p:nvSpPr>
        <p:spPr>
          <a:xfrm>
            <a:off x="8263432" y="6505715"/>
            <a:ext cx="46908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Значение"/>
          <p:cNvSpPr txBox="1"/>
          <p:nvPr/>
        </p:nvSpPr>
        <p:spPr>
          <a:xfrm>
            <a:off x="7778800" y="6469139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2,7</a:t>
            </a:r>
          </a:p>
        </p:txBody>
      </p:sp>
      <p:sp>
        <p:nvSpPr>
          <p:cNvPr id="467" name="ВГП"/>
          <p:cNvSpPr/>
          <p:nvPr/>
        </p:nvSpPr>
        <p:spPr>
          <a:xfrm>
            <a:off x="10012680" y="6331979"/>
            <a:ext cx="131673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Значение"/>
          <p:cNvSpPr txBox="1"/>
          <p:nvPr/>
        </p:nvSpPr>
        <p:spPr>
          <a:xfrm>
            <a:off x="10180929" y="6295403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2,4</a:t>
            </a:r>
          </a:p>
        </p:txBody>
      </p:sp>
      <p:sp>
        <p:nvSpPr>
          <p:cNvPr id="469" name="ВГП"/>
          <p:cNvSpPr/>
          <p:nvPr/>
        </p:nvSpPr>
        <p:spPr>
          <a:xfrm>
            <a:off x="10012680" y="6505715"/>
            <a:ext cx="603503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Значение"/>
          <p:cNvSpPr txBox="1"/>
          <p:nvPr/>
        </p:nvSpPr>
        <p:spPr>
          <a:xfrm>
            <a:off x="10652759" y="6469139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11,0</a:t>
            </a:r>
          </a:p>
        </p:txBody>
      </p:sp>
      <p:sp>
        <p:nvSpPr>
          <p:cNvPr id="471" name="Производительность Ноябрьск"/>
          <p:cNvSpPr txBox="1"/>
          <p:nvPr/>
        </p:nvSpPr>
        <p:spPr>
          <a:xfrm>
            <a:off x="8778240" y="6313691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4 000</a:t>
            </a:r>
          </a:p>
        </p:txBody>
      </p:sp>
      <p:sp>
        <p:nvSpPr>
          <p:cNvPr id="472" name="Производительность РФ"/>
          <p:cNvSpPr txBox="1"/>
          <p:nvPr/>
        </p:nvSpPr>
        <p:spPr>
          <a:xfrm>
            <a:off x="8778240" y="6478283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4 799</a:t>
            </a:r>
          </a:p>
        </p:txBody>
      </p:sp>
      <p:sp>
        <p:nvSpPr>
          <p:cNvPr id="473" name="Вид деятельности"/>
          <p:cNvSpPr txBox="1"/>
          <p:nvPr/>
        </p:nvSpPr>
        <p:spPr>
          <a:xfrm>
            <a:off x="1069848" y="6691482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Деятельность профессиональная, научная и техническая</a:t>
            </a:r>
          </a:p>
        </p:txBody>
      </p:sp>
      <p:sp>
        <p:nvSpPr>
          <p:cNvPr id="474" name="Занятость"/>
          <p:cNvSpPr/>
          <p:nvPr/>
        </p:nvSpPr>
        <p:spPr>
          <a:xfrm>
            <a:off x="7915960" y="6718914"/>
            <a:ext cx="816559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Значение"/>
          <p:cNvSpPr txBox="1"/>
          <p:nvPr/>
        </p:nvSpPr>
        <p:spPr>
          <a:xfrm>
            <a:off x="7431328" y="6682338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4,7</a:t>
            </a:r>
          </a:p>
        </p:txBody>
      </p:sp>
      <p:sp>
        <p:nvSpPr>
          <p:cNvPr id="476" name="Занятость"/>
          <p:cNvSpPr/>
          <p:nvPr/>
        </p:nvSpPr>
        <p:spPr>
          <a:xfrm>
            <a:off x="7933334" y="6892650"/>
            <a:ext cx="799185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Значение"/>
          <p:cNvSpPr txBox="1"/>
          <p:nvPr/>
        </p:nvSpPr>
        <p:spPr>
          <a:xfrm>
            <a:off x="7448702" y="685607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4,6</a:t>
            </a:r>
          </a:p>
        </p:txBody>
      </p:sp>
      <p:sp>
        <p:nvSpPr>
          <p:cNvPr id="478" name="ВГП"/>
          <p:cNvSpPr/>
          <p:nvPr/>
        </p:nvSpPr>
        <p:spPr>
          <a:xfrm>
            <a:off x="10012680" y="6718914"/>
            <a:ext cx="54864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Значение"/>
          <p:cNvSpPr txBox="1"/>
          <p:nvPr/>
        </p:nvSpPr>
        <p:spPr>
          <a:xfrm>
            <a:off x="10104119" y="6682338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1,0</a:t>
            </a:r>
          </a:p>
        </p:txBody>
      </p:sp>
      <p:sp>
        <p:nvSpPr>
          <p:cNvPr id="480" name="ВГП"/>
          <p:cNvSpPr/>
          <p:nvPr/>
        </p:nvSpPr>
        <p:spPr>
          <a:xfrm>
            <a:off x="10012680" y="6892650"/>
            <a:ext cx="24688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Значение"/>
          <p:cNvSpPr txBox="1"/>
          <p:nvPr/>
        </p:nvSpPr>
        <p:spPr>
          <a:xfrm>
            <a:off x="10296143" y="6856074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4,5</a:t>
            </a:r>
          </a:p>
        </p:txBody>
      </p:sp>
      <p:sp>
        <p:nvSpPr>
          <p:cNvPr id="482" name="Производительность Ноябрьск"/>
          <p:cNvSpPr txBox="1"/>
          <p:nvPr/>
        </p:nvSpPr>
        <p:spPr>
          <a:xfrm>
            <a:off x="8778240" y="6700626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1 800</a:t>
            </a:r>
          </a:p>
        </p:txBody>
      </p:sp>
      <p:sp>
        <p:nvSpPr>
          <p:cNvPr id="483" name="Производительность РФ"/>
          <p:cNvSpPr txBox="1"/>
          <p:nvPr/>
        </p:nvSpPr>
        <p:spPr>
          <a:xfrm>
            <a:off x="8778240" y="6865218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1 148</a:t>
            </a:r>
          </a:p>
        </p:txBody>
      </p:sp>
      <p:sp>
        <p:nvSpPr>
          <p:cNvPr id="484" name="Вид деятельности"/>
          <p:cNvSpPr txBox="1"/>
          <p:nvPr/>
        </p:nvSpPr>
        <p:spPr>
          <a:xfrm>
            <a:off x="1069848" y="7078418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Деятельность административная и сопутствующие дополнительные услуги</a:t>
            </a:r>
          </a:p>
        </p:txBody>
      </p:sp>
      <p:sp>
        <p:nvSpPr>
          <p:cNvPr id="485" name="Занятость"/>
          <p:cNvSpPr/>
          <p:nvPr/>
        </p:nvSpPr>
        <p:spPr>
          <a:xfrm>
            <a:off x="7637983" y="7105850"/>
            <a:ext cx="1094536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6" name="Значение"/>
          <p:cNvSpPr txBox="1"/>
          <p:nvPr/>
        </p:nvSpPr>
        <p:spPr>
          <a:xfrm>
            <a:off x="7153351" y="7069274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6,3</a:t>
            </a:r>
          </a:p>
        </p:txBody>
      </p:sp>
      <p:sp>
        <p:nvSpPr>
          <p:cNvPr id="487" name="Занятость"/>
          <p:cNvSpPr/>
          <p:nvPr/>
        </p:nvSpPr>
        <p:spPr>
          <a:xfrm>
            <a:off x="8193938" y="7279586"/>
            <a:ext cx="538581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8" name="Значение"/>
          <p:cNvSpPr txBox="1"/>
          <p:nvPr/>
        </p:nvSpPr>
        <p:spPr>
          <a:xfrm>
            <a:off x="7709306" y="7243010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3,1</a:t>
            </a:r>
          </a:p>
        </p:txBody>
      </p:sp>
      <p:sp>
        <p:nvSpPr>
          <p:cNvPr id="489" name="ВГП"/>
          <p:cNvSpPr/>
          <p:nvPr/>
        </p:nvSpPr>
        <p:spPr>
          <a:xfrm>
            <a:off x="10012680" y="7105850"/>
            <a:ext cx="10972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0" name="Значение"/>
          <p:cNvSpPr txBox="1"/>
          <p:nvPr/>
        </p:nvSpPr>
        <p:spPr>
          <a:xfrm>
            <a:off x="10158983" y="7069274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2,0</a:t>
            </a:r>
          </a:p>
        </p:txBody>
      </p:sp>
      <p:sp>
        <p:nvSpPr>
          <p:cNvPr id="491" name="ВГП"/>
          <p:cNvSpPr/>
          <p:nvPr/>
        </p:nvSpPr>
        <p:spPr>
          <a:xfrm>
            <a:off x="10012680" y="7279586"/>
            <a:ext cx="14264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2" name="Значение"/>
          <p:cNvSpPr txBox="1"/>
          <p:nvPr/>
        </p:nvSpPr>
        <p:spPr>
          <a:xfrm>
            <a:off x="10191902" y="7243010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2,6</a:t>
            </a:r>
          </a:p>
        </p:txBody>
      </p:sp>
      <p:sp>
        <p:nvSpPr>
          <p:cNvPr id="493" name="Производительность Ноябрьск"/>
          <p:cNvSpPr txBox="1"/>
          <p:nvPr/>
        </p:nvSpPr>
        <p:spPr>
          <a:xfrm>
            <a:off x="8778240" y="7087562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2 600</a:t>
            </a:r>
          </a:p>
        </p:txBody>
      </p:sp>
      <p:sp>
        <p:nvSpPr>
          <p:cNvPr id="494" name="Производительность РФ"/>
          <p:cNvSpPr txBox="1"/>
          <p:nvPr/>
        </p:nvSpPr>
        <p:spPr>
          <a:xfrm>
            <a:off x="8778240" y="7252154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1 000</a:t>
            </a:r>
          </a:p>
        </p:txBody>
      </p:sp>
      <p:sp>
        <p:nvSpPr>
          <p:cNvPr id="495" name="Вид деятельности"/>
          <p:cNvSpPr txBox="1"/>
          <p:nvPr/>
        </p:nvSpPr>
        <p:spPr>
          <a:xfrm>
            <a:off x="1069848" y="7465354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Образование</a:t>
            </a:r>
          </a:p>
        </p:txBody>
      </p:sp>
      <p:sp>
        <p:nvSpPr>
          <p:cNvPr id="496" name="Занятость"/>
          <p:cNvSpPr/>
          <p:nvPr/>
        </p:nvSpPr>
        <p:spPr>
          <a:xfrm>
            <a:off x="7412126" y="7492786"/>
            <a:ext cx="1320393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7" name="Значение"/>
          <p:cNvSpPr txBox="1"/>
          <p:nvPr/>
        </p:nvSpPr>
        <p:spPr>
          <a:xfrm>
            <a:off x="6927494" y="7456210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7,6</a:t>
            </a:r>
          </a:p>
        </p:txBody>
      </p:sp>
      <p:sp>
        <p:nvSpPr>
          <p:cNvPr id="498" name="Занятость"/>
          <p:cNvSpPr/>
          <p:nvPr/>
        </p:nvSpPr>
        <p:spPr>
          <a:xfrm>
            <a:off x="7429500" y="7666522"/>
            <a:ext cx="1303020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9" name="Значение"/>
          <p:cNvSpPr txBox="1"/>
          <p:nvPr/>
        </p:nvSpPr>
        <p:spPr>
          <a:xfrm>
            <a:off x="6944868" y="762994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7,5</a:t>
            </a:r>
          </a:p>
        </p:txBody>
      </p:sp>
      <p:sp>
        <p:nvSpPr>
          <p:cNvPr id="500" name="ВГП"/>
          <p:cNvSpPr/>
          <p:nvPr/>
        </p:nvSpPr>
        <p:spPr>
          <a:xfrm>
            <a:off x="10012680" y="7492786"/>
            <a:ext cx="58704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1" name="Значение"/>
          <p:cNvSpPr txBox="1"/>
          <p:nvPr/>
        </p:nvSpPr>
        <p:spPr>
          <a:xfrm>
            <a:off x="10107960" y="7456210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1,07</a:t>
            </a:r>
          </a:p>
        </p:txBody>
      </p:sp>
      <p:sp>
        <p:nvSpPr>
          <p:cNvPr id="502" name="ВГП"/>
          <p:cNvSpPr/>
          <p:nvPr/>
        </p:nvSpPr>
        <p:spPr>
          <a:xfrm>
            <a:off x="10012680" y="7666522"/>
            <a:ext cx="14264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3" name="Значение"/>
          <p:cNvSpPr txBox="1"/>
          <p:nvPr/>
        </p:nvSpPr>
        <p:spPr>
          <a:xfrm>
            <a:off x="10191902" y="7629946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2,6</a:t>
            </a:r>
          </a:p>
        </p:txBody>
      </p:sp>
      <p:sp>
        <p:nvSpPr>
          <p:cNvPr id="504" name="Производительность Ноябрьск"/>
          <p:cNvSpPr txBox="1"/>
          <p:nvPr/>
        </p:nvSpPr>
        <p:spPr>
          <a:xfrm>
            <a:off x="8778240" y="7474498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1 200</a:t>
            </a:r>
          </a:p>
        </p:txBody>
      </p:sp>
      <p:sp>
        <p:nvSpPr>
          <p:cNvPr id="505" name="Производительность РФ"/>
          <p:cNvSpPr txBox="1"/>
          <p:nvPr/>
        </p:nvSpPr>
        <p:spPr>
          <a:xfrm>
            <a:off x="8778240" y="7639090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407</a:t>
            </a:r>
          </a:p>
        </p:txBody>
      </p:sp>
      <p:sp>
        <p:nvSpPr>
          <p:cNvPr id="506" name="Вид деятельности"/>
          <p:cNvSpPr txBox="1"/>
          <p:nvPr/>
        </p:nvSpPr>
        <p:spPr>
          <a:xfrm>
            <a:off x="1069848" y="7852289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Здравоохранение и социальные услуги</a:t>
            </a:r>
          </a:p>
        </p:txBody>
      </p:sp>
      <p:sp>
        <p:nvSpPr>
          <p:cNvPr id="507" name="Занятость"/>
          <p:cNvSpPr/>
          <p:nvPr/>
        </p:nvSpPr>
        <p:spPr>
          <a:xfrm>
            <a:off x="6995160" y="7879721"/>
            <a:ext cx="1737360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8" name="Значение"/>
          <p:cNvSpPr txBox="1"/>
          <p:nvPr/>
        </p:nvSpPr>
        <p:spPr>
          <a:xfrm>
            <a:off x="6510528" y="7843145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10,0</a:t>
            </a:r>
          </a:p>
        </p:txBody>
      </p:sp>
      <p:sp>
        <p:nvSpPr>
          <p:cNvPr id="509" name="Занятость"/>
          <p:cNvSpPr/>
          <p:nvPr/>
        </p:nvSpPr>
        <p:spPr>
          <a:xfrm>
            <a:off x="7637983" y="8053457"/>
            <a:ext cx="1094536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0" name="Значение"/>
          <p:cNvSpPr txBox="1"/>
          <p:nvPr/>
        </p:nvSpPr>
        <p:spPr>
          <a:xfrm>
            <a:off x="7153351" y="8016881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6,3</a:t>
            </a:r>
          </a:p>
        </p:txBody>
      </p:sp>
      <p:sp>
        <p:nvSpPr>
          <p:cNvPr id="511" name="ВГП"/>
          <p:cNvSpPr/>
          <p:nvPr/>
        </p:nvSpPr>
        <p:spPr>
          <a:xfrm>
            <a:off x="10012680" y="7879721"/>
            <a:ext cx="208483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2" name="Значение"/>
          <p:cNvSpPr txBox="1"/>
          <p:nvPr/>
        </p:nvSpPr>
        <p:spPr>
          <a:xfrm>
            <a:off x="10257739" y="7843145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3,8</a:t>
            </a:r>
          </a:p>
        </p:txBody>
      </p:sp>
      <p:sp>
        <p:nvSpPr>
          <p:cNvPr id="513" name="ВГП"/>
          <p:cNvSpPr/>
          <p:nvPr/>
        </p:nvSpPr>
        <p:spPr>
          <a:xfrm>
            <a:off x="10012680" y="8053457"/>
            <a:ext cx="18653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4" name="Значение"/>
          <p:cNvSpPr txBox="1"/>
          <p:nvPr/>
        </p:nvSpPr>
        <p:spPr>
          <a:xfrm>
            <a:off x="10235793" y="8016881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3,4</a:t>
            </a:r>
          </a:p>
        </p:txBody>
      </p:sp>
      <p:sp>
        <p:nvSpPr>
          <p:cNvPr id="515" name="Производительность Ноябрьск"/>
          <p:cNvSpPr txBox="1"/>
          <p:nvPr/>
        </p:nvSpPr>
        <p:spPr>
          <a:xfrm>
            <a:off x="8778240" y="7861433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3 100</a:t>
            </a:r>
          </a:p>
        </p:txBody>
      </p:sp>
      <p:sp>
        <p:nvSpPr>
          <p:cNvPr id="516" name="Производительность РФ"/>
          <p:cNvSpPr txBox="1"/>
          <p:nvPr/>
        </p:nvSpPr>
        <p:spPr>
          <a:xfrm>
            <a:off x="8778240" y="8026025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634</a:t>
            </a:r>
          </a:p>
        </p:txBody>
      </p:sp>
      <p:sp>
        <p:nvSpPr>
          <p:cNvPr id="517" name="Вид деятельности"/>
          <p:cNvSpPr txBox="1"/>
          <p:nvPr/>
        </p:nvSpPr>
        <p:spPr>
          <a:xfrm>
            <a:off x="1069848" y="8239225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Культура, спорт, организация досуга и развлечений</a:t>
            </a:r>
          </a:p>
        </p:txBody>
      </p:sp>
      <p:sp>
        <p:nvSpPr>
          <p:cNvPr id="518" name="Занятость"/>
          <p:cNvSpPr/>
          <p:nvPr/>
        </p:nvSpPr>
        <p:spPr>
          <a:xfrm>
            <a:off x="8437168" y="8266657"/>
            <a:ext cx="295351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9" name="Значение"/>
          <p:cNvSpPr txBox="1"/>
          <p:nvPr/>
        </p:nvSpPr>
        <p:spPr>
          <a:xfrm>
            <a:off x="7952536" y="8230081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1,7</a:t>
            </a:r>
          </a:p>
        </p:txBody>
      </p:sp>
      <p:sp>
        <p:nvSpPr>
          <p:cNvPr id="520" name="Занятость"/>
          <p:cNvSpPr/>
          <p:nvPr/>
        </p:nvSpPr>
        <p:spPr>
          <a:xfrm>
            <a:off x="8402421" y="8440393"/>
            <a:ext cx="33009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1" name="Значение"/>
          <p:cNvSpPr txBox="1"/>
          <p:nvPr/>
        </p:nvSpPr>
        <p:spPr>
          <a:xfrm>
            <a:off x="7917789" y="8403817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1,9</a:t>
            </a:r>
          </a:p>
        </p:txBody>
      </p:sp>
      <p:sp>
        <p:nvSpPr>
          <p:cNvPr id="522" name="ВГП"/>
          <p:cNvSpPr/>
          <p:nvPr/>
        </p:nvSpPr>
        <p:spPr>
          <a:xfrm>
            <a:off x="10012680" y="8266657"/>
            <a:ext cx="1828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3" name="Значение"/>
          <p:cNvSpPr txBox="1"/>
          <p:nvPr/>
        </p:nvSpPr>
        <p:spPr>
          <a:xfrm>
            <a:off x="10067543" y="8230081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0,2</a:t>
            </a:r>
          </a:p>
        </p:txBody>
      </p:sp>
      <p:sp>
        <p:nvSpPr>
          <p:cNvPr id="524" name="ВГП"/>
          <p:cNvSpPr/>
          <p:nvPr/>
        </p:nvSpPr>
        <p:spPr>
          <a:xfrm>
            <a:off x="10012680" y="8440393"/>
            <a:ext cx="49377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5" name="Значение"/>
          <p:cNvSpPr txBox="1"/>
          <p:nvPr/>
        </p:nvSpPr>
        <p:spPr>
          <a:xfrm>
            <a:off x="10098633" y="8403817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0,9</a:t>
            </a:r>
          </a:p>
        </p:txBody>
      </p:sp>
      <p:sp>
        <p:nvSpPr>
          <p:cNvPr id="526" name="Производительность Ноябрьск"/>
          <p:cNvSpPr txBox="1"/>
          <p:nvPr/>
        </p:nvSpPr>
        <p:spPr>
          <a:xfrm>
            <a:off x="8778240" y="8248369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1 000</a:t>
            </a:r>
          </a:p>
        </p:txBody>
      </p:sp>
      <p:sp>
        <p:nvSpPr>
          <p:cNvPr id="527" name="Производительность РФ"/>
          <p:cNvSpPr txBox="1"/>
          <p:nvPr/>
        </p:nvSpPr>
        <p:spPr>
          <a:xfrm>
            <a:off x="8778240" y="8412961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539</a:t>
            </a:r>
          </a:p>
        </p:txBody>
      </p:sp>
      <p:sp>
        <p:nvSpPr>
          <p:cNvPr id="528" name="Вид деятельности"/>
          <p:cNvSpPr txBox="1"/>
          <p:nvPr/>
        </p:nvSpPr>
        <p:spPr>
          <a:xfrm>
            <a:off x="1069848" y="8626160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Госуправление и обеспечение воен. безопасности, социальное обеспечение</a:t>
            </a:r>
          </a:p>
        </p:txBody>
      </p:sp>
      <p:sp>
        <p:nvSpPr>
          <p:cNvPr id="529" name="Занятость"/>
          <p:cNvSpPr/>
          <p:nvPr/>
        </p:nvSpPr>
        <p:spPr>
          <a:xfrm>
            <a:off x="7829092" y="8653592"/>
            <a:ext cx="903427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0" name="Значение"/>
          <p:cNvSpPr txBox="1"/>
          <p:nvPr/>
        </p:nvSpPr>
        <p:spPr>
          <a:xfrm>
            <a:off x="7344460" y="8617016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5,2</a:t>
            </a:r>
          </a:p>
        </p:txBody>
      </p:sp>
      <p:sp>
        <p:nvSpPr>
          <p:cNvPr id="531" name="Занятость"/>
          <p:cNvSpPr/>
          <p:nvPr/>
        </p:nvSpPr>
        <p:spPr>
          <a:xfrm>
            <a:off x="7811719" y="8827328"/>
            <a:ext cx="920800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2" name="Значение"/>
          <p:cNvSpPr txBox="1"/>
          <p:nvPr/>
        </p:nvSpPr>
        <p:spPr>
          <a:xfrm>
            <a:off x="7327087" y="879075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5,3</a:t>
            </a:r>
          </a:p>
        </p:txBody>
      </p:sp>
      <p:sp>
        <p:nvSpPr>
          <p:cNvPr id="533" name="ВГП"/>
          <p:cNvSpPr/>
          <p:nvPr/>
        </p:nvSpPr>
        <p:spPr>
          <a:xfrm>
            <a:off x="10012680" y="8653592"/>
            <a:ext cx="76809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4" name="Значение"/>
          <p:cNvSpPr txBox="1"/>
          <p:nvPr/>
        </p:nvSpPr>
        <p:spPr>
          <a:xfrm>
            <a:off x="10126065" y="8617016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1,4</a:t>
            </a:r>
          </a:p>
        </p:txBody>
      </p:sp>
      <p:sp>
        <p:nvSpPr>
          <p:cNvPr id="535" name="ВГП"/>
          <p:cNvSpPr/>
          <p:nvPr/>
        </p:nvSpPr>
        <p:spPr>
          <a:xfrm>
            <a:off x="10012680" y="8827328"/>
            <a:ext cx="307238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6" name="Значение"/>
          <p:cNvSpPr txBox="1"/>
          <p:nvPr/>
        </p:nvSpPr>
        <p:spPr>
          <a:xfrm>
            <a:off x="10356494" y="879075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5,6</a:t>
            </a:r>
          </a:p>
        </p:txBody>
      </p:sp>
      <p:sp>
        <p:nvSpPr>
          <p:cNvPr id="537" name="Производительность Ноябрьск"/>
          <p:cNvSpPr txBox="1"/>
          <p:nvPr/>
        </p:nvSpPr>
        <p:spPr>
          <a:xfrm>
            <a:off x="8778240" y="8635304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2 200</a:t>
            </a:r>
          </a:p>
        </p:txBody>
      </p:sp>
      <p:sp>
        <p:nvSpPr>
          <p:cNvPr id="538" name="Производительность РФ"/>
          <p:cNvSpPr txBox="1"/>
          <p:nvPr/>
        </p:nvSpPr>
        <p:spPr>
          <a:xfrm>
            <a:off x="8778240" y="8799896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1 243</a:t>
            </a:r>
          </a:p>
        </p:txBody>
      </p:sp>
      <p:sp>
        <p:nvSpPr>
          <p:cNvPr id="539" name="Вид деятельности"/>
          <p:cNvSpPr txBox="1"/>
          <p:nvPr/>
        </p:nvSpPr>
        <p:spPr>
          <a:xfrm>
            <a:off x="1069848" y="9013096"/>
            <a:ext cx="3611880" cy="374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50" b="0">
                <a:solidFill>
                  <a:srgbClr val="062D3F"/>
                </a:solidFill>
                <a:latin typeface="Circe"/>
              </a:rPr>
              <a:t>Предоставление прочих видов услуг</a:t>
            </a:r>
          </a:p>
        </p:txBody>
      </p:sp>
      <p:sp>
        <p:nvSpPr>
          <p:cNvPr id="540" name="Занятость"/>
          <p:cNvSpPr/>
          <p:nvPr/>
        </p:nvSpPr>
        <p:spPr>
          <a:xfrm>
            <a:off x="8663025" y="9040528"/>
            <a:ext cx="69494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1" name="Значение"/>
          <p:cNvSpPr txBox="1"/>
          <p:nvPr/>
        </p:nvSpPr>
        <p:spPr>
          <a:xfrm>
            <a:off x="8178393" y="9003952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0,4</a:t>
            </a:r>
          </a:p>
        </p:txBody>
      </p:sp>
      <p:sp>
        <p:nvSpPr>
          <p:cNvPr id="542" name="Занятость"/>
          <p:cNvSpPr/>
          <p:nvPr/>
        </p:nvSpPr>
        <p:spPr>
          <a:xfrm>
            <a:off x="8663025" y="9214264"/>
            <a:ext cx="69494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3" name="Значение"/>
          <p:cNvSpPr txBox="1"/>
          <p:nvPr/>
        </p:nvSpPr>
        <p:spPr>
          <a:xfrm>
            <a:off x="8178393" y="9177688"/>
            <a:ext cx="4572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>
                <a:solidFill>
                  <a:srgbClr val="062D3F"/>
                </a:solidFill>
                <a:latin typeface="Circe"/>
              </a:rPr>
              <a:t>0,4</a:t>
            </a:r>
          </a:p>
        </p:txBody>
      </p:sp>
      <p:sp>
        <p:nvSpPr>
          <p:cNvPr id="544" name="ВГП"/>
          <p:cNvSpPr/>
          <p:nvPr/>
        </p:nvSpPr>
        <p:spPr>
          <a:xfrm>
            <a:off x="10012680" y="9040528"/>
            <a:ext cx="18288" cy="15544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5" name="Значение"/>
          <p:cNvSpPr txBox="1"/>
          <p:nvPr/>
        </p:nvSpPr>
        <p:spPr>
          <a:xfrm>
            <a:off x="10067543" y="9003952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0,025</a:t>
            </a:r>
          </a:p>
        </p:txBody>
      </p:sp>
      <p:sp>
        <p:nvSpPr>
          <p:cNvPr id="546" name="ВГП"/>
          <p:cNvSpPr/>
          <p:nvPr/>
        </p:nvSpPr>
        <p:spPr>
          <a:xfrm>
            <a:off x="10012680" y="9214264"/>
            <a:ext cx="27432" cy="15544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7" name="Значение"/>
          <p:cNvSpPr txBox="1"/>
          <p:nvPr/>
        </p:nvSpPr>
        <p:spPr>
          <a:xfrm>
            <a:off x="10076687" y="9177688"/>
            <a:ext cx="50292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62D3F"/>
                </a:solidFill>
                <a:latin typeface="Circe"/>
              </a:rPr>
              <a:t>0,5</a:t>
            </a:r>
          </a:p>
        </p:txBody>
      </p:sp>
      <p:sp>
        <p:nvSpPr>
          <p:cNvPr id="548" name="Производительность Ноябрьск"/>
          <p:cNvSpPr txBox="1"/>
          <p:nvPr/>
        </p:nvSpPr>
        <p:spPr>
          <a:xfrm>
            <a:off x="8778240" y="9022240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B07D00"/>
                </a:solidFill>
                <a:latin typeface="Circe Bold"/>
              </a:rPr>
              <a:t>600</a:t>
            </a:r>
          </a:p>
        </p:txBody>
      </p:sp>
      <p:sp>
        <p:nvSpPr>
          <p:cNvPr id="549" name="Производительность РФ"/>
          <p:cNvSpPr txBox="1"/>
          <p:nvPr/>
        </p:nvSpPr>
        <p:spPr>
          <a:xfrm>
            <a:off x="8778240" y="9186832"/>
            <a:ext cx="11430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2F5D75"/>
                </a:solidFill>
                <a:latin typeface="Circe"/>
              </a:rPr>
              <a:t>1 379</a:t>
            </a:r>
          </a:p>
        </p:txBody>
      </p:sp>
      <p:sp>
        <p:nvSpPr>
          <p:cNvPr id="550" name="Показатель"/>
          <p:cNvSpPr txBox="1"/>
          <p:nvPr/>
        </p:nvSpPr>
        <p:spPr>
          <a:xfrm>
            <a:off x="14401800" y="2011680"/>
            <a:ext cx="35387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800" b="1">
                <a:solidFill>
                  <a:srgbClr val="B07D00"/>
                </a:solidFill>
                <a:latin typeface="Circe Bold"/>
              </a:rPr>
              <a:t>55</a:t>
            </a:r>
            <a:r>
              <a:rPr sz="1800" b="1">
                <a:solidFill>
                  <a:srgbClr val="B07D00"/>
                </a:solidFill>
                <a:latin typeface="Circe Bold"/>
              </a:rPr>
              <a:t> тыс. чел.</a:t>
            </a:r>
          </a:p>
        </p:txBody>
      </p:sp>
      <p:sp>
        <p:nvSpPr>
          <p:cNvPr id="551" name="Пояснение"/>
          <p:cNvSpPr txBox="1"/>
          <p:nvPr/>
        </p:nvSpPr>
        <p:spPr>
          <a:xfrm>
            <a:off x="14401800" y="2880360"/>
            <a:ext cx="35387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Число занятых в экономике</a:t>
            </a:r>
          </a:p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Население 102,9 тыс. чел.</a:t>
            </a:r>
          </a:p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Доходы бюджета 46,0 млрд руб.</a:t>
            </a:r>
          </a:p>
        </p:txBody>
      </p:sp>
      <p:sp>
        <p:nvSpPr>
          <p:cNvPr id="552" name="Показатель"/>
          <p:cNvSpPr txBox="1"/>
          <p:nvPr/>
        </p:nvSpPr>
        <p:spPr>
          <a:xfrm>
            <a:off x="14401800" y="4434840"/>
            <a:ext cx="35387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800" b="1">
                <a:solidFill>
                  <a:srgbClr val="B07D00"/>
                </a:solidFill>
                <a:latin typeface="Circe Bold"/>
              </a:rPr>
              <a:t>8 240</a:t>
            </a:r>
            <a:r>
              <a:rPr sz="1800" b="1">
                <a:solidFill>
                  <a:srgbClr val="B07D00"/>
                </a:solidFill>
                <a:latin typeface="Circe Bold"/>
              </a:rPr>
              <a:t> тыс. руб.</a:t>
            </a:r>
          </a:p>
        </p:txBody>
      </p:sp>
      <p:sp>
        <p:nvSpPr>
          <p:cNvPr id="553" name="Пояснение"/>
          <p:cNvSpPr txBox="1"/>
          <p:nvPr/>
        </p:nvSpPr>
        <p:spPr>
          <a:xfrm>
            <a:off x="14401800" y="5303520"/>
            <a:ext cx="35387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Средняя производительность труда на 1 работника</a:t>
            </a:r>
          </a:p>
          <a:p>
            <a:pPr algn="l"/>
            <a:r>
              <a:rPr sz="1600" b="0">
                <a:solidFill>
                  <a:srgbClr val="2F5D75"/>
                </a:solidFill>
                <a:latin typeface="Circe"/>
              </a:rPr>
              <a:t>РФ – 1690 тыс. руб.</a:t>
            </a:r>
          </a:p>
        </p:txBody>
      </p:sp>
      <p:sp>
        <p:nvSpPr>
          <p:cNvPr id="554" name="Показатель"/>
          <p:cNvSpPr txBox="1"/>
          <p:nvPr/>
        </p:nvSpPr>
        <p:spPr>
          <a:xfrm>
            <a:off x="14401800" y="6766560"/>
            <a:ext cx="353872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800" b="1">
                <a:solidFill>
                  <a:srgbClr val="B07D00"/>
                </a:solidFill>
                <a:latin typeface="Circe Bold"/>
              </a:rPr>
              <a:t>4 410</a:t>
            </a:r>
            <a:r>
              <a:rPr sz="1800" b="1">
                <a:solidFill>
                  <a:srgbClr val="B07D00"/>
                </a:solidFill>
                <a:latin typeface="Circe Bold"/>
              </a:rPr>
              <a:t> тыс. руб.</a:t>
            </a:r>
          </a:p>
        </p:txBody>
      </p:sp>
      <p:sp>
        <p:nvSpPr>
          <p:cNvPr id="555" name="Пояснение"/>
          <p:cNvSpPr txBox="1"/>
          <p:nvPr/>
        </p:nvSpPr>
        <p:spPr>
          <a:xfrm>
            <a:off x="14401800" y="7635240"/>
            <a:ext cx="35387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062D3F"/>
                </a:solidFill>
                <a:latin typeface="Circe"/>
              </a:rPr>
              <a:t>ВГП на душу населения</a:t>
            </a:r>
          </a:p>
          <a:p>
            <a:pPr algn="l"/>
            <a:r>
              <a:rPr sz="1600" b="0">
                <a:solidFill>
                  <a:srgbClr val="2F5D75"/>
                </a:solidFill>
                <a:latin typeface="Circe"/>
              </a:rPr>
              <a:t>РФ – 824 тыс. руб.</a:t>
            </a:r>
          </a:p>
        </p:txBody>
      </p:sp>
      <p:sp>
        <p:nvSpPr>
          <p:cNvPr id="556" name="Условный знак"/>
          <p:cNvSpPr/>
          <p:nvPr/>
        </p:nvSpPr>
        <p:spPr>
          <a:xfrm>
            <a:off x="14401800" y="8778240"/>
            <a:ext cx="256032" cy="201168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7" name="Легенда"/>
          <p:cNvSpPr txBox="1"/>
          <p:nvPr/>
        </p:nvSpPr>
        <p:spPr>
          <a:xfrm>
            <a:off x="14767559" y="8732520"/>
            <a:ext cx="3108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г. Ноябрьск</a:t>
            </a:r>
          </a:p>
        </p:txBody>
      </p:sp>
      <p:sp>
        <p:nvSpPr>
          <p:cNvPr id="558" name="Условный знак"/>
          <p:cNvSpPr/>
          <p:nvPr/>
        </p:nvSpPr>
        <p:spPr>
          <a:xfrm>
            <a:off x="14401800" y="9134856"/>
            <a:ext cx="256032" cy="201168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9" name="Легенда"/>
          <p:cNvSpPr txBox="1"/>
          <p:nvPr/>
        </p:nvSpPr>
        <p:spPr>
          <a:xfrm>
            <a:off x="14767559" y="9089136"/>
            <a:ext cx="3108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Российская Федерация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3088</TotalTime>
  <Words>7447</Words>
  <Application>Microsoft Office PowerPoint</Application>
  <PresentationFormat>Произвольный</PresentationFormat>
  <Paragraphs>1788</Paragraphs>
  <Slides>51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51</vt:i4>
      </vt:variant>
    </vt:vector>
  </HeadingPairs>
  <TitlesOfParts>
    <vt:vector size="59" baseType="lpstr">
      <vt:lpstr>Arial</vt:lpstr>
      <vt:lpstr>Calibri</vt:lpstr>
      <vt:lpstr>Century Gothic</vt:lpstr>
      <vt:lpstr>Circe</vt:lpstr>
      <vt:lpstr>Circe Bold</vt:lpstr>
      <vt:lpstr>Inter V Extra Bold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Шевцов Александр Александрович</cp:lastModifiedBy>
  <cp:revision>131</cp:revision>
  <cp:lastPrinted>2026-10-05T13:20:42Z</cp:lastPrinted>
  <dcterms:created xsi:type="dcterms:W3CDTF">2022-11-22T08:46:48Z</dcterms:created>
  <dcterms:modified xsi:type="dcterms:W3CDTF">2026-10-13T13:22:34Z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