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  <p:sldId id="419" r:id="rId66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рисунка. Текст перенесён без изменений по смыслу. Исправлено «в выше стоящих» на «вышестоящих», «N» на «№», «создания условий» на «создание условий», убрано двоеточие после пункта 1. Фотография приоритетного проекта взята из исходного рисунка небольшого разрешения, для печати нужен оригинал.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рисунка. Текст перенесён без изменений по смыслу. Исправлено: «формирования реализации» на «формирования и реализации», «дальнего Востока» на «Дальнего Востока», закрыта скобка в пункте 3, убрано двоеточие после «за счет».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4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СИНХРОНИЗАЦИЯ ПРИОРИТЕТНЫХ ПРОЕКТОВ С ЦЕЛЯМИ РОССИЙСКОЙ ФЕДЕРАЦИИ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402" name="Заголовок"/>
          <p:cNvSpPr/>
          <p:nvPr/>
        </p:nvSpPr>
        <p:spPr>
          <a:xfrm>
            <a:off x="1069848" y="2240280"/>
            <a:ext cx="6949440" cy="502920"/>
          </a:xfrm>
          <a:prstGeom prst="roundRect">
            <a:avLst>
              <a:gd name="adj" fmla="val 15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062D3F"/>
                </a:solidFill>
                <a:latin typeface="Circe Bold"/>
              </a:rPr>
              <a:t>ПРИОРИТЕТНЫЙ ПРОЕКТ</a:t>
            </a:r>
          </a:p>
        </p:txBody>
      </p:sp>
      <p:sp>
        <p:nvSpPr>
          <p:cNvPr id="403" name="Заголовок"/>
          <p:cNvSpPr/>
          <p:nvPr/>
        </p:nvSpPr>
        <p:spPr>
          <a:xfrm>
            <a:off x="8385048" y="2240280"/>
            <a:ext cx="9555479" cy="502920"/>
          </a:xfrm>
          <a:prstGeom prst="roundRect">
            <a:avLst>
              <a:gd name="adj" fmla="val 15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062D3F"/>
                </a:solidFill>
                <a:latin typeface="Circe Bold"/>
              </a:rPr>
              <a:t>ФЕДЕРАЛЬНЫЕ ПРИОРИТЕТЫ</a:t>
            </a:r>
          </a:p>
        </p:txBody>
      </p:sp>
      <p:pic>
        <p:nvPicPr>
          <p:cNvPr id="404" name="Приоритетный проект" descr="Визуализация приоритетного проект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926080"/>
            <a:ext cx="6949440" cy="3915499"/>
          </a:xfrm>
          <a:prstGeom prst="roundRect">
            <a:avLst>
              <a:gd name="adj" fmla="val 5000"/>
            </a:avLst>
          </a:prstGeom>
        </p:spPr>
      </p:pic>
      <p:sp>
        <p:nvSpPr>
          <p:cNvPr id="405" name="Вывод"/>
          <p:cNvSpPr/>
          <p:nvPr/>
        </p:nvSpPr>
        <p:spPr>
          <a:xfrm>
            <a:off x="1069848" y="7070179"/>
            <a:ext cx="6949440" cy="2595028"/>
          </a:xfrm>
          <a:prstGeom prst="roundRect">
            <a:avLst>
              <a:gd name="adj" fmla="val 8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320040" rIns="320040" tIns="137160" bIns="137160"/>
          <a:lstStyle/>
          <a:p>
            <a:pPr algn="l"/>
            <a:r>
              <a:rPr sz="2000" b="1">
                <a:solidFill>
                  <a:srgbClr val="FFCC00"/>
                </a:solidFill>
                <a:latin typeface="Circe Bold"/>
              </a:rPr>
              <a:t>Мероприятия мастер-плана </a:t>
            </a:r>
            <a:r>
              <a:rPr sz="2000" b="1">
                <a:solidFill>
                  <a:srgbClr val="FFFFFF"/>
                </a:solidFill>
                <a:latin typeface="Circe Bold"/>
              </a:rPr>
              <a:t>должны обеспечивать преемственность целей и задач, закреплённых в вышестоящих документах территориального и стратегического планирования</a:t>
            </a:r>
          </a:p>
        </p:txBody>
      </p:sp>
      <p:sp>
        <p:nvSpPr>
          <p:cNvPr id="406" name="Приоритет 1"/>
          <p:cNvSpPr/>
          <p:nvPr/>
        </p:nvSpPr>
        <p:spPr>
          <a:xfrm>
            <a:off x="8385048" y="2926080"/>
            <a:ext cx="9555479" cy="2578608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Номер"/>
          <p:cNvSpPr/>
          <p:nvPr/>
        </p:nvSpPr>
        <p:spPr>
          <a:xfrm>
            <a:off x="8659368" y="3108960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1</a:t>
            </a:r>
          </a:p>
        </p:txBody>
      </p:sp>
      <p:sp>
        <p:nvSpPr>
          <p:cNvPr id="408" name="Текст приоритета 1"/>
          <p:cNvSpPr txBox="1"/>
          <p:nvPr/>
        </p:nvSpPr>
        <p:spPr>
          <a:xfrm>
            <a:off x="9482328" y="3108960"/>
            <a:ext cx="818387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irce"/>
              </a:rPr>
              <a:t>Стратегия пространственного развития Российской Федерации на период до 2030 года с прогнозом до 2036 года</a:t>
            </a:r>
          </a:p>
        </p:txBody>
      </p:sp>
      <p:sp>
        <p:nvSpPr>
          <p:cNvPr id="409" name="Задача"/>
          <p:cNvSpPr/>
          <p:nvPr/>
        </p:nvSpPr>
        <p:spPr>
          <a:xfrm>
            <a:off x="9482328" y="3666744"/>
            <a:ext cx="8183879" cy="356616"/>
          </a:xfrm>
          <a:prstGeom prst="roundRect">
            <a:avLst>
              <a:gd name="adj" fmla="val 15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82880" rIns="182880"/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обеспечение сбалансированной территориальной организации экономики</a:t>
            </a:r>
          </a:p>
        </p:txBody>
      </p:sp>
      <p:sp>
        <p:nvSpPr>
          <p:cNvPr id="410" name="Задача"/>
          <p:cNvSpPr/>
          <p:nvPr/>
        </p:nvSpPr>
        <p:spPr>
          <a:xfrm>
            <a:off x="9482328" y="4096511"/>
            <a:ext cx="8183879" cy="566928"/>
          </a:xfrm>
          <a:prstGeom prst="roundRect">
            <a:avLst>
              <a:gd name="adj" fmla="val 15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82880" rIns="182880"/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увеличение производства товаров и услуг для внутреннего рынка и роста добавленной стоимости</a:t>
            </a:r>
          </a:p>
        </p:txBody>
      </p:sp>
      <p:sp>
        <p:nvSpPr>
          <p:cNvPr id="411" name="Задача"/>
          <p:cNvSpPr/>
          <p:nvPr/>
        </p:nvSpPr>
        <p:spPr>
          <a:xfrm>
            <a:off x="9482328" y="4736592"/>
            <a:ext cx="8183879" cy="566928"/>
          </a:xfrm>
          <a:prstGeom prst="roundRect">
            <a:avLst>
              <a:gd name="adj" fmla="val 15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 wrap="square" lIns="182880" rIns="182880"/>
          <a:lstStyle/>
          <a:p>
            <a:pPr algn="l"/>
            <a:r>
              <a:rPr sz="1350" b="0">
                <a:solidFill>
                  <a:srgbClr val="062D3F"/>
                </a:solidFill>
                <a:latin typeface="Circe"/>
              </a:rPr>
              <a:t>раскрытие потенциала территорий и создание условий для ускоренного развития промышленной и научно-технологической кооперации</a:t>
            </a:r>
          </a:p>
        </p:txBody>
      </p:sp>
      <p:sp>
        <p:nvSpPr>
          <p:cNvPr id="412" name="Приоритет 2"/>
          <p:cNvSpPr/>
          <p:nvPr/>
        </p:nvSpPr>
        <p:spPr>
          <a:xfrm>
            <a:off x="8385048" y="5596128"/>
            <a:ext cx="9555479" cy="832103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Номер"/>
          <p:cNvSpPr/>
          <p:nvPr/>
        </p:nvSpPr>
        <p:spPr>
          <a:xfrm>
            <a:off x="8659368" y="5779008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2</a:t>
            </a:r>
          </a:p>
        </p:txBody>
      </p:sp>
      <p:sp>
        <p:nvSpPr>
          <p:cNvPr id="414" name="Текст приоритета 2"/>
          <p:cNvSpPr txBox="1"/>
          <p:nvPr/>
        </p:nvSpPr>
        <p:spPr>
          <a:xfrm>
            <a:off x="9482328" y="5779008"/>
            <a:ext cx="818387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irce"/>
              </a:rPr>
              <a:t>Стратегия научно-технического развития Российской Федерации и Указ Президента Российской Федерации № 529 в части развития сквозных и критических технологий</a:t>
            </a:r>
          </a:p>
        </p:txBody>
      </p:sp>
      <p:sp>
        <p:nvSpPr>
          <p:cNvPr id="415" name="Приоритет 3"/>
          <p:cNvSpPr/>
          <p:nvPr/>
        </p:nvSpPr>
        <p:spPr>
          <a:xfrm>
            <a:off x="8385048" y="6519672"/>
            <a:ext cx="9555479" cy="1065276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Номер"/>
          <p:cNvSpPr/>
          <p:nvPr/>
        </p:nvSpPr>
        <p:spPr>
          <a:xfrm>
            <a:off x="8659368" y="6702552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3</a:t>
            </a:r>
          </a:p>
        </p:txBody>
      </p:sp>
      <p:sp>
        <p:nvSpPr>
          <p:cNvPr id="417" name="Текст приоритета 3"/>
          <p:cNvSpPr txBox="1"/>
          <p:nvPr/>
        </p:nvSpPr>
        <p:spPr>
          <a:xfrm>
            <a:off x="9482328" y="6702552"/>
            <a:ext cx="8183879" cy="745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irce"/>
              </a:rPr>
              <a:t>Сводная стратегия развития обрабатывающей промышленности Российской Федерации до 2030-2035 года в части выпуска приоритетных групп продукции в разрезе отраслей обрабатывающей промышленности</a:t>
            </a:r>
          </a:p>
        </p:txBody>
      </p:sp>
      <p:sp>
        <p:nvSpPr>
          <p:cNvPr id="418" name="Приоритет 4"/>
          <p:cNvSpPr/>
          <p:nvPr/>
        </p:nvSpPr>
        <p:spPr>
          <a:xfrm>
            <a:off x="8385048" y="7676388"/>
            <a:ext cx="9555479" cy="832103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Номер"/>
          <p:cNvSpPr/>
          <p:nvPr/>
        </p:nvSpPr>
        <p:spPr>
          <a:xfrm>
            <a:off x="8659368" y="7859268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4</a:t>
            </a:r>
          </a:p>
        </p:txBody>
      </p:sp>
      <p:sp>
        <p:nvSpPr>
          <p:cNvPr id="420" name="Текст приоритета 4"/>
          <p:cNvSpPr txBox="1"/>
          <p:nvPr/>
        </p:nvSpPr>
        <p:spPr>
          <a:xfrm>
            <a:off x="9482328" y="7859268"/>
            <a:ext cx="818387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irce"/>
              </a:rPr>
              <a:t>Отраслевые планы импортозамещения Минпромторга России в части локализации и импортозамещения конкретных видов приоритетной продукции</a:t>
            </a:r>
          </a:p>
        </p:txBody>
      </p:sp>
      <p:sp>
        <p:nvSpPr>
          <p:cNvPr id="421" name="Приоритет 5"/>
          <p:cNvSpPr/>
          <p:nvPr/>
        </p:nvSpPr>
        <p:spPr>
          <a:xfrm>
            <a:off x="8385048" y="8599932"/>
            <a:ext cx="9555479" cy="1065276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Номер"/>
          <p:cNvSpPr/>
          <p:nvPr/>
        </p:nvSpPr>
        <p:spPr>
          <a:xfrm>
            <a:off x="8659368" y="8782812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5</a:t>
            </a:r>
          </a:p>
        </p:txBody>
      </p:sp>
      <p:sp>
        <p:nvSpPr>
          <p:cNvPr id="423" name="Текст приоритета 5"/>
          <p:cNvSpPr txBox="1"/>
          <p:nvPr/>
        </p:nvSpPr>
        <p:spPr>
          <a:xfrm>
            <a:off x="9482328" y="8782812"/>
            <a:ext cx="8183879" cy="745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irce"/>
              </a:rPr>
              <a:t>Национальные цели Российской Федерации (Указ Президента РФ от 07.05.2024 № 309 «О национальных целях развития Российской Федерации на период до 2030 года и на перспективу до 2036 года»)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2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403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ОСНОВНЫЕ НАПРАВЛЕНИЯ И ЗАДАЧИ ПРОСТРАНСТВЕННОГО РАЗВИТИЯ РФ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404" name="Направление 1"/>
          <p:cNvSpPr/>
          <p:nvPr/>
        </p:nvSpPr>
        <p:spPr>
          <a:xfrm>
            <a:off x="1069848" y="2103120"/>
            <a:ext cx="8183879" cy="7269480"/>
          </a:xfrm>
          <a:prstGeom prst="roundRect">
            <a:avLst>
              <a:gd name="adj" fmla="val 4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Номер"/>
          <p:cNvSpPr/>
          <p:nvPr/>
        </p:nvSpPr>
        <p:spPr>
          <a:xfrm>
            <a:off x="1389888" y="2423160"/>
            <a:ext cx="731520" cy="73152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062D3F"/>
                </a:solidFill>
                <a:latin typeface="Circe Bold"/>
              </a:rPr>
              <a:t>1</a:t>
            </a:r>
          </a:p>
        </p:txBody>
      </p:sp>
      <p:sp>
        <p:nvSpPr>
          <p:cNvPr id="406" name="Текст направления 1"/>
          <p:cNvSpPr txBox="1"/>
          <p:nvPr/>
        </p:nvSpPr>
        <p:spPr>
          <a:xfrm>
            <a:off x="2350008" y="2450591"/>
            <a:ext cx="6537959" cy="6720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62D3F"/>
                </a:solidFill>
                <a:latin typeface="Circe Bold"/>
              </a:rPr>
              <a:t>Развитие экономики предложения</a:t>
            </a:r>
            <a:r>
              <a:rPr sz="1900" b="0">
                <a:solidFill>
                  <a:srgbClr val="062D3F"/>
                </a:solidFill>
                <a:latin typeface="Circe"/>
              </a:rPr>
              <a:t>, производство товаров и услуг для внутреннего рынка на основе потенциала территории и развития промышленной и научно-технологической кооперации субъектов РФ за счет</a:t>
            </a:r>
          </a:p>
          <a:p>
            <a:pPr algn="l" marL="228600" indent="-228600">
              <a:spcBef>
                <a:spcPts val="1100"/>
              </a:spcBef>
              <a:buChar char="•"/>
            </a:pPr>
            <a:r>
              <a:rPr sz="1900" b="1">
                <a:solidFill>
                  <a:srgbClr val="062D3F"/>
                </a:solidFill>
                <a:latin typeface="Circe Bold"/>
              </a:rPr>
              <a:t>Опережающего развития инфраструктуры в опорных населённых пунктах</a:t>
            </a:r>
            <a:r>
              <a:rPr sz="1900" b="0">
                <a:solidFill>
                  <a:srgbClr val="062D3F"/>
                </a:solidFill>
                <a:latin typeface="Circe"/>
              </a:rPr>
              <a:t>, реализующих значительные инвестиционные проекты;</a:t>
            </a:r>
          </a:p>
          <a:p>
            <a:pPr algn="l" marL="228600" indent="-228600">
              <a:spcBef>
                <a:spcPts val="1100"/>
              </a:spcBef>
              <a:buChar char="•"/>
            </a:pPr>
            <a:r>
              <a:rPr sz="1900" b="1">
                <a:solidFill>
                  <a:srgbClr val="062D3F"/>
                </a:solidFill>
                <a:latin typeface="Circe Bold"/>
              </a:rPr>
              <a:t>Раскрытия экономического потенциала городских агломераций</a:t>
            </a:r>
            <a:r>
              <a:rPr sz="1900" b="0">
                <a:solidFill>
                  <a:srgbClr val="062D3F"/>
                </a:solidFill>
                <a:latin typeface="Circe"/>
              </a:rPr>
              <a:t>, в том числе посредством развития необходимых инфраструктур;</a:t>
            </a:r>
          </a:p>
          <a:p>
            <a:pPr algn="l" marL="228600" indent="-228600">
              <a:spcBef>
                <a:spcPts val="1100"/>
              </a:spcBef>
              <a:buChar char="•"/>
            </a:pPr>
            <a:r>
              <a:rPr sz="1900" b="1">
                <a:solidFill>
                  <a:srgbClr val="062D3F"/>
                </a:solidFill>
                <a:latin typeface="Circe Bold"/>
              </a:rPr>
              <a:t>Повышения глубины переработки</a:t>
            </a:r>
            <a:r>
              <a:rPr sz="1900" b="0">
                <a:solidFill>
                  <a:srgbClr val="062D3F"/>
                </a:solidFill>
                <a:latin typeface="Circe"/>
              </a:rPr>
              <a:t> минерального сырья и древесины;</a:t>
            </a:r>
          </a:p>
          <a:p>
            <a:pPr algn="l" marL="228600" indent="-228600">
              <a:spcBef>
                <a:spcPts val="1100"/>
              </a:spcBef>
              <a:buChar char="•"/>
            </a:pPr>
            <a:r>
              <a:rPr sz="1900" b="1">
                <a:solidFill>
                  <a:srgbClr val="062D3F"/>
                </a:solidFill>
                <a:latin typeface="Circe Bold"/>
              </a:rPr>
              <a:t>Приоритетной поддержки</a:t>
            </a:r>
            <a:r>
              <a:rPr sz="1900" b="0">
                <a:solidFill>
                  <a:srgbClr val="062D3F"/>
                </a:solidFill>
                <a:latin typeface="Circe"/>
              </a:rPr>
              <a:t> в городских агломерациях, административных центрах субъектов РФ и в наукоградах высокотехнологичных отраслей, творческих (креативных) индустрий;</a:t>
            </a:r>
          </a:p>
          <a:p>
            <a:pPr algn="l" marL="228600" indent="-228600">
              <a:spcBef>
                <a:spcPts val="1100"/>
              </a:spcBef>
              <a:buChar char="•"/>
            </a:pPr>
            <a:r>
              <a:rPr sz="1900" b="1">
                <a:solidFill>
                  <a:srgbClr val="062D3F"/>
                </a:solidFill>
                <a:latin typeface="Circe Bold"/>
              </a:rPr>
              <a:t>Усиления производственной многоуровневой кооперации</a:t>
            </a:r>
            <a:r>
              <a:rPr sz="1900" b="0">
                <a:solidFill>
                  <a:srgbClr val="062D3F"/>
                </a:solidFill>
                <a:latin typeface="Circe"/>
              </a:rPr>
              <a:t>, формирования и реализации дифференцированных мер их поддержки.</a:t>
            </a:r>
          </a:p>
        </p:txBody>
      </p:sp>
      <p:sp>
        <p:nvSpPr>
          <p:cNvPr id="407" name="Номер"/>
          <p:cNvSpPr/>
          <p:nvPr/>
        </p:nvSpPr>
        <p:spPr>
          <a:xfrm>
            <a:off x="9619488" y="2546603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2</a:t>
            </a:r>
          </a:p>
        </p:txBody>
      </p:sp>
      <p:sp>
        <p:nvSpPr>
          <p:cNvPr id="408" name="Направление 2"/>
          <p:cNvSpPr txBox="1"/>
          <p:nvPr/>
        </p:nvSpPr>
        <p:spPr>
          <a:xfrm>
            <a:off x="10460736" y="2212848"/>
            <a:ext cx="747979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Реализация экспортного и кооперационного потенциала</a:t>
            </a:r>
            <a:r>
              <a:rPr sz="1500" b="0">
                <a:solidFill>
                  <a:srgbClr val="062D3F"/>
                </a:solidFill>
                <a:latin typeface="Circe"/>
              </a:rPr>
              <a:t> в соответствии с приоритетами внешнеэкономической деятельности РФ, в том числе за счет развития </a:t>
            </a:r>
            <a:r>
              <a:rPr sz="1500" b="1">
                <a:solidFill>
                  <a:srgbClr val="062D3F"/>
                </a:solidFill>
                <a:latin typeface="Circe Bold"/>
              </a:rPr>
              <a:t>сотрудничества с пограничными государствами</a:t>
            </a:r>
            <a:r>
              <a:rPr sz="1500" b="0">
                <a:solidFill>
                  <a:srgbClr val="062D3F"/>
                </a:solidFill>
                <a:latin typeface="Circe"/>
              </a:rPr>
              <a:t>, включая Азербайджан, Беларусь, Казахстан, КНДР, Монголию, Абхазию, Южную Осетию, и </a:t>
            </a:r>
            <a:r>
              <a:rPr sz="1500" b="1">
                <a:solidFill>
                  <a:srgbClr val="062D3F"/>
                </a:solidFill>
                <a:latin typeface="Circe Bold"/>
              </a:rPr>
              <a:t>ускорения интеграционных процессов</a:t>
            </a:r>
            <a:r>
              <a:rPr sz="1500" b="0">
                <a:solidFill>
                  <a:srgbClr val="062D3F"/>
                </a:solidFill>
                <a:latin typeface="Circe"/>
              </a:rPr>
              <a:t> в рамках Евразийского экономического союза</a:t>
            </a:r>
          </a:p>
        </p:txBody>
      </p:sp>
      <p:cxnSp>
        <p:nvCxnSpPr>
          <p:cNvPr id="409" name="Разделитель"/>
          <p:cNvCxnSpPr/>
          <p:nvPr/>
        </p:nvCxnSpPr>
        <p:spPr>
          <a:xfrm>
            <a:off x="9619488" y="3561587"/>
            <a:ext cx="832103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410" name="Номер"/>
          <p:cNvSpPr/>
          <p:nvPr/>
        </p:nvSpPr>
        <p:spPr>
          <a:xfrm>
            <a:off x="9619488" y="3886199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3</a:t>
            </a:r>
          </a:p>
        </p:txBody>
      </p:sp>
      <p:sp>
        <p:nvSpPr>
          <p:cNvPr id="411" name="Направление 3"/>
          <p:cNvSpPr txBox="1"/>
          <p:nvPr/>
        </p:nvSpPr>
        <p:spPr>
          <a:xfrm>
            <a:off x="10460736" y="3675887"/>
            <a:ext cx="7479791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Создание условий для роста численности населения и рождаемости во всех субъектах РФ</a:t>
            </a:r>
            <a:r>
              <a:rPr sz="1500" b="0">
                <a:solidFill>
                  <a:srgbClr val="062D3F"/>
                </a:solidFill>
                <a:latin typeface="Circe"/>
              </a:rPr>
              <a:t>, в первую очередь где естественная убыль населения значительно превышает средний уровень РФ (включая регионы Центрального, Северо-Западного, Приволжского федеральных округов)</a:t>
            </a:r>
          </a:p>
        </p:txBody>
      </p:sp>
      <p:cxnSp>
        <p:nvCxnSpPr>
          <p:cNvPr id="412" name="Разделитель"/>
          <p:cNvCxnSpPr/>
          <p:nvPr/>
        </p:nvCxnSpPr>
        <p:spPr>
          <a:xfrm>
            <a:off x="9619488" y="4777740"/>
            <a:ext cx="832103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413" name="Номер"/>
          <p:cNvSpPr/>
          <p:nvPr/>
        </p:nvSpPr>
        <p:spPr>
          <a:xfrm>
            <a:off x="9619488" y="5102351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4</a:t>
            </a:r>
          </a:p>
        </p:txBody>
      </p:sp>
      <p:sp>
        <p:nvSpPr>
          <p:cNvPr id="414" name="Направление 4"/>
          <p:cNvSpPr txBox="1"/>
          <p:nvPr/>
        </p:nvSpPr>
        <p:spPr>
          <a:xfrm>
            <a:off x="10460736" y="4892040"/>
            <a:ext cx="7479791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Обеспечение устойчивости системы расселения</a:t>
            </a:r>
            <a:r>
              <a:rPr sz="1500" b="0">
                <a:solidFill>
                  <a:srgbClr val="062D3F"/>
                </a:solidFill>
                <a:latin typeface="Circe"/>
              </a:rPr>
              <a:t> на территории РФ, включая условия для прекращения оттока постоянно проживающего населения регионов Сибири, Дальнего Востока и Арктики, малых и средних городов, сельских территорий</a:t>
            </a:r>
          </a:p>
        </p:txBody>
      </p:sp>
      <p:cxnSp>
        <p:nvCxnSpPr>
          <p:cNvPr id="415" name="Разделитель"/>
          <p:cNvCxnSpPr/>
          <p:nvPr/>
        </p:nvCxnSpPr>
        <p:spPr>
          <a:xfrm>
            <a:off x="9619488" y="5993892"/>
            <a:ext cx="832103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416" name="Номер"/>
          <p:cNvSpPr/>
          <p:nvPr/>
        </p:nvSpPr>
        <p:spPr>
          <a:xfrm>
            <a:off x="9619488" y="6318503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5</a:t>
            </a:r>
          </a:p>
        </p:txBody>
      </p:sp>
      <p:sp>
        <p:nvSpPr>
          <p:cNvPr id="417" name="Направление 5"/>
          <p:cNvSpPr txBox="1"/>
          <p:nvPr/>
        </p:nvSpPr>
        <p:spPr>
          <a:xfrm>
            <a:off x="10460736" y="6108192"/>
            <a:ext cx="7479791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Сокращение уровня межрегиональной и внутрирегиональной дифференциации</a:t>
            </a:r>
            <a:r>
              <a:rPr sz="1500" b="0">
                <a:solidFill>
                  <a:srgbClr val="062D3F"/>
                </a:solidFill>
                <a:latin typeface="Circe"/>
              </a:rPr>
              <a:t> социально-экономического развития субъектов РФ за счет, в том числе, перехода к одноуровневой системе муниципального устройства на территориях с низкой плотностью населения</a:t>
            </a:r>
          </a:p>
        </p:txBody>
      </p:sp>
      <p:cxnSp>
        <p:nvCxnSpPr>
          <p:cNvPr id="418" name="Разделитель"/>
          <p:cNvCxnSpPr/>
          <p:nvPr/>
        </p:nvCxnSpPr>
        <p:spPr>
          <a:xfrm>
            <a:off x="9619488" y="7210044"/>
            <a:ext cx="832103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419" name="Номер"/>
          <p:cNvSpPr/>
          <p:nvPr/>
        </p:nvSpPr>
        <p:spPr>
          <a:xfrm>
            <a:off x="9619488" y="7287768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6</a:t>
            </a:r>
          </a:p>
        </p:txBody>
      </p:sp>
      <p:sp>
        <p:nvSpPr>
          <p:cNvPr id="420" name="Направление 6"/>
          <p:cNvSpPr txBox="1"/>
          <p:nvPr/>
        </p:nvSpPr>
        <p:spPr>
          <a:xfrm>
            <a:off x="10460736" y="7324344"/>
            <a:ext cx="747979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Снижение рисков дефицита кадров</a:t>
            </a:r>
            <a:r>
              <a:rPr sz="1500" b="0">
                <a:solidFill>
                  <a:srgbClr val="062D3F"/>
                </a:solidFill>
                <a:latin typeface="Circe"/>
              </a:rPr>
              <a:t> в целях обеспечения экономического роста территории РФ</a:t>
            </a:r>
          </a:p>
        </p:txBody>
      </p:sp>
      <p:cxnSp>
        <p:nvCxnSpPr>
          <p:cNvPr id="421" name="Разделитель"/>
          <p:cNvCxnSpPr/>
          <p:nvPr/>
        </p:nvCxnSpPr>
        <p:spPr>
          <a:xfrm>
            <a:off x="9619488" y="7932420"/>
            <a:ext cx="832103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422" name="Номер"/>
          <p:cNvSpPr/>
          <p:nvPr/>
        </p:nvSpPr>
        <p:spPr>
          <a:xfrm>
            <a:off x="9619488" y="8010144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7</a:t>
            </a:r>
          </a:p>
        </p:txBody>
      </p:sp>
      <p:sp>
        <p:nvSpPr>
          <p:cNvPr id="423" name="Направление 7"/>
          <p:cNvSpPr txBox="1"/>
          <p:nvPr/>
        </p:nvSpPr>
        <p:spPr>
          <a:xfrm>
            <a:off x="10460736" y="8046719"/>
            <a:ext cx="747979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Обеспечение развития населённых пунктов</a:t>
            </a:r>
            <a:r>
              <a:rPr sz="1500" b="0">
                <a:solidFill>
                  <a:srgbClr val="062D3F"/>
                </a:solidFill>
                <a:latin typeface="Circe"/>
              </a:rPr>
              <a:t>, в которых </a:t>
            </a:r>
            <a:r>
              <a:rPr sz="1500" b="1">
                <a:solidFill>
                  <a:srgbClr val="062D3F"/>
                </a:solidFill>
                <a:latin typeface="Circe Bold"/>
              </a:rPr>
              <a:t>может ухудшиться</a:t>
            </a:r>
            <a:r>
              <a:rPr sz="1500" b="0">
                <a:solidFill>
                  <a:srgbClr val="062D3F"/>
                </a:solidFill>
                <a:latin typeface="Circe"/>
              </a:rPr>
              <a:t> экономическое положение</a:t>
            </a:r>
          </a:p>
        </p:txBody>
      </p:sp>
      <p:cxnSp>
        <p:nvCxnSpPr>
          <p:cNvPr id="424" name="Разделитель"/>
          <p:cNvCxnSpPr/>
          <p:nvPr/>
        </p:nvCxnSpPr>
        <p:spPr>
          <a:xfrm>
            <a:off x="9619488" y="8654796"/>
            <a:ext cx="8321039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425" name="Номер"/>
          <p:cNvSpPr/>
          <p:nvPr/>
        </p:nvSpPr>
        <p:spPr>
          <a:xfrm>
            <a:off x="9619488" y="8732519"/>
            <a:ext cx="566928" cy="566928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62D3F"/>
                </a:solidFill>
                <a:latin typeface="Circe Bold"/>
              </a:rPr>
              <a:t>8</a:t>
            </a:r>
          </a:p>
        </p:txBody>
      </p:sp>
      <p:sp>
        <p:nvSpPr>
          <p:cNvPr id="426" name="Направление 8"/>
          <p:cNvSpPr txBox="1"/>
          <p:nvPr/>
        </p:nvSpPr>
        <p:spPr>
          <a:xfrm>
            <a:off x="10460736" y="8769095"/>
            <a:ext cx="747979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Обеспечение эффективного использования морских акваторий</a:t>
            </a:r>
            <a:r>
              <a:rPr sz="1500" b="0">
                <a:solidFill>
                  <a:srgbClr val="062D3F"/>
                </a:solidFill>
                <a:latin typeface="Circe"/>
              </a:rPr>
              <a:t> с учётом развития прибрежных территорий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