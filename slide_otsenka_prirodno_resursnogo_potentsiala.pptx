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418" r:id="rId65"/>
  </p:sldIdLst>
  <p:sldSz cx="19010313" cy="10693400"/>
  <p:notesSz cx="14303375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504"/>
    <a:srgbClr val="062D3F"/>
    <a:srgbClr val="FFCC00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52" d="100"/>
          <a:sy n="52" d="100"/>
        </p:scale>
        <p:origin x="1013" y="58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02379" y="0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2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588" tIns="37294" rIns="74588" bIns="3729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0815" y="4778401"/>
            <a:ext cx="11441745" cy="3908796"/>
          </a:xfrm>
          <a:prstGeom prst="rect">
            <a:avLst/>
          </a:prstGeom>
        </p:spPr>
        <p:txBody>
          <a:bodyPr vert="horz" lIns="74588" tIns="37294" rIns="74588" bIns="3729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5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02379" y="9430045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составлен по слайду «Природно-ресурсный потенциал сельской территории» (компоненты, что оценивать) и таблице природных факторов. Трёхуровневая шкала (высокий, средний, низкий) и шаги оценки предложены при оформлении, пороговых значений нет, оценка идёт относительно региона и района того же типа. Колонка «Высокий уровень» написана при оформлении и требует сверки. В последнюю строку добавлены опасные явления из таблицы природных факторов.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5" y="546101"/>
            <a:ext cx="17631873" cy="461665"/>
          </a:xfrm>
        </p:spPr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irce Bold"/>
                <a:cs typeface="Circ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0516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790311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rgbClr val="44626F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rgbClr val="44626F"/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22694036" y="10091362"/>
            <a:ext cx="581506" cy="246221"/>
          </a:xfrm>
        </p:spPr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pPr marL="67938">
              <a:spcBef>
                <a:spcPts val="105"/>
              </a:spcBef>
            </a:pPr>
            <a:fld id="{81D60167-4931-47E6-BA6A-407CBD079E47}" type="slidenum">
              <a:rPr lang="ru-RU" spc="-25" smtClean="0">
                <a:solidFill>
                  <a:srgbClr val="062D3F"/>
                </a:solidFill>
              </a:rPr>
              <a:pPr marL="67938">
                <a:spcBef>
                  <a:spcPts val="105"/>
                </a:spcBef>
              </a:pPr>
              <a:t>‹#›</a:t>
            </a:fld>
            <a:endParaRPr lang="ru-RU" spc="-25" dirty="0">
              <a:solidFill>
                <a:srgbClr val="062D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046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8.png"/><Relationship Id="rId16" Type="http://schemas.openxmlformats.org/officeDocument/2006/relationships/image" Target="../media/image9.png"/><Relationship Id="rId1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7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  <p:sldLayoutId id="2147483668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0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201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ОЦЕНКА ПРИРОДНО-РЕСУРСНОГО ПОТЕНЦИАЛА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202" name="Rectangle 4"/>
          <p:cNvSpPr/>
          <p:nvPr/>
        </p:nvSpPr>
        <p:spPr>
          <a:xfrm>
            <a:off x="1069330" y="1600200"/>
            <a:ext cx="1687165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ru-RU" sz="2200" dirty="0">
                <a:solidFill>
                  <a:srgbClr val="062D3F"/>
                </a:solidFill>
                <a:latin typeface="Circe"/>
              </a:rPr>
              <a:t>Показатели каждого компонента сравниваются со средним по региону и с районами того же типа</a:t>
            </a:r>
            <a:endParaRPr sz="2200" b="0" dirty="0">
              <a:solidFill>
                <a:srgbClr val="062D3F"/>
              </a:solidFill>
              <a:latin typeface="Circe"/>
            </a:endParaRPr>
          </a:p>
        </p:txBody>
      </p:sp>
      <p:sp>
        <p:nvSpPr>
          <p:cNvPr id="203" name="Заголовок колонки"/>
          <p:cNvSpPr txBox="1"/>
          <p:nvPr/>
        </p:nvSpPr>
        <p:spPr>
          <a:xfrm>
            <a:off x="1280160" y="23317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КОМПОНЕНТ</a:t>
            </a:r>
          </a:p>
        </p:txBody>
      </p:sp>
      <p:sp>
        <p:nvSpPr>
          <p:cNvPr id="204" name="Заголовок колонки"/>
          <p:cNvSpPr txBox="1"/>
          <p:nvPr/>
        </p:nvSpPr>
        <p:spPr>
          <a:xfrm>
            <a:off x="4114800" y="233172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ПОКАЗАТЕЛИ</a:t>
            </a:r>
          </a:p>
        </p:txBody>
      </p:sp>
      <p:sp>
        <p:nvSpPr>
          <p:cNvPr id="205" name="Заголовок колонки"/>
          <p:cNvSpPr txBox="1"/>
          <p:nvPr/>
        </p:nvSpPr>
        <p:spPr>
          <a:xfrm>
            <a:off x="8503920" y="2331720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ВЫСОКИЙ УРОВЕНЬ</a:t>
            </a:r>
          </a:p>
        </p:txBody>
      </p:sp>
      <p:cxnSp>
        <p:nvCxnSpPr>
          <p:cNvPr id="206" name="Линия заголовка"/>
          <p:cNvCxnSpPr/>
          <p:nvPr/>
        </p:nvCxnSpPr>
        <p:spPr>
          <a:xfrm>
            <a:off x="1069848" y="2788920"/>
            <a:ext cx="10607040" cy="0"/>
          </a:xfrm>
          <a:prstGeom prst="line">
            <a:avLst/>
          </a:prstGeom>
          <a:ln w="19050">
            <a:solidFill>
              <a:srgbClr val="062D3F"/>
            </a:solidFill>
          </a:ln>
        </p:spPr>
      </p:cxnSp>
      <p:sp>
        <p:nvSpPr>
          <p:cNvPr id="207" name="Полоса"/>
          <p:cNvSpPr/>
          <p:nvPr/>
        </p:nvSpPr>
        <p:spPr>
          <a:xfrm>
            <a:off x="1069848" y="2862072"/>
            <a:ext cx="10607040" cy="914400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Компонент"/>
          <p:cNvSpPr txBox="1"/>
          <p:nvPr/>
        </p:nvSpPr>
        <p:spPr>
          <a:xfrm>
            <a:off x="1280160" y="2862072"/>
            <a:ext cx="2651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Агроклиматический</a:t>
            </a:r>
          </a:p>
        </p:txBody>
      </p:sp>
      <p:sp>
        <p:nvSpPr>
          <p:cNvPr id="209" name="Показатели"/>
          <p:cNvSpPr txBox="1"/>
          <p:nvPr/>
        </p:nvSpPr>
        <p:spPr>
          <a:xfrm>
            <a:off x="4114800" y="2862072"/>
            <a:ext cx="4206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Биоклиматический потенциал, сумма температур выше +10 °С, гидротермический коэффициент</a:t>
            </a:r>
          </a:p>
        </p:txBody>
      </p:sp>
      <p:sp>
        <p:nvSpPr>
          <p:cNvPr id="210" name="Высокий уровень"/>
          <p:cNvSpPr txBox="1"/>
          <p:nvPr/>
        </p:nvSpPr>
        <p:spPr>
          <a:xfrm>
            <a:off x="8503920" y="2862072"/>
            <a:ext cx="3017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Достаточно тепла и влаги для возделывания культур</a:t>
            </a:r>
          </a:p>
        </p:txBody>
      </p:sp>
      <p:sp>
        <p:nvSpPr>
          <p:cNvPr id="211" name="Компонент"/>
          <p:cNvSpPr txBox="1"/>
          <p:nvPr/>
        </p:nvSpPr>
        <p:spPr>
          <a:xfrm>
            <a:off x="1280160" y="3776472"/>
            <a:ext cx="2651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Земельный</a:t>
            </a:r>
          </a:p>
        </p:txBody>
      </p:sp>
      <p:sp>
        <p:nvSpPr>
          <p:cNvPr id="212" name="Показатели"/>
          <p:cNvSpPr txBox="1"/>
          <p:nvPr/>
        </p:nvSpPr>
        <p:spPr>
          <a:xfrm>
            <a:off x="4114800" y="3776472"/>
            <a:ext cx="4206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Доля сельхозугодий и пашни, доля залежей, содержание гумуса в пахотном слое</a:t>
            </a:r>
          </a:p>
        </p:txBody>
      </p:sp>
      <p:sp>
        <p:nvSpPr>
          <p:cNvPr id="213" name="Высокий уровень"/>
          <p:cNvSpPr txBox="1"/>
          <p:nvPr/>
        </p:nvSpPr>
        <p:spPr>
          <a:xfrm>
            <a:off x="8503920" y="3776472"/>
            <a:ext cx="3017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Много качественных земель в обороте, мало залежей</a:t>
            </a:r>
          </a:p>
        </p:txBody>
      </p:sp>
      <p:sp>
        <p:nvSpPr>
          <p:cNvPr id="214" name="Полоса"/>
          <p:cNvSpPr/>
          <p:nvPr/>
        </p:nvSpPr>
        <p:spPr>
          <a:xfrm>
            <a:off x="1069848" y="4690872"/>
            <a:ext cx="10607040" cy="914400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Компонент"/>
          <p:cNvSpPr txBox="1"/>
          <p:nvPr/>
        </p:nvSpPr>
        <p:spPr>
          <a:xfrm>
            <a:off x="1280160" y="4690872"/>
            <a:ext cx="2651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Лесной</a:t>
            </a:r>
          </a:p>
        </p:txBody>
      </p:sp>
      <p:sp>
        <p:nvSpPr>
          <p:cNvPr id="216" name="Показатели"/>
          <p:cNvSpPr txBox="1"/>
          <p:nvPr/>
        </p:nvSpPr>
        <p:spPr>
          <a:xfrm>
            <a:off x="4114800" y="4690872"/>
            <a:ext cx="4206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Лесистость, доля лесов и болот в площади района</a:t>
            </a:r>
          </a:p>
        </p:txBody>
      </p:sp>
      <p:sp>
        <p:nvSpPr>
          <p:cNvPr id="217" name="Высокий уровень"/>
          <p:cNvSpPr txBox="1"/>
          <p:nvPr/>
        </p:nvSpPr>
        <p:spPr>
          <a:xfrm>
            <a:off x="8503920" y="4690872"/>
            <a:ext cx="3017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Лесистость отвечает специализации района</a:t>
            </a:r>
          </a:p>
        </p:txBody>
      </p:sp>
      <p:sp>
        <p:nvSpPr>
          <p:cNvPr id="218" name="Компонент"/>
          <p:cNvSpPr txBox="1"/>
          <p:nvPr/>
        </p:nvSpPr>
        <p:spPr>
          <a:xfrm>
            <a:off x="1280160" y="5605272"/>
            <a:ext cx="2651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Водный</a:t>
            </a:r>
          </a:p>
        </p:txBody>
      </p:sp>
      <p:sp>
        <p:nvSpPr>
          <p:cNvPr id="219" name="Показатели"/>
          <p:cNvSpPr txBox="1"/>
          <p:nvPr/>
        </p:nvSpPr>
        <p:spPr>
          <a:xfrm>
            <a:off x="4114800" y="5605272"/>
            <a:ext cx="4206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Обеспеченность водными ресурсами, качество поверхностных и подземных вод</a:t>
            </a:r>
          </a:p>
        </p:txBody>
      </p:sp>
      <p:sp>
        <p:nvSpPr>
          <p:cNvPr id="220" name="Высокий уровень"/>
          <p:cNvSpPr txBox="1"/>
          <p:nvPr/>
        </p:nvSpPr>
        <p:spPr>
          <a:xfrm>
            <a:off x="8503920" y="5605272"/>
            <a:ext cx="3017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Воды достаточно, качество соответствует нормам</a:t>
            </a:r>
          </a:p>
        </p:txBody>
      </p:sp>
      <p:sp>
        <p:nvSpPr>
          <p:cNvPr id="221" name="Полоса"/>
          <p:cNvSpPr/>
          <p:nvPr/>
        </p:nvSpPr>
        <p:spPr>
          <a:xfrm>
            <a:off x="1069848" y="6519672"/>
            <a:ext cx="10607040" cy="914400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Компонент"/>
          <p:cNvSpPr txBox="1"/>
          <p:nvPr/>
        </p:nvSpPr>
        <p:spPr>
          <a:xfrm>
            <a:off x="1280160" y="6519672"/>
            <a:ext cx="2651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Минерально-сырьевой</a:t>
            </a:r>
          </a:p>
        </p:txBody>
      </p:sp>
      <p:sp>
        <p:nvSpPr>
          <p:cNvPr id="223" name="Показатели"/>
          <p:cNvSpPr txBox="1"/>
          <p:nvPr/>
        </p:nvSpPr>
        <p:spPr>
          <a:xfrm>
            <a:off x="4114800" y="6519672"/>
            <a:ext cx="4206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Разведанные запасы, в первую очередь строительного сырья</a:t>
            </a:r>
          </a:p>
        </p:txBody>
      </p:sp>
      <p:sp>
        <p:nvSpPr>
          <p:cNvPr id="224" name="Высокий уровень"/>
          <p:cNvSpPr txBox="1"/>
          <p:nvPr/>
        </p:nvSpPr>
        <p:spPr>
          <a:xfrm>
            <a:off x="8503920" y="6519672"/>
            <a:ext cx="3017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Есть разведанные запасы строительного сырья</a:t>
            </a:r>
          </a:p>
        </p:txBody>
      </p:sp>
      <p:sp>
        <p:nvSpPr>
          <p:cNvPr id="225" name="Компонент"/>
          <p:cNvSpPr txBox="1"/>
          <p:nvPr/>
        </p:nvSpPr>
        <p:spPr>
          <a:xfrm>
            <a:off x="1280160" y="7434071"/>
            <a:ext cx="2651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Рекреационный</a:t>
            </a:r>
          </a:p>
        </p:txBody>
      </p:sp>
      <p:sp>
        <p:nvSpPr>
          <p:cNvPr id="226" name="Показатели"/>
          <p:cNvSpPr txBox="1"/>
          <p:nvPr/>
        </p:nvSpPr>
        <p:spPr>
          <a:xfrm>
            <a:off x="4114800" y="7434071"/>
            <a:ext cx="4206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Сочетание водоёмов, опушек леса и транспортной доступности</a:t>
            </a:r>
          </a:p>
        </p:txBody>
      </p:sp>
      <p:sp>
        <p:nvSpPr>
          <p:cNvPr id="227" name="Высокий уровень"/>
          <p:cNvSpPr txBox="1"/>
          <p:nvPr/>
        </p:nvSpPr>
        <p:spPr>
          <a:xfrm>
            <a:off x="8503920" y="7434071"/>
            <a:ext cx="3017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Водоёмы и леса расположены рядом с дорогами</a:t>
            </a:r>
          </a:p>
        </p:txBody>
      </p:sp>
      <p:sp>
        <p:nvSpPr>
          <p:cNvPr id="228" name="Полоса"/>
          <p:cNvSpPr/>
          <p:nvPr/>
        </p:nvSpPr>
        <p:spPr>
          <a:xfrm>
            <a:off x="1069848" y="8348471"/>
            <a:ext cx="10607040" cy="914400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Компонент"/>
          <p:cNvSpPr txBox="1"/>
          <p:nvPr/>
        </p:nvSpPr>
        <p:spPr>
          <a:xfrm>
            <a:off x="1280160" y="8348471"/>
            <a:ext cx="2651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Нагрузка и деградация</a:t>
            </a:r>
          </a:p>
        </p:txBody>
      </p:sp>
      <p:sp>
        <p:nvSpPr>
          <p:cNvPr id="230" name="Показатели"/>
          <p:cNvSpPr txBox="1"/>
          <p:nvPr/>
        </p:nvSpPr>
        <p:spPr>
          <a:xfrm>
            <a:off x="4114800" y="8348471"/>
            <a:ext cx="4206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Доля эродированных земель, загрязнение почв и вод, опасные явления</a:t>
            </a:r>
          </a:p>
        </p:txBody>
      </p:sp>
      <p:sp>
        <p:nvSpPr>
          <p:cNvPr id="231" name="Высокий уровень"/>
          <p:cNvSpPr txBox="1"/>
          <p:nvPr/>
        </p:nvSpPr>
        <p:spPr>
          <a:xfrm>
            <a:off x="8503920" y="8348471"/>
            <a:ext cx="3017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Мало эродированных земель, загрязнения и опасных явлений</a:t>
            </a:r>
          </a:p>
        </p:txBody>
      </p:sp>
      <p:sp>
        <p:nvSpPr>
          <p:cNvPr id="232" name="Шапка метода"/>
          <p:cNvSpPr/>
          <p:nvPr/>
        </p:nvSpPr>
        <p:spPr>
          <a:xfrm>
            <a:off x="12252960" y="2331720"/>
            <a:ext cx="5696711" cy="502920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Circe Bold"/>
              </a:rPr>
              <a:t>КАК ОЦЕНИВАТЬ</a:t>
            </a:r>
          </a:p>
        </p:txBody>
      </p:sp>
      <p:sp>
        <p:nvSpPr>
          <p:cNvPr id="233" name="Шаг 1"/>
          <p:cNvSpPr/>
          <p:nvPr/>
        </p:nvSpPr>
        <p:spPr>
          <a:xfrm>
            <a:off x="12252960" y="3108960"/>
            <a:ext cx="548640" cy="54864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062D3F"/>
                </a:solidFill>
                <a:latin typeface="Circe Bold"/>
              </a:rPr>
              <a:t>1</a:t>
            </a:r>
          </a:p>
        </p:txBody>
      </p:sp>
      <p:sp>
        <p:nvSpPr>
          <p:cNvPr id="234" name="Шаг Сравнить"/>
          <p:cNvSpPr txBox="1"/>
          <p:nvPr/>
        </p:nvSpPr>
        <p:spPr>
          <a:xfrm>
            <a:off x="13030200" y="3017520"/>
            <a:ext cx="4919471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Сравнить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062D3F"/>
                </a:solidFill>
                <a:latin typeface="Circe"/>
              </a:rPr>
              <a:t>Значение района рядом со средним по региону и с районами того же типа</a:t>
            </a:r>
          </a:p>
        </p:txBody>
      </p:sp>
      <p:sp>
        <p:nvSpPr>
          <p:cNvPr id="235" name="Шаг 2"/>
          <p:cNvSpPr/>
          <p:nvPr/>
        </p:nvSpPr>
        <p:spPr>
          <a:xfrm>
            <a:off x="12252960" y="4279392"/>
            <a:ext cx="548640" cy="54864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062D3F"/>
                </a:solidFill>
                <a:latin typeface="Circe Bold"/>
              </a:rPr>
              <a:t>2</a:t>
            </a:r>
          </a:p>
        </p:txBody>
      </p:sp>
      <p:sp>
        <p:nvSpPr>
          <p:cNvPr id="236" name="Шаг Присвоить уровень"/>
          <p:cNvSpPr txBox="1"/>
          <p:nvPr/>
        </p:nvSpPr>
        <p:spPr>
          <a:xfrm>
            <a:off x="13030200" y="4187952"/>
            <a:ext cx="4919471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Присвоить уровень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062D3F"/>
                </a:solidFill>
                <a:latin typeface="Circe"/>
              </a:rPr>
              <a:t>Высокий, средний или низкий по каждому показателю с учётом направления оценки</a:t>
            </a:r>
          </a:p>
        </p:txBody>
      </p:sp>
      <p:sp>
        <p:nvSpPr>
          <p:cNvPr id="237" name="Шаг 3"/>
          <p:cNvSpPr/>
          <p:nvPr/>
        </p:nvSpPr>
        <p:spPr>
          <a:xfrm>
            <a:off x="12252960" y="5449824"/>
            <a:ext cx="548640" cy="54864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062D3F"/>
                </a:solidFill>
                <a:latin typeface="Circe Bold"/>
              </a:rPr>
              <a:t>3</a:t>
            </a:r>
          </a:p>
        </p:txBody>
      </p:sp>
      <p:sp>
        <p:nvSpPr>
          <p:cNvPr id="238" name="Шаг Свести по компонентам"/>
          <p:cNvSpPr txBox="1"/>
          <p:nvPr/>
        </p:nvSpPr>
        <p:spPr>
          <a:xfrm>
            <a:off x="13030200" y="5358384"/>
            <a:ext cx="4919471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Свести по компонентам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062D3F"/>
                </a:solidFill>
                <a:latin typeface="Circe"/>
              </a:rPr>
              <a:t>Профиль потенциала и компонент, который ограничивает развитие</a:t>
            </a:r>
          </a:p>
        </p:txBody>
      </p:sp>
      <p:sp>
        <p:nvSpPr>
          <p:cNvPr id="239" name="Шаг 4"/>
          <p:cNvSpPr/>
          <p:nvPr/>
        </p:nvSpPr>
        <p:spPr>
          <a:xfrm>
            <a:off x="12252960" y="6620256"/>
            <a:ext cx="548640" cy="54864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062D3F"/>
                </a:solidFill>
                <a:latin typeface="Circe Bold"/>
              </a:rPr>
              <a:t>4</a:t>
            </a:r>
          </a:p>
        </p:txBody>
      </p:sp>
      <p:sp>
        <p:nvSpPr>
          <p:cNvPr id="240" name="Шаг Передать в SWOT"/>
          <p:cNvSpPr txBox="1"/>
          <p:nvPr/>
        </p:nvSpPr>
        <p:spPr>
          <a:xfrm>
            <a:off x="13030200" y="6528816"/>
            <a:ext cx="4919471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Передать в SWOT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062D3F"/>
                </a:solidFill>
                <a:latin typeface="Circe"/>
              </a:rPr>
              <a:t>Высокий уровень даёт сильные стороны, низкий даёт слабые</a:t>
            </a:r>
          </a:p>
        </p:txBody>
      </p:sp>
      <p:sp>
        <p:nvSpPr>
          <p:cNvPr id="241" name="Уровень ВЫСОКИЙ"/>
          <p:cNvSpPr/>
          <p:nvPr/>
        </p:nvSpPr>
        <p:spPr>
          <a:xfrm>
            <a:off x="12252960" y="7790688"/>
            <a:ext cx="1807463" cy="548640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062D3F"/>
                </a:solidFill>
                <a:latin typeface="Circe Bold"/>
              </a:rPr>
              <a:t>ВЫСОКИЙ</a:t>
            </a:r>
          </a:p>
        </p:txBody>
      </p:sp>
      <p:sp>
        <p:nvSpPr>
          <p:cNvPr id="242" name="Уровень СРЕДНИЙ"/>
          <p:cNvSpPr/>
          <p:nvPr/>
        </p:nvSpPr>
        <p:spPr>
          <a:xfrm>
            <a:off x="14197584" y="7790688"/>
            <a:ext cx="1807463" cy="548640"/>
          </a:xfrm>
          <a:prstGeom prst="roundRect">
            <a:avLst>
              <a:gd name="adj" fmla="val 50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062D3F"/>
                </a:solidFill>
                <a:latin typeface="Circe Bold"/>
              </a:rPr>
              <a:t>СРЕДНИЙ</a:t>
            </a:r>
          </a:p>
        </p:txBody>
      </p:sp>
      <p:sp>
        <p:nvSpPr>
          <p:cNvPr id="243" name="Уровень НИЗКИЙ"/>
          <p:cNvSpPr/>
          <p:nvPr/>
        </p:nvSpPr>
        <p:spPr>
          <a:xfrm>
            <a:off x="16142208" y="7790688"/>
            <a:ext cx="1807463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62D3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062D3F"/>
                </a:solidFill>
                <a:latin typeface="Circe Bold"/>
              </a:rPr>
              <a:t>НИЗКИЙ</a:t>
            </a:r>
          </a:p>
        </p:txBody>
      </p:sp>
      <p:sp>
        <p:nvSpPr>
          <p:cNvPr id="244" name="Примечание"/>
          <p:cNvSpPr txBox="1"/>
          <p:nvPr/>
        </p:nvSpPr>
        <p:spPr>
          <a:xfrm>
            <a:off x="1069848" y="9400032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Направление оценки каждого показателя задано в таблице природных факторов. Лесистость оценивается по специализации района.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</TotalTime>
  <Words>9094</Words>
  <Application>Microsoft Office PowerPoint</Application>
  <PresentationFormat>Произвольный</PresentationFormat>
  <Paragraphs>2467</Paragraphs>
  <Slides>58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8" baseType="lpstr">
      <vt:lpstr>Arial</vt:lpstr>
      <vt:lpstr>Arial Black</vt:lpstr>
      <vt:lpstr>Calibri</vt:lpstr>
      <vt:lpstr>Century Gothic</vt:lpstr>
      <vt:lpstr>Circe</vt:lpstr>
      <vt:lpstr>Circe Bold</vt:lpstr>
      <vt:lpstr>Circe Bold (Заголовки)</vt:lpstr>
      <vt:lpstr>Gramatika-Medium</vt:lpstr>
      <vt:lpstr>Wingdings</vt:lpstr>
      <vt:lpstr>Основной слайд</vt:lpstr>
      <vt:lpstr>Комплексная диагностика  социально-экономического состояния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ПОЛОВОЗРАСТНАЯ СТРУКТУРА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Субъекты градостроительных отношений</vt:lpstr>
      <vt:lpstr>Виды экономической эффективности</vt:lpstr>
      <vt:lpstr>Экономическое моделирование градостроительных решений</vt:lpstr>
      <vt:lpstr>Экономическое моделирование градостроительных решений</vt:lpstr>
      <vt:lpstr>Порядок планирования сбалансированной градостроительной и экономической политики</vt:lpstr>
      <vt:lpstr>Порядок подготовки заключения об экономической целесообразности реализации мероприятий градостроительного развития</vt:lpstr>
      <vt:lpstr>Порядок сбора, обработки и интерпретации первичных данных, необходимых для оценки удельных затрат на 1 жителя </vt:lpstr>
      <vt:lpstr>Порядок сбора и обработки и интерпретации первичных данных, необходимых для оценки удельных доходов с 1 рабочего места</vt:lpstr>
      <vt:lpstr>Пример расчета удельных показателей затрат и доходов в населенном пункте</vt:lpstr>
      <vt:lpstr>Прогноз бюджетного баланса с учетом принятых градостроительных решений</vt:lpstr>
      <vt:lpstr>Перспективы изменения отраслевой структуры экономики</vt:lpstr>
      <vt:lpstr>Презентация PowerPoint</vt:lpstr>
      <vt:lpstr>Презентация PowerPoint</vt:lpstr>
      <vt:lpstr>Презентация PowerPoint</vt:lpstr>
      <vt:lpstr>Презентация PowerPoint</vt:lpstr>
      <vt:lpstr>ВОЗМОЖНЫЕ ИНСТРУМЕНТЫ БЮДЖЕТНОЙ ПОДДЕРЖКИ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Шевцов Александр Александрович</dc:creator>
  <cp:lastModifiedBy>InkXiles</cp:lastModifiedBy>
  <cp:revision>114</cp:revision>
  <cp:lastPrinted>2026-10-05T13:20:42Z</cp:lastPrinted>
  <dcterms:created xsi:type="dcterms:W3CDTF">2022-11-22T08:46:48Z</dcterms:created>
  <dcterms:modified xsi:type="dcterms:W3CDTF">2026-10-12T08:06:42Z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