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418" r:id="rId65"/>
  </p:sldIdLst>
  <p:sldSz cx="19010313" cy="10693400"/>
  <p:notesSz cx="14303375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504"/>
    <a:srgbClr val="062D3F"/>
    <a:srgbClr val="FFCC00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52" d="100"/>
          <a:sy n="52" d="100"/>
        </p:scale>
        <p:origin x="1013" y="58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02379" y="0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2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588" tIns="37294" rIns="74588" bIns="3729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0815" y="4778401"/>
            <a:ext cx="11441745" cy="3908796"/>
          </a:xfrm>
          <a:prstGeom prst="rect">
            <a:avLst/>
          </a:prstGeom>
        </p:spPr>
        <p:txBody>
          <a:bodyPr vert="horz" lIns="74588" tIns="37294" rIns="74588" bIns="3729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5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02379" y="9430045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воссоздан по растровому рисунку в дизайн-коде института, слова и компоновка сохранены. Карта перекрашена из исходного изображения (разрешение исходника невысокое), зоны влияния и виноградники переведены в жёлтые тона, существующие зоны в серо-голубой, объекты в тёмно-синий. Легенда и диаграмма пузырей нарисованы заново как редактируемые объекты. Единственная правка в тексте: перенос «УДОБРЕ-НИЯ» заменён целым словом.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5" y="546101"/>
            <a:ext cx="17631873" cy="461665"/>
          </a:xfrm>
        </p:spPr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irce Bold"/>
                <a:cs typeface="Circ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0516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790311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rgbClr val="44626F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rgbClr val="44626F"/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22694036" y="10091362"/>
            <a:ext cx="581506" cy="246221"/>
          </a:xfrm>
        </p:spPr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pPr marL="67938">
              <a:spcBef>
                <a:spcPts val="105"/>
              </a:spcBef>
            </a:pPr>
            <a:fld id="{81D60167-4931-47E6-BA6A-407CBD079E47}" type="slidenum">
              <a:rPr lang="ru-RU" spc="-25" smtClean="0">
                <a:solidFill>
                  <a:srgbClr val="062D3F"/>
                </a:solidFill>
              </a:rPr>
              <a:pPr marL="67938">
                <a:spcBef>
                  <a:spcPts val="105"/>
                </a:spcBef>
              </a:pPr>
              <a:t>‹#›</a:t>
            </a:fld>
            <a:endParaRPr lang="ru-RU" spc="-25" dirty="0">
              <a:solidFill>
                <a:srgbClr val="062D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046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8.png"/><Relationship Id="rId16" Type="http://schemas.openxmlformats.org/officeDocument/2006/relationships/image" Target="../media/image9.png"/><Relationship Id="rId1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7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  <p:sldLayoutId id="2147483668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png"/><Relationship Id="rId3" Type="http://schemas.openxmlformats.org/officeDocument/2006/relationships/notesSlide" Target="../notesSlides/notesSlide5.xml"/></Relationships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0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201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ТЕРРИТОРИАЛЬНАЯ КЛАСТЕРИЗАЦИЯ - </a:t>
            </a:r>
            <a:r>
              <a:rPr lang="en-US" sz="4000" b="1" dirty="0">
                <a:solidFill>
                  <a:srgbClr val="062D3F"/>
                </a:solidFill>
                <a:highlight>
                  <a:srgbClr val="FFCC00"/>
                </a:highlight>
                <a:latin typeface="Circe Bold" panose="020B0602020203020203" pitchFamily="34" charset="-52"/>
              </a:rPr>
              <a:t>АГРОКОМПЛЕКС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pic>
        <p:nvPicPr>
          <p:cNvPr id="202" name="Карта территориальной кластеризации" descr="map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103120"/>
            <a:ext cx="6311628" cy="7882127"/>
          </a:xfrm>
          <a:prstGeom prst="rect">
            <a:avLst/>
          </a:prstGeom>
        </p:spPr>
      </p:pic>
      <p:sp>
        <p:nvSpPr>
          <p:cNvPr id="203" name="Условный знак"/>
          <p:cNvSpPr/>
          <p:nvPr/>
        </p:nvSpPr>
        <p:spPr>
          <a:xfrm>
            <a:off x="6035040" y="2340864"/>
            <a:ext cx="201168" cy="201168"/>
          </a:xfrm>
          <a:prstGeom prst="diamond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Легенда"/>
          <p:cNvSpPr txBox="1"/>
          <p:nvPr/>
        </p:nvSpPr>
        <p:spPr>
          <a:xfrm>
            <a:off x="6446520" y="2286000"/>
            <a:ext cx="24231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062D3F"/>
                </a:solidFill>
                <a:latin typeface="Circe"/>
              </a:rPr>
              <a:t>существующие объекты</a:t>
            </a:r>
          </a:p>
        </p:txBody>
      </p:sp>
      <p:sp>
        <p:nvSpPr>
          <p:cNvPr id="205" name="Условный знак"/>
          <p:cNvSpPr/>
          <p:nvPr/>
        </p:nvSpPr>
        <p:spPr>
          <a:xfrm>
            <a:off x="6035040" y="2816352"/>
            <a:ext cx="201168" cy="201168"/>
          </a:xfrm>
          <a:prstGeom prst="diamond">
            <a:avLst/>
          </a:prstGeom>
          <a:solidFill>
            <a:srgbClr val="7FA6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Легенда"/>
          <p:cNvSpPr txBox="1"/>
          <p:nvPr/>
        </p:nvSpPr>
        <p:spPr>
          <a:xfrm>
            <a:off x="6446520" y="2761488"/>
            <a:ext cx="24231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062D3F"/>
                </a:solidFill>
                <a:latin typeface="Circe"/>
              </a:rPr>
              <a:t>проектные объекты</a:t>
            </a:r>
          </a:p>
        </p:txBody>
      </p:sp>
      <p:sp>
        <p:nvSpPr>
          <p:cNvPr id="207" name="Условный знак"/>
          <p:cNvSpPr/>
          <p:nvPr/>
        </p:nvSpPr>
        <p:spPr>
          <a:xfrm>
            <a:off x="6035040" y="3282696"/>
            <a:ext cx="256032" cy="219456"/>
          </a:xfrm>
          <a:prstGeom prst="rect">
            <a:avLst/>
          </a:prstGeom>
          <a:solidFill>
            <a:srgbClr val="C9D0D4"/>
          </a:solidFill>
          <a:ln w="6350">
            <a:solidFill>
              <a:srgbClr val="D9DE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Легенда"/>
          <p:cNvSpPr txBox="1"/>
          <p:nvPr/>
        </p:nvSpPr>
        <p:spPr>
          <a:xfrm>
            <a:off x="6446520" y="3236976"/>
            <a:ext cx="24231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062D3F"/>
                </a:solidFill>
                <a:latin typeface="Circe"/>
              </a:rPr>
              <a:t>существующие зоны влияния объектов агрокомплекса</a:t>
            </a:r>
          </a:p>
        </p:txBody>
      </p:sp>
      <p:sp>
        <p:nvSpPr>
          <p:cNvPr id="209" name="Условный знак"/>
          <p:cNvSpPr/>
          <p:nvPr/>
        </p:nvSpPr>
        <p:spPr>
          <a:xfrm>
            <a:off x="6035040" y="4032504"/>
            <a:ext cx="256032" cy="219456"/>
          </a:xfrm>
          <a:prstGeom prst="rect">
            <a:avLst/>
          </a:prstGeom>
          <a:solidFill>
            <a:srgbClr val="FFCC00"/>
          </a:solidFill>
          <a:ln w="6350">
            <a:solidFill>
              <a:srgbClr val="D9DE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Легенда"/>
          <p:cNvSpPr txBox="1"/>
          <p:nvPr/>
        </p:nvSpPr>
        <p:spPr>
          <a:xfrm>
            <a:off x="6446520" y="3986784"/>
            <a:ext cx="24231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062D3F"/>
                </a:solidFill>
                <a:latin typeface="Circe"/>
              </a:rPr>
              <a:t>проектные зоны влияния объектов агрокомплекса</a:t>
            </a:r>
          </a:p>
        </p:txBody>
      </p:sp>
      <p:sp>
        <p:nvSpPr>
          <p:cNvPr id="211" name="Условный знак"/>
          <p:cNvSpPr/>
          <p:nvPr/>
        </p:nvSpPr>
        <p:spPr>
          <a:xfrm>
            <a:off x="6035040" y="4782312"/>
            <a:ext cx="256032" cy="219456"/>
          </a:xfrm>
          <a:prstGeom prst="rect">
            <a:avLst/>
          </a:prstGeom>
          <a:solidFill>
            <a:srgbClr val="FFE283"/>
          </a:solidFill>
          <a:ln w="6350">
            <a:solidFill>
              <a:srgbClr val="D9DE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Легенда"/>
          <p:cNvSpPr txBox="1"/>
          <p:nvPr/>
        </p:nvSpPr>
        <p:spPr>
          <a:xfrm>
            <a:off x="6446520" y="4736592"/>
            <a:ext cx="24231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062D3F"/>
                </a:solidFill>
                <a:latin typeface="Circe"/>
              </a:rPr>
              <a:t>виноградники</a:t>
            </a:r>
          </a:p>
        </p:txBody>
      </p:sp>
      <p:sp>
        <p:nvSpPr>
          <p:cNvPr id="213" name="Условный знак"/>
          <p:cNvSpPr/>
          <p:nvPr/>
        </p:nvSpPr>
        <p:spPr>
          <a:xfrm>
            <a:off x="6035040" y="5257800"/>
            <a:ext cx="256032" cy="219456"/>
          </a:xfrm>
          <a:prstGeom prst="rect">
            <a:avLst/>
          </a:prstGeom>
          <a:solidFill>
            <a:srgbClr val="FFF3CC"/>
          </a:solidFill>
          <a:ln w="6350">
            <a:solidFill>
              <a:srgbClr val="D9DE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Легенда"/>
          <p:cNvSpPr txBox="1"/>
          <p:nvPr/>
        </p:nvSpPr>
        <p:spPr>
          <a:xfrm>
            <a:off x="6446520" y="5212080"/>
            <a:ext cx="24231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062D3F"/>
                </a:solidFill>
                <a:latin typeface="Circe"/>
              </a:rPr>
              <a:t>земли СХ</a:t>
            </a:r>
          </a:p>
        </p:txBody>
      </p:sp>
      <p:sp>
        <p:nvSpPr>
          <p:cNvPr id="215" name="Косметика"/>
          <p:cNvSpPr/>
          <p:nvPr/>
        </p:nvSpPr>
        <p:spPr>
          <a:xfrm>
            <a:off x="11561673" y="1962668"/>
            <a:ext cx="1170432" cy="1170432"/>
          </a:xfrm>
          <a:prstGeom prst="ellipse">
            <a:avLst/>
          </a:prstGeom>
          <a:solidFill>
            <a:srgbClr val="FFF3CC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Вторичные продукты"/>
          <p:cNvSpPr/>
          <p:nvPr/>
        </p:nvSpPr>
        <p:spPr>
          <a:xfrm>
            <a:off x="12860853" y="1728581"/>
            <a:ext cx="1451335" cy="1451335"/>
          </a:xfrm>
          <a:prstGeom prst="ellipse">
            <a:avLst/>
          </a:prstGeom>
          <a:solidFill>
            <a:srgbClr val="FFF3CC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Рассада"/>
          <p:cNvSpPr/>
          <p:nvPr/>
        </p:nvSpPr>
        <p:spPr>
          <a:xfrm>
            <a:off x="13867424" y="3706611"/>
            <a:ext cx="1170432" cy="1170432"/>
          </a:xfrm>
          <a:prstGeom prst="ellipse">
            <a:avLst/>
          </a:prstGeom>
          <a:solidFill>
            <a:srgbClr val="FFF3CC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Эфиромасличные"/>
          <p:cNvSpPr/>
          <p:nvPr/>
        </p:nvSpPr>
        <p:spPr>
          <a:xfrm>
            <a:off x="14160032" y="4631253"/>
            <a:ext cx="1123614" cy="1123614"/>
          </a:xfrm>
          <a:prstGeom prst="ellipse">
            <a:avLst/>
          </a:prstGeom>
          <a:solidFill>
            <a:srgbClr val="FFF3CC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С/х услуги"/>
          <p:cNvSpPr/>
          <p:nvPr/>
        </p:nvSpPr>
        <p:spPr>
          <a:xfrm>
            <a:off x="13153461" y="4479096"/>
            <a:ext cx="1498152" cy="1498152"/>
          </a:xfrm>
          <a:prstGeom prst="ellipse">
            <a:avLst/>
          </a:prstGeom>
          <a:solidFill>
            <a:srgbClr val="FFF3CC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Плодово-ягодное"/>
          <p:cNvSpPr/>
          <p:nvPr/>
        </p:nvSpPr>
        <p:spPr>
          <a:xfrm>
            <a:off x="12053255" y="4748296"/>
            <a:ext cx="1357701" cy="1357701"/>
          </a:xfrm>
          <a:prstGeom prst="ellipse">
            <a:avLst/>
          </a:prstGeom>
          <a:solidFill>
            <a:srgbClr val="FFF3CC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Животноводство"/>
          <p:cNvSpPr/>
          <p:nvPr/>
        </p:nvSpPr>
        <p:spPr>
          <a:xfrm>
            <a:off x="11187135" y="4303532"/>
            <a:ext cx="1217249" cy="1217249"/>
          </a:xfrm>
          <a:prstGeom prst="ellipse">
            <a:avLst/>
          </a:prstGeom>
          <a:solidFill>
            <a:srgbClr val="FFF3CC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Пищевые продукты"/>
          <p:cNvSpPr/>
          <p:nvPr/>
        </p:nvSpPr>
        <p:spPr>
          <a:xfrm>
            <a:off x="11315882" y="5146243"/>
            <a:ext cx="795893" cy="795893"/>
          </a:xfrm>
          <a:prstGeom prst="ellipse">
            <a:avLst/>
          </a:prstGeom>
          <a:solidFill>
            <a:srgbClr val="FFF3CC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Агрокомплекс"/>
          <p:cNvSpPr/>
          <p:nvPr/>
        </p:nvSpPr>
        <p:spPr>
          <a:xfrm>
            <a:off x="12018142" y="2852196"/>
            <a:ext cx="2481315" cy="2481315"/>
          </a:xfrm>
          <a:prstGeom prst="ellipse">
            <a:avLst/>
          </a:prstGeom>
          <a:solidFill>
            <a:srgbClr val="FFE28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Виноградарство и виноделие"/>
          <p:cNvSpPr/>
          <p:nvPr/>
        </p:nvSpPr>
        <p:spPr>
          <a:xfrm>
            <a:off x="10531693" y="2735153"/>
            <a:ext cx="2059960" cy="205996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Подпись КОСМЕТИКА, Б"/>
          <p:cNvSpPr txBox="1"/>
          <p:nvPr/>
        </p:nvSpPr>
        <p:spPr>
          <a:xfrm>
            <a:off x="11608490" y="2182124"/>
            <a:ext cx="10767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62D3F"/>
                </a:solidFill>
                <a:latin typeface="Circe Bold"/>
              </a:rPr>
              <a:t>КОСМЕТИКА, БИОДОБАВКИ</a:t>
            </a:r>
          </a:p>
        </p:txBody>
      </p:sp>
      <p:sp>
        <p:nvSpPr>
          <p:cNvPr id="226" name="Подпись ВТОРИЧНЫЕ ПР"/>
          <p:cNvSpPr txBox="1"/>
          <p:nvPr/>
        </p:nvSpPr>
        <p:spPr>
          <a:xfrm>
            <a:off x="12907670" y="2065080"/>
            <a:ext cx="149815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62D3F"/>
                </a:solidFill>
                <a:latin typeface="Circe Bold"/>
              </a:rPr>
              <a:t>ВТОРИЧНЫЕ ПРОДУКТЫ ВИНОДЕЛИЯ, ОРГАНИЧЕСКИЕ УДОБРЕНИЯ, КОРМА</a:t>
            </a:r>
          </a:p>
        </p:txBody>
      </p:sp>
      <p:sp>
        <p:nvSpPr>
          <p:cNvPr id="227" name="Подпись ВЫРАЩИВАНИЕ "/>
          <p:cNvSpPr txBox="1"/>
          <p:nvPr/>
        </p:nvSpPr>
        <p:spPr>
          <a:xfrm>
            <a:off x="13955207" y="3890954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62D3F"/>
                </a:solidFill>
                <a:latin typeface="Circe Bold"/>
              </a:rPr>
              <a:t>ВЫРАЩИВАНИЕ РАССАДЫ</a:t>
            </a:r>
          </a:p>
        </p:txBody>
      </p:sp>
      <p:sp>
        <p:nvSpPr>
          <p:cNvPr id="228" name="Подпись ВЫРАЩИВАНИЕ "/>
          <p:cNvSpPr txBox="1"/>
          <p:nvPr/>
        </p:nvSpPr>
        <p:spPr>
          <a:xfrm>
            <a:off x="14335597" y="4827300"/>
            <a:ext cx="117043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62D3F"/>
                </a:solidFill>
                <a:latin typeface="Circe Bold"/>
              </a:rPr>
              <a:t>ВЫРАЩИВАНИЕ ЭФИРО-МАСЛИЧНЫХ КУЛЬТУР</a:t>
            </a:r>
          </a:p>
        </p:txBody>
      </p:sp>
      <p:sp>
        <p:nvSpPr>
          <p:cNvPr id="229" name="Подпись С/Х УСЛУГИ"/>
          <p:cNvSpPr txBox="1"/>
          <p:nvPr/>
        </p:nvSpPr>
        <p:spPr>
          <a:xfrm>
            <a:off x="13293912" y="4897526"/>
            <a:ext cx="105338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62D3F"/>
                </a:solidFill>
                <a:latin typeface="Circe Bold"/>
              </a:rPr>
              <a:t>С/Х УСЛУГИ</a:t>
            </a:r>
          </a:p>
        </p:txBody>
      </p:sp>
      <p:sp>
        <p:nvSpPr>
          <p:cNvPr id="230" name="Подпись ПЛОДОВО-ЯГОД"/>
          <p:cNvSpPr txBox="1"/>
          <p:nvPr/>
        </p:nvSpPr>
        <p:spPr>
          <a:xfrm>
            <a:off x="11889394" y="5084795"/>
            <a:ext cx="175564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62D3F"/>
                </a:solidFill>
                <a:latin typeface="Circe Bold"/>
              </a:rPr>
              <a:t>ПЛОДОВО-ЯГОДНОЕ РАСТЕНИЕВОДСТВО</a:t>
            </a:r>
          </a:p>
        </p:txBody>
      </p:sp>
      <p:sp>
        <p:nvSpPr>
          <p:cNvPr id="231" name="Подпись ЖИВОТНОВОДСТ"/>
          <p:cNvSpPr txBox="1"/>
          <p:nvPr/>
        </p:nvSpPr>
        <p:spPr>
          <a:xfrm>
            <a:off x="10917936" y="4546396"/>
            <a:ext cx="175564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62D3F"/>
                </a:solidFill>
                <a:latin typeface="Circe Bold"/>
              </a:rPr>
              <a:t>ЖИВОТНОВОДСТВО</a:t>
            </a:r>
          </a:p>
        </p:txBody>
      </p:sp>
      <p:sp>
        <p:nvSpPr>
          <p:cNvPr id="232" name="Подпись ПИЩЕВЫЕ ПРОД"/>
          <p:cNvSpPr txBox="1"/>
          <p:nvPr/>
        </p:nvSpPr>
        <p:spPr>
          <a:xfrm>
            <a:off x="10367832" y="5225247"/>
            <a:ext cx="1521561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62D3F"/>
                </a:solidFill>
                <a:latin typeface="Circe Bold"/>
              </a:rPr>
              <a:t>ПИЩЕВЫЕ ПРОДУКТЫ, НАПИТКИ</a:t>
            </a:r>
          </a:p>
        </p:txBody>
      </p:sp>
      <p:sp>
        <p:nvSpPr>
          <p:cNvPr id="233" name="Подпись ВИНОГРАДАРСТ"/>
          <p:cNvSpPr txBox="1"/>
          <p:nvPr/>
        </p:nvSpPr>
        <p:spPr>
          <a:xfrm>
            <a:off x="10683849" y="3399373"/>
            <a:ext cx="175564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62D3F"/>
                </a:solidFill>
                <a:latin typeface="Circe Bold"/>
              </a:rPr>
              <a:t>ВИНОГРАДАРСТВО И ВИНОДЕЛИЕ</a:t>
            </a:r>
          </a:p>
        </p:txBody>
      </p:sp>
      <p:sp>
        <p:nvSpPr>
          <p:cNvPr id="234" name="Подпись АГРОКОМПЛЕКС"/>
          <p:cNvSpPr txBox="1"/>
          <p:nvPr/>
        </p:nvSpPr>
        <p:spPr>
          <a:xfrm>
            <a:off x="12380976" y="3656868"/>
            <a:ext cx="1521561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62D3F"/>
                </a:solidFill>
                <a:latin typeface="Circe Bold"/>
              </a:rPr>
              <a:t>АГРОКОМПЛЕКС</a:t>
            </a:r>
          </a:p>
        </p:txBody>
      </p:sp>
      <p:sp>
        <p:nvSpPr>
          <p:cNvPr id="235" name="Пятно"/>
          <p:cNvSpPr/>
          <p:nvPr/>
        </p:nvSpPr>
        <p:spPr>
          <a:xfrm>
            <a:off x="8046720" y="5943600"/>
            <a:ext cx="868680" cy="868680"/>
          </a:xfrm>
          <a:prstGeom prst="ellipse">
            <a:avLst/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Значение"/>
          <p:cNvSpPr txBox="1"/>
          <p:nvPr/>
        </p:nvSpPr>
        <p:spPr>
          <a:xfrm>
            <a:off x="8229600" y="5989320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400" b="1">
                <a:solidFill>
                  <a:srgbClr val="062D3F"/>
                </a:solidFill>
                <a:latin typeface="Circe Bold"/>
              </a:rPr>
              <a:t>0,3</a:t>
            </a:r>
            <a:r>
              <a:rPr sz="2400" b="1">
                <a:solidFill>
                  <a:srgbClr val="062D3F"/>
                </a:solidFill>
                <a:latin typeface="Circe Bold"/>
              </a:rPr>
              <a:t> тыс.</a:t>
            </a:r>
          </a:p>
        </p:txBody>
      </p:sp>
      <p:sp>
        <p:nvSpPr>
          <p:cNvPr id="237" name="Пояснение"/>
          <p:cNvSpPr txBox="1"/>
          <p:nvPr/>
        </p:nvSpPr>
        <p:spPr>
          <a:xfrm>
            <a:off x="8229600" y="68122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62D3F"/>
                </a:solidFill>
                <a:latin typeface="Circe"/>
              </a:rPr>
              <a:t>новых рабочих мест</a:t>
            </a:r>
          </a:p>
        </p:txBody>
      </p:sp>
      <p:sp>
        <p:nvSpPr>
          <p:cNvPr id="238" name="Объект"/>
          <p:cNvSpPr txBox="1"/>
          <p:nvPr/>
        </p:nvSpPr>
        <p:spPr>
          <a:xfrm>
            <a:off x="8229600" y="71048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Терруар Севастополь</a:t>
            </a:r>
          </a:p>
        </p:txBody>
      </p:sp>
      <p:sp>
        <p:nvSpPr>
          <p:cNvPr id="239" name="Пятно"/>
          <p:cNvSpPr/>
          <p:nvPr/>
        </p:nvSpPr>
        <p:spPr>
          <a:xfrm>
            <a:off x="13075920" y="5943600"/>
            <a:ext cx="868680" cy="868680"/>
          </a:xfrm>
          <a:prstGeom prst="ellipse">
            <a:avLst/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Значение"/>
          <p:cNvSpPr txBox="1"/>
          <p:nvPr/>
        </p:nvSpPr>
        <p:spPr>
          <a:xfrm>
            <a:off x="13258800" y="5989320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400" b="1">
                <a:solidFill>
                  <a:srgbClr val="062D3F"/>
                </a:solidFill>
                <a:latin typeface="Circe Bold"/>
              </a:rPr>
              <a:t>0,1</a:t>
            </a:r>
            <a:r>
              <a:rPr sz="2400" b="1">
                <a:solidFill>
                  <a:srgbClr val="062D3F"/>
                </a:solidFill>
                <a:latin typeface="Circe Bold"/>
              </a:rPr>
              <a:t> тыс.</a:t>
            </a:r>
          </a:p>
        </p:txBody>
      </p:sp>
      <p:sp>
        <p:nvSpPr>
          <p:cNvPr id="241" name="Пояснение"/>
          <p:cNvSpPr txBox="1"/>
          <p:nvPr/>
        </p:nvSpPr>
        <p:spPr>
          <a:xfrm>
            <a:off x="13258800" y="68122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62D3F"/>
                </a:solidFill>
                <a:latin typeface="Circe"/>
              </a:rPr>
              <a:t>новых рабочих мест</a:t>
            </a:r>
          </a:p>
        </p:txBody>
      </p:sp>
      <p:sp>
        <p:nvSpPr>
          <p:cNvPr id="242" name="Объект"/>
          <p:cNvSpPr txBox="1"/>
          <p:nvPr/>
        </p:nvSpPr>
        <p:spPr>
          <a:xfrm>
            <a:off x="13258800" y="71048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Молочно-товарная ферма</a:t>
            </a:r>
          </a:p>
        </p:txBody>
      </p:sp>
      <p:sp>
        <p:nvSpPr>
          <p:cNvPr id="243" name="КОНКУРЕНТНЫЕ ПРЕИМУЩЕСТВА"/>
          <p:cNvSpPr/>
          <p:nvPr/>
        </p:nvSpPr>
        <p:spPr>
          <a:xfrm>
            <a:off x="7955279" y="7498079"/>
            <a:ext cx="4937760" cy="56692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062D3F"/>
                </a:solidFill>
                <a:latin typeface="Circe Bold"/>
              </a:rPr>
              <a:t>КОНКУРЕНТНЫЕ ПРЕИМУЩЕСТВА</a:t>
            </a:r>
          </a:p>
        </p:txBody>
      </p:sp>
      <p:sp>
        <p:nvSpPr>
          <p:cNvPr id="244" name="Список КОНКУРЕНТНЫЕ ПРЕИМУЩЕСТВА"/>
          <p:cNvSpPr txBox="1"/>
          <p:nvPr/>
        </p:nvSpPr>
        <p:spPr>
          <a:xfrm>
            <a:off x="7955279" y="8156448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01752" indent="-301752">
              <a:spcBef>
                <a:spcPts val="0"/>
              </a:spcBef>
            </a:pPr>
            <a:r>
              <a:rPr sz="1300">
                <a:solidFill>
                  <a:srgbClr val="062D3F"/>
                </a:solidFill>
                <a:latin typeface="Circe"/>
              </a:rPr>
              <a:t>1.  Уникальные природно-климатические условия</a:t>
            </a:r>
          </a:p>
          <a:p>
            <a:pPr marL="301752" indent="-301752">
              <a:spcBef>
                <a:spcPts val="300"/>
              </a:spcBef>
            </a:pPr>
            <a:r>
              <a:rPr sz="1300">
                <a:solidFill>
                  <a:srgbClr val="062D3F"/>
                </a:solidFill>
                <a:latin typeface="Circe"/>
              </a:rPr>
              <a:t>2.  Наличие производственных традиций, образовательной базы и квалифицированных кадров</a:t>
            </a:r>
          </a:p>
          <a:p>
            <a:pPr marL="301752" indent="-301752">
              <a:spcBef>
                <a:spcPts val="300"/>
              </a:spcBef>
            </a:pPr>
            <a:r>
              <a:rPr sz="1300">
                <a:solidFill>
                  <a:srgbClr val="062D3F"/>
                </a:solidFill>
                <a:latin typeface="Circe"/>
              </a:rPr>
              <a:t>3.  Наличие туристического потока, обеспечивающего дополнительный спрос на локальную продукцию</a:t>
            </a:r>
          </a:p>
        </p:txBody>
      </p:sp>
      <p:sp>
        <p:nvSpPr>
          <p:cNvPr id="245" name="ОГРАНИЧЕНИЯ/РИСКИ"/>
          <p:cNvSpPr/>
          <p:nvPr/>
        </p:nvSpPr>
        <p:spPr>
          <a:xfrm>
            <a:off x="13011912" y="7498079"/>
            <a:ext cx="4937760" cy="56692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irce Bold"/>
              </a:rPr>
              <a:t>ОГРАНИЧЕНИЯ/РИСКИ</a:t>
            </a:r>
          </a:p>
        </p:txBody>
      </p:sp>
      <p:sp>
        <p:nvSpPr>
          <p:cNvPr id="246" name="Список ОГРАНИЧЕНИЯ/РИСКИ"/>
          <p:cNvSpPr txBox="1"/>
          <p:nvPr/>
        </p:nvSpPr>
        <p:spPr>
          <a:xfrm>
            <a:off x="13011912" y="8156448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01752" indent="-301752">
              <a:spcBef>
                <a:spcPts val="0"/>
              </a:spcBef>
            </a:pPr>
            <a:r>
              <a:rPr sz="1300">
                <a:solidFill>
                  <a:srgbClr val="062D3F"/>
                </a:solidFill>
                <a:latin typeface="Circe"/>
              </a:rPr>
              <a:t>1.  Дефицит пригодных для ведения с/х деятельности территорий</a:t>
            </a:r>
          </a:p>
          <a:p>
            <a:pPr marL="301752" indent="-301752">
              <a:spcBef>
                <a:spcPts val="300"/>
              </a:spcBef>
            </a:pPr>
            <a:r>
              <a:rPr sz="1300">
                <a:solidFill>
                  <a:srgbClr val="062D3F"/>
                </a:solidFill>
                <a:latin typeface="Circe"/>
              </a:rPr>
              <a:t>2.  Наличие ограничений на использование агрохимикатов и размещение сельскохозяйственных сооружений</a:t>
            </a:r>
          </a:p>
          <a:p>
            <a:pPr marL="301752" indent="-301752">
              <a:spcBef>
                <a:spcPts val="300"/>
              </a:spcBef>
            </a:pPr>
            <a:r>
              <a:rPr sz="1300">
                <a:solidFill>
                  <a:srgbClr val="062D3F"/>
                </a:solidFill>
                <a:latin typeface="Circe"/>
              </a:rPr>
              <a:t>3.  Сложности в продвижении локальной продукции на федеральный рынок</a:t>
            </a:r>
          </a:p>
          <a:p>
            <a:pPr marL="301752" indent="-301752">
              <a:spcBef>
                <a:spcPts val="300"/>
              </a:spcBef>
            </a:pPr>
            <a:r>
              <a:rPr sz="1300">
                <a:solidFill>
                  <a:srgbClr val="062D3F"/>
                </a:solidFill>
                <a:latin typeface="Circe"/>
              </a:rPr>
              <a:t>4.  Отсутствие технологий и оборудования для производства новых продуктов</a:t>
            </a:r>
          </a:p>
          <a:p>
            <a:pPr marL="301752" indent="-301752">
              <a:spcBef>
                <a:spcPts val="300"/>
              </a:spcBef>
            </a:pPr>
            <a:r>
              <a:rPr sz="1300">
                <a:solidFill>
                  <a:srgbClr val="062D3F"/>
                </a:solidFill>
                <a:latin typeface="Circe"/>
              </a:rPr>
              <a:t>5.  Низкая инвестиционная активность бизнеса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</TotalTime>
  <Words>9094</Words>
  <Application>Microsoft Office PowerPoint</Application>
  <PresentationFormat>Произвольный</PresentationFormat>
  <Paragraphs>2467</Paragraphs>
  <Slides>58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8" baseType="lpstr">
      <vt:lpstr>Arial</vt:lpstr>
      <vt:lpstr>Arial Black</vt:lpstr>
      <vt:lpstr>Calibri</vt:lpstr>
      <vt:lpstr>Century Gothic</vt:lpstr>
      <vt:lpstr>Circe</vt:lpstr>
      <vt:lpstr>Circe Bold</vt:lpstr>
      <vt:lpstr>Circe Bold (Заголовки)</vt:lpstr>
      <vt:lpstr>Gramatika-Medium</vt:lpstr>
      <vt:lpstr>Wingdings</vt:lpstr>
      <vt:lpstr>Основной слайд</vt:lpstr>
      <vt:lpstr>Комплексная диагностика  социально-экономического состояния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ПОЛОВОЗРАСТНАЯ СТРУКТУРА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Субъекты градостроительных отношений</vt:lpstr>
      <vt:lpstr>Виды экономической эффективности</vt:lpstr>
      <vt:lpstr>Экономическое моделирование градостроительных решений</vt:lpstr>
      <vt:lpstr>Экономическое моделирование градостроительных решений</vt:lpstr>
      <vt:lpstr>Порядок планирования сбалансированной градостроительной и экономической политики</vt:lpstr>
      <vt:lpstr>Порядок подготовки заключения об экономической целесообразности реализации мероприятий градостроительного развития</vt:lpstr>
      <vt:lpstr>Порядок сбора, обработки и интерпретации первичных данных, необходимых для оценки удельных затрат на 1 жителя </vt:lpstr>
      <vt:lpstr>Порядок сбора и обработки и интерпретации первичных данных, необходимых для оценки удельных доходов с 1 рабочего места</vt:lpstr>
      <vt:lpstr>Пример расчета удельных показателей затрат и доходов в населенном пункте</vt:lpstr>
      <vt:lpstr>Прогноз бюджетного баланса с учетом принятых градостроительных решений</vt:lpstr>
      <vt:lpstr>Перспективы изменения отраслевой структуры экономики</vt:lpstr>
      <vt:lpstr>Презентация PowerPoint</vt:lpstr>
      <vt:lpstr>Презентация PowerPoint</vt:lpstr>
      <vt:lpstr>Презентация PowerPoint</vt:lpstr>
      <vt:lpstr>Презентация PowerPoint</vt:lpstr>
      <vt:lpstr>ВОЗМОЖНЫЕ ИНСТРУМЕНТЫ БЮДЖЕТНОЙ ПОДДЕРЖКИ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Шевцов Александр Александрович</dc:creator>
  <cp:lastModifiedBy>InkXiles</cp:lastModifiedBy>
  <cp:revision>114</cp:revision>
  <cp:lastPrinted>2026-10-05T13:20:42Z</cp:lastPrinted>
  <dcterms:created xsi:type="dcterms:W3CDTF">2022-11-22T08:46:48Z</dcterms:created>
  <dcterms:modified xsi:type="dcterms:W3CDTF">2026-10-12T08:06:42Z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