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воссоздан по растровому рисунку в дизайн-коде института, слова и компоновка сохранены. Карта перекрашена из исходного изображения (разрешение исходника невысокое), зоны влияния и виноградники переведены в жёлтые тона, существующие зоны в серо-голубой, объекты в тёмно-синий. Легенда и диаграмма пузырей нарисованы заново как редактируемые объекты. Единственная правка в тексте: перенос «УДОБРЕ-НИЯ» заменён целым словом.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ТЕРРИТОРИАЛЬНАЯ КЛАСТЕРИЗАЦИЯ - </a:t>
            </a:r>
            <a:r>
              <a:rPr lang="en-US" sz="4000" b="1" dirty="0">
                <a:solidFill>
                  <a:srgbClr val="062D3F"/>
                </a:solidFill>
                <a:highlight>
                  <a:srgbClr val="FFCC00"/>
                </a:highlight>
                <a:latin typeface="Circe Bold" panose="020B0602020203020203" pitchFamily="34" charset="-52"/>
              </a:rPr>
              <a:t>АГРОКОМПЛЕКС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pic>
        <p:nvPicPr>
          <p:cNvPr id="202" name="Карта территориальной кластеризации" descr="map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103120"/>
            <a:ext cx="6311628" cy="7882127"/>
          </a:xfrm>
          <a:prstGeom prst="rect">
            <a:avLst/>
          </a:prstGeom>
        </p:spPr>
      </p:pic>
      <p:sp>
        <p:nvSpPr>
          <p:cNvPr id="203" name="Условный знак"/>
          <p:cNvSpPr/>
          <p:nvPr/>
        </p:nvSpPr>
        <p:spPr>
          <a:xfrm>
            <a:off x="7680960" y="2340864"/>
            <a:ext cx="201168" cy="201168"/>
          </a:xfrm>
          <a:prstGeom prst="diamond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Легенда"/>
          <p:cNvSpPr txBox="1"/>
          <p:nvPr/>
        </p:nvSpPr>
        <p:spPr>
          <a:xfrm>
            <a:off x="8092440" y="2286000"/>
            <a:ext cx="1965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существующие объекты</a:t>
            </a:r>
          </a:p>
        </p:txBody>
      </p:sp>
      <p:sp>
        <p:nvSpPr>
          <p:cNvPr id="205" name="Условный знак"/>
          <p:cNvSpPr/>
          <p:nvPr/>
        </p:nvSpPr>
        <p:spPr>
          <a:xfrm>
            <a:off x="7680960" y="2816352"/>
            <a:ext cx="201168" cy="201168"/>
          </a:xfrm>
          <a:prstGeom prst="diamond">
            <a:avLst/>
          </a:prstGeom>
          <a:solidFill>
            <a:srgbClr val="7FA6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Легенда"/>
          <p:cNvSpPr txBox="1"/>
          <p:nvPr/>
        </p:nvSpPr>
        <p:spPr>
          <a:xfrm>
            <a:off x="8092440" y="2761488"/>
            <a:ext cx="1965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проектные объекты</a:t>
            </a:r>
          </a:p>
        </p:txBody>
      </p:sp>
      <p:sp>
        <p:nvSpPr>
          <p:cNvPr id="207" name="Условный знак"/>
          <p:cNvSpPr/>
          <p:nvPr/>
        </p:nvSpPr>
        <p:spPr>
          <a:xfrm>
            <a:off x="7680960" y="3282696"/>
            <a:ext cx="256032" cy="219456"/>
          </a:xfrm>
          <a:prstGeom prst="rect">
            <a:avLst/>
          </a:prstGeom>
          <a:solidFill>
            <a:srgbClr val="C9D0D4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Легенда"/>
          <p:cNvSpPr txBox="1"/>
          <p:nvPr/>
        </p:nvSpPr>
        <p:spPr>
          <a:xfrm>
            <a:off x="8092440" y="3236976"/>
            <a:ext cx="1965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существующие зоны влияния объектов агрокомплекса</a:t>
            </a:r>
          </a:p>
        </p:txBody>
      </p:sp>
      <p:sp>
        <p:nvSpPr>
          <p:cNvPr id="209" name="Условный знак"/>
          <p:cNvSpPr/>
          <p:nvPr/>
        </p:nvSpPr>
        <p:spPr>
          <a:xfrm>
            <a:off x="7680960" y="4032504"/>
            <a:ext cx="256032" cy="219456"/>
          </a:xfrm>
          <a:prstGeom prst="rect">
            <a:avLst/>
          </a:prstGeom>
          <a:solidFill>
            <a:srgbClr val="FFCC00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Легенда"/>
          <p:cNvSpPr txBox="1"/>
          <p:nvPr/>
        </p:nvSpPr>
        <p:spPr>
          <a:xfrm>
            <a:off x="8092440" y="3986784"/>
            <a:ext cx="196595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проектные зоны влияния объектов агрокомплекса</a:t>
            </a:r>
          </a:p>
        </p:txBody>
      </p:sp>
      <p:sp>
        <p:nvSpPr>
          <p:cNvPr id="211" name="Условный знак"/>
          <p:cNvSpPr/>
          <p:nvPr/>
        </p:nvSpPr>
        <p:spPr>
          <a:xfrm>
            <a:off x="7680960" y="4782312"/>
            <a:ext cx="256032" cy="219456"/>
          </a:xfrm>
          <a:prstGeom prst="rect">
            <a:avLst/>
          </a:prstGeom>
          <a:solidFill>
            <a:srgbClr val="FFE283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Легенда"/>
          <p:cNvSpPr txBox="1"/>
          <p:nvPr/>
        </p:nvSpPr>
        <p:spPr>
          <a:xfrm>
            <a:off x="8092440" y="4736592"/>
            <a:ext cx="1965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виноградники</a:t>
            </a:r>
          </a:p>
        </p:txBody>
      </p:sp>
      <p:sp>
        <p:nvSpPr>
          <p:cNvPr id="213" name="Условный знак"/>
          <p:cNvSpPr/>
          <p:nvPr/>
        </p:nvSpPr>
        <p:spPr>
          <a:xfrm>
            <a:off x="7680960" y="5257800"/>
            <a:ext cx="256032" cy="219456"/>
          </a:xfrm>
          <a:prstGeom prst="rect">
            <a:avLst/>
          </a:prstGeom>
          <a:solidFill>
            <a:srgbClr val="FFF3CC"/>
          </a:solidFill>
          <a:ln w="6350">
            <a:solidFill>
              <a:srgbClr val="D9DE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Легенда"/>
          <p:cNvSpPr txBox="1"/>
          <p:nvPr/>
        </p:nvSpPr>
        <p:spPr>
          <a:xfrm>
            <a:off x="8092440" y="5212080"/>
            <a:ext cx="1965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62D3F"/>
                </a:solidFill>
                <a:latin typeface="Circe"/>
              </a:rPr>
              <a:t>земли СХ</a:t>
            </a:r>
          </a:p>
        </p:txBody>
      </p:sp>
      <p:sp>
        <p:nvSpPr>
          <p:cNvPr id="215" name="Косметика"/>
          <p:cNvSpPr/>
          <p:nvPr/>
        </p:nvSpPr>
        <p:spPr>
          <a:xfrm>
            <a:off x="11561673" y="1962668"/>
            <a:ext cx="1170432" cy="117043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Вторичные продукты"/>
          <p:cNvSpPr/>
          <p:nvPr/>
        </p:nvSpPr>
        <p:spPr>
          <a:xfrm>
            <a:off x="12860853" y="1728581"/>
            <a:ext cx="1451335" cy="1451335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Рассада"/>
          <p:cNvSpPr/>
          <p:nvPr/>
        </p:nvSpPr>
        <p:spPr>
          <a:xfrm>
            <a:off x="13867424" y="3706611"/>
            <a:ext cx="1170432" cy="117043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Эфиромасличные"/>
          <p:cNvSpPr/>
          <p:nvPr/>
        </p:nvSpPr>
        <p:spPr>
          <a:xfrm>
            <a:off x="14160032" y="4631253"/>
            <a:ext cx="1123614" cy="1123614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С/х услуги"/>
          <p:cNvSpPr/>
          <p:nvPr/>
        </p:nvSpPr>
        <p:spPr>
          <a:xfrm>
            <a:off x="13153461" y="4479096"/>
            <a:ext cx="1498152" cy="1498152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Плодово-ягодное"/>
          <p:cNvSpPr/>
          <p:nvPr/>
        </p:nvSpPr>
        <p:spPr>
          <a:xfrm>
            <a:off x="12053255" y="4748296"/>
            <a:ext cx="1357701" cy="1357701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Животноводство"/>
          <p:cNvSpPr/>
          <p:nvPr/>
        </p:nvSpPr>
        <p:spPr>
          <a:xfrm>
            <a:off x="11187135" y="4303532"/>
            <a:ext cx="1217249" cy="1217249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Пищевые продукты"/>
          <p:cNvSpPr/>
          <p:nvPr/>
        </p:nvSpPr>
        <p:spPr>
          <a:xfrm>
            <a:off x="11315882" y="5146243"/>
            <a:ext cx="795893" cy="795893"/>
          </a:xfrm>
          <a:prstGeom prst="ellipse">
            <a:avLst/>
          </a:prstGeom>
          <a:solidFill>
            <a:srgbClr val="FFF3CC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Агрокомплекс"/>
          <p:cNvSpPr/>
          <p:nvPr/>
        </p:nvSpPr>
        <p:spPr>
          <a:xfrm>
            <a:off x="12018142" y="2852196"/>
            <a:ext cx="2481315" cy="2481315"/>
          </a:xfrm>
          <a:prstGeom prst="ellipse">
            <a:avLst/>
          </a:prstGeom>
          <a:solidFill>
            <a:srgbClr val="FFE28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Виноградарство и виноделие"/>
          <p:cNvSpPr/>
          <p:nvPr/>
        </p:nvSpPr>
        <p:spPr>
          <a:xfrm>
            <a:off x="10531693" y="2735153"/>
            <a:ext cx="2059960" cy="205996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Подпись КОСМЕТИКА, Б"/>
          <p:cNvSpPr txBox="1"/>
          <p:nvPr/>
        </p:nvSpPr>
        <p:spPr>
          <a:xfrm>
            <a:off x="11608490" y="2182124"/>
            <a:ext cx="10767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КОСМЕТИКА, БИОДОБАВКИ</a:t>
            </a:r>
          </a:p>
        </p:txBody>
      </p:sp>
      <p:sp>
        <p:nvSpPr>
          <p:cNvPr id="226" name="Подпись ВТОРИЧНЫЕ ПР"/>
          <p:cNvSpPr txBox="1"/>
          <p:nvPr/>
        </p:nvSpPr>
        <p:spPr>
          <a:xfrm>
            <a:off x="12907670" y="2065080"/>
            <a:ext cx="149815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62D3F"/>
                </a:solidFill>
                <a:latin typeface="Circe Bold"/>
              </a:rPr>
              <a:t>ВТОРИЧНЫЕ ПРОДУКТЫ ВИНОДЕЛИЯ, ОРГАНИЧЕСКИЕ УДОБРЕНИЯ, КОРМА</a:t>
            </a:r>
          </a:p>
        </p:txBody>
      </p:sp>
      <p:sp>
        <p:nvSpPr>
          <p:cNvPr id="227" name="Подпись ВЫРАЩИВАНИЕ "/>
          <p:cNvSpPr txBox="1"/>
          <p:nvPr/>
        </p:nvSpPr>
        <p:spPr>
          <a:xfrm>
            <a:off x="13955207" y="3890954"/>
            <a:ext cx="1463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ВЫРАЩИВАНИЕ РАССАДЫ</a:t>
            </a:r>
          </a:p>
        </p:txBody>
      </p:sp>
      <p:sp>
        <p:nvSpPr>
          <p:cNvPr id="228" name="Подпись ВЫРАЩИВАНИЕ "/>
          <p:cNvSpPr txBox="1"/>
          <p:nvPr/>
        </p:nvSpPr>
        <p:spPr>
          <a:xfrm>
            <a:off x="14335597" y="4827300"/>
            <a:ext cx="117043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62D3F"/>
                </a:solidFill>
                <a:latin typeface="Circe Bold"/>
              </a:rPr>
              <a:t>ВЫРАЩИВАНИЕ ЭФИРО-МАСЛИЧНЫХ КУЛЬТУР</a:t>
            </a:r>
          </a:p>
        </p:txBody>
      </p:sp>
      <p:sp>
        <p:nvSpPr>
          <p:cNvPr id="229" name="Подпись С/Х УСЛУГИ"/>
          <p:cNvSpPr txBox="1"/>
          <p:nvPr/>
        </p:nvSpPr>
        <p:spPr>
          <a:xfrm>
            <a:off x="13293912" y="4897526"/>
            <a:ext cx="10533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62D3F"/>
                </a:solidFill>
                <a:latin typeface="Circe Bold"/>
              </a:rPr>
              <a:t>С/Х УСЛУГИ</a:t>
            </a:r>
          </a:p>
        </p:txBody>
      </p:sp>
      <p:sp>
        <p:nvSpPr>
          <p:cNvPr id="230" name="Подпись ПЛОДОВО-ЯГОД"/>
          <p:cNvSpPr txBox="1"/>
          <p:nvPr/>
        </p:nvSpPr>
        <p:spPr>
          <a:xfrm>
            <a:off x="11889394" y="5084795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ПЛОДОВО-ЯГОДНОЕ РАСТЕНИЕВОДСТВО</a:t>
            </a:r>
          </a:p>
        </p:txBody>
      </p:sp>
      <p:sp>
        <p:nvSpPr>
          <p:cNvPr id="231" name="Подпись ЖИВОТНОВОДСТ"/>
          <p:cNvSpPr txBox="1"/>
          <p:nvPr/>
        </p:nvSpPr>
        <p:spPr>
          <a:xfrm>
            <a:off x="10917936" y="4546396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62D3F"/>
                </a:solidFill>
                <a:latin typeface="Circe Bold"/>
              </a:rPr>
              <a:t>ЖИВОТНОВОДСТВО</a:t>
            </a:r>
          </a:p>
        </p:txBody>
      </p:sp>
      <p:sp>
        <p:nvSpPr>
          <p:cNvPr id="232" name="Подпись ПИЩЕВЫЕ ПРОД"/>
          <p:cNvSpPr txBox="1"/>
          <p:nvPr/>
        </p:nvSpPr>
        <p:spPr>
          <a:xfrm>
            <a:off x="10367832" y="5225247"/>
            <a:ext cx="152156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62D3F"/>
                </a:solidFill>
                <a:latin typeface="Circe Bold"/>
              </a:rPr>
              <a:t>ПИЩЕВЫЕ ПРОДУКТЫ, НАПИТКИ</a:t>
            </a:r>
          </a:p>
        </p:txBody>
      </p:sp>
      <p:sp>
        <p:nvSpPr>
          <p:cNvPr id="233" name="Подпись ВИНОГРАДАРСТ"/>
          <p:cNvSpPr txBox="1"/>
          <p:nvPr/>
        </p:nvSpPr>
        <p:spPr>
          <a:xfrm>
            <a:off x="10683849" y="3399373"/>
            <a:ext cx="175564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ВИНОГРАДАРСТВО И ВИНОДЕЛИЕ</a:t>
            </a:r>
          </a:p>
        </p:txBody>
      </p:sp>
      <p:sp>
        <p:nvSpPr>
          <p:cNvPr id="234" name="Подпись АГРОКОМПЛЕКС"/>
          <p:cNvSpPr txBox="1"/>
          <p:nvPr/>
        </p:nvSpPr>
        <p:spPr>
          <a:xfrm>
            <a:off x="12380976" y="3656868"/>
            <a:ext cx="152156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АГРОКОМПЛЕКС</a:t>
            </a:r>
          </a:p>
        </p:txBody>
      </p:sp>
      <p:sp>
        <p:nvSpPr>
          <p:cNvPr id="235" name="Пятно"/>
          <p:cNvSpPr/>
          <p:nvPr/>
        </p:nvSpPr>
        <p:spPr>
          <a:xfrm>
            <a:off x="8046720" y="5943600"/>
            <a:ext cx="868680" cy="868680"/>
          </a:xfrm>
          <a:prstGeom prst="ellipse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Значение"/>
          <p:cNvSpPr txBox="1"/>
          <p:nvPr/>
        </p:nvSpPr>
        <p:spPr>
          <a:xfrm>
            <a:off x="8229600" y="5989320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400" b="1">
                <a:solidFill>
                  <a:srgbClr val="062D3F"/>
                </a:solidFill>
                <a:latin typeface="Circe Bold"/>
              </a:rPr>
              <a:t>0,3</a:t>
            </a:r>
            <a:r>
              <a:rPr sz="2400" b="1">
                <a:solidFill>
                  <a:srgbClr val="062D3F"/>
                </a:solidFill>
                <a:latin typeface="Circe Bold"/>
              </a:rPr>
              <a:t> тыс.</a:t>
            </a:r>
          </a:p>
        </p:txBody>
      </p:sp>
      <p:sp>
        <p:nvSpPr>
          <p:cNvPr id="237" name="Пояснение"/>
          <p:cNvSpPr txBox="1"/>
          <p:nvPr/>
        </p:nvSpPr>
        <p:spPr>
          <a:xfrm>
            <a:off x="8229600" y="6812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новых рабочих мест</a:t>
            </a:r>
          </a:p>
        </p:txBody>
      </p:sp>
      <p:sp>
        <p:nvSpPr>
          <p:cNvPr id="238" name="Объект"/>
          <p:cNvSpPr txBox="1"/>
          <p:nvPr/>
        </p:nvSpPr>
        <p:spPr>
          <a:xfrm>
            <a:off x="8229600" y="710488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Терруар Севастополь</a:t>
            </a:r>
          </a:p>
        </p:txBody>
      </p:sp>
      <p:sp>
        <p:nvSpPr>
          <p:cNvPr id="239" name="Пятно"/>
          <p:cNvSpPr/>
          <p:nvPr/>
        </p:nvSpPr>
        <p:spPr>
          <a:xfrm>
            <a:off x="13075920" y="5943600"/>
            <a:ext cx="868680" cy="868680"/>
          </a:xfrm>
          <a:prstGeom prst="ellipse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Значение"/>
          <p:cNvSpPr txBox="1"/>
          <p:nvPr/>
        </p:nvSpPr>
        <p:spPr>
          <a:xfrm>
            <a:off x="13258800" y="5989320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400" b="1">
                <a:solidFill>
                  <a:srgbClr val="062D3F"/>
                </a:solidFill>
                <a:latin typeface="Circe Bold"/>
              </a:rPr>
              <a:t>0,1</a:t>
            </a:r>
            <a:r>
              <a:rPr sz="2400" b="1">
                <a:solidFill>
                  <a:srgbClr val="062D3F"/>
                </a:solidFill>
                <a:latin typeface="Circe Bold"/>
              </a:rPr>
              <a:t> тыс.</a:t>
            </a:r>
          </a:p>
        </p:txBody>
      </p:sp>
      <p:sp>
        <p:nvSpPr>
          <p:cNvPr id="241" name="Пояснение"/>
          <p:cNvSpPr txBox="1"/>
          <p:nvPr/>
        </p:nvSpPr>
        <p:spPr>
          <a:xfrm>
            <a:off x="13258800" y="68122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новых рабочих мест</a:t>
            </a:r>
          </a:p>
        </p:txBody>
      </p:sp>
      <p:sp>
        <p:nvSpPr>
          <p:cNvPr id="242" name="Объект"/>
          <p:cNvSpPr txBox="1"/>
          <p:nvPr/>
        </p:nvSpPr>
        <p:spPr>
          <a:xfrm>
            <a:off x="13258800" y="710488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Молочно-товарная ферма</a:t>
            </a:r>
          </a:p>
        </p:txBody>
      </p:sp>
      <p:sp>
        <p:nvSpPr>
          <p:cNvPr id="243" name="КОНКУРЕНТНЫЕ ПРЕИМУЩЕСТВА"/>
          <p:cNvSpPr/>
          <p:nvPr/>
        </p:nvSpPr>
        <p:spPr>
          <a:xfrm>
            <a:off x="7955279" y="7498079"/>
            <a:ext cx="4937760" cy="56692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КОНКУРЕНТНЫЕ ПРЕИМУЩЕСТВА</a:t>
            </a:r>
          </a:p>
        </p:txBody>
      </p:sp>
      <p:sp>
        <p:nvSpPr>
          <p:cNvPr id="244" name="Список КОНКУРЕНТНЫЕ ПРЕИМУЩЕСТВА"/>
          <p:cNvSpPr txBox="1"/>
          <p:nvPr/>
        </p:nvSpPr>
        <p:spPr>
          <a:xfrm>
            <a:off x="7955279" y="8156448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01752" indent="-301752">
              <a:spcBef>
                <a:spcPts val="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1.  Уникальные природно-климатические условия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2.  Наличие производственных традиций, образовательной базы и квалифицированных кадров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3.  Наличие туристического потока, обеспечивающего дополнительный спрос на локальную продукцию</a:t>
            </a:r>
          </a:p>
        </p:txBody>
      </p:sp>
      <p:sp>
        <p:nvSpPr>
          <p:cNvPr id="245" name="ОГРАНИЧЕНИЯ/РИСКИ"/>
          <p:cNvSpPr/>
          <p:nvPr/>
        </p:nvSpPr>
        <p:spPr>
          <a:xfrm>
            <a:off x="13011912" y="7498079"/>
            <a:ext cx="4937760" cy="56692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irce Bold"/>
              </a:rPr>
              <a:t>ОГРАНИЧЕНИЯ/РИСКИ</a:t>
            </a:r>
          </a:p>
        </p:txBody>
      </p:sp>
      <p:sp>
        <p:nvSpPr>
          <p:cNvPr id="246" name="Список ОГРАНИЧЕНИЯ/РИСКИ"/>
          <p:cNvSpPr txBox="1"/>
          <p:nvPr/>
        </p:nvSpPr>
        <p:spPr>
          <a:xfrm>
            <a:off x="13011912" y="8156448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01752" indent="-301752">
              <a:spcBef>
                <a:spcPts val="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1.  Дефицит пригодных для ведения с/х деятельности территорий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2.  Наличие ограничений на использование агрохимикатов и размещение сельскохозяйственных сооружений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3.  Сложности в продвижении локальной продукции на федеральный рынок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4.  Отсутствие технологий и оборудования для производства новых продуктов</a:t>
            </a:r>
          </a:p>
          <a:p>
            <a:pPr marL="301752" indent="-301752">
              <a:spcBef>
                <a:spcPts val="300"/>
              </a:spcBef>
            </a:pPr>
            <a:r>
              <a:rPr sz="1300">
                <a:solidFill>
                  <a:srgbClr val="062D3F"/>
                </a:solidFill>
                <a:latin typeface="Circe"/>
              </a:rPr>
              <a:t>5.  Низкая инвестиционная активность бизнеса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