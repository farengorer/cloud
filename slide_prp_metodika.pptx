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числа и формулы взяты из статьи Шпедта и Трубникова (Живые и биокосные системы, № 31, 2020): таблицы 1–3 баллов, уравнения 1–3 и градация оценки. Примеры почв приведены из таблицы 1. Смысл знака ∨ в статье назван нелинейным логическим сложением без формулы. Фраза про среднее двух значений выведена по расчётным примерам статьи (70 ∨ (100 ∨ 100) = 85, 35 ∨ (35 ∨ 100) = 51, 30 ∨ (40 ∨ 45) = 36) и требует подтверждения по первоисточнику Бурлаковой (1977). Методика оценивает только почвы, используемые в земледелии.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ОЦЕНКА ПРИРОДНО-РЕСУРСНОГО ПОТЕНЦИАЛА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60020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Методика Шпедта и Трубникова (2020) для почв, используемых в земледелии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Шапка показателей"/>
          <p:cNvSpPr/>
          <p:nvPr/>
        </p:nvSpPr>
        <p:spPr>
          <a:xfrm>
            <a:off x="1069848" y="2286000"/>
            <a:ext cx="7863840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ТРИ ПОКАЗАТЕЛЯ В БАЛЛАХ ОТ 5 ДО 100</a:t>
            </a:r>
          </a:p>
        </p:txBody>
      </p:sp>
      <p:sp>
        <p:nvSpPr>
          <p:cNvPr id="204" name="Показатель П"/>
          <p:cNvSpPr/>
          <p:nvPr/>
        </p:nvSpPr>
        <p:spPr>
          <a:xfrm>
            <a:off x="1069848" y="3017520"/>
            <a:ext cx="640080" cy="6400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П</a:t>
            </a:r>
          </a:p>
        </p:txBody>
      </p:sp>
      <p:sp>
        <p:nvSpPr>
          <p:cNvPr id="205" name="Почва"/>
          <p:cNvSpPr txBox="1"/>
          <p:nvPr/>
        </p:nvSpPr>
        <p:spPr>
          <a:xfrm>
            <a:off x="1938528" y="2971800"/>
            <a:ext cx="699515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Почва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062D3F"/>
                </a:solidFill>
                <a:latin typeface="Circe"/>
              </a:rPr>
              <a:t>Балл по таблице почв. Чернозёмы выщелоченные, типичные и обыкновенные получают 100, тёмно-серые лесные 65, серые лесные 50, дерново-подзолистые 35, подзолистые 15. Для землепользования берут средневзвешенный по площади балл</a:t>
            </a:r>
          </a:p>
        </p:txBody>
      </p:sp>
      <p:cxnSp>
        <p:nvCxnSpPr>
          <p:cNvPr id="206" name="Разделитель"/>
          <p:cNvCxnSpPr/>
          <p:nvPr/>
        </p:nvCxnSpPr>
        <p:spPr>
          <a:xfrm>
            <a:off x="1069848" y="4526280"/>
            <a:ext cx="786384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07" name="Показатель Т"/>
          <p:cNvSpPr/>
          <p:nvPr/>
        </p:nvSpPr>
        <p:spPr>
          <a:xfrm>
            <a:off x="1069848" y="4617720"/>
            <a:ext cx="640080" cy="6400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Т</a:t>
            </a:r>
          </a:p>
        </p:txBody>
      </p:sp>
      <p:sp>
        <p:nvSpPr>
          <p:cNvPr id="208" name="Тепло"/>
          <p:cNvSpPr txBox="1"/>
          <p:nvPr/>
        </p:nvSpPr>
        <p:spPr>
          <a:xfrm>
            <a:off x="1938528" y="4572000"/>
            <a:ext cx="69951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Тепло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062D3F"/>
                </a:solidFill>
                <a:latin typeface="Circe"/>
              </a:rPr>
              <a:t>Сумма температур выше +10 °С. Менее 1200 °С дают 5 баллов, далее по 5 баллов за каждые 100 °С, более 3000 °С дают 100 баллов</a:t>
            </a:r>
          </a:p>
        </p:txBody>
      </p:sp>
      <p:cxnSp>
        <p:nvCxnSpPr>
          <p:cNvPr id="209" name="Разделитель"/>
          <p:cNvCxnSpPr/>
          <p:nvPr/>
        </p:nvCxnSpPr>
        <p:spPr>
          <a:xfrm>
            <a:off x="1069848" y="5760720"/>
            <a:ext cx="786384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0" name="Показатель О"/>
          <p:cNvSpPr/>
          <p:nvPr/>
        </p:nvSpPr>
        <p:spPr>
          <a:xfrm>
            <a:off x="1069848" y="5852159"/>
            <a:ext cx="640080" cy="6400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О</a:t>
            </a:r>
          </a:p>
        </p:txBody>
      </p:sp>
      <p:sp>
        <p:nvSpPr>
          <p:cNvPr id="211" name="Влага"/>
          <p:cNvSpPr txBox="1"/>
          <p:nvPr/>
        </p:nvSpPr>
        <p:spPr>
          <a:xfrm>
            <a:off x="1938528" y="5806440"/>
            <a:ext cx="69951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Влага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062D3F"/>
                </a:solidFill>
                <a:latin typeface="Circe"/>
              </a:rPr>
              <a:t>Годовая сумма осадков. Менее 100 мм дают 5 баллов, далее по 5 баллов за каждые 50 мм, более 1000 мм дают 100 баллов</a:t>
            </a:r>
          </a:p>
        </p:txBody>
      </p:sp>
      <p:cxnSp>
        <p:nvCxnSpPr>
          <p:cNvPr id="212" name="Разделитель"/>
          <p:cNvCxnSpPr/>
          <p:nvPr/>
        </p:nvCxnSpPr>
        <p:spPr>
          <a:xfrm>
            <a:off x="1069848" y="6995159"/>
            <a:ext cx="786384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3" name="Шапка формул"/>
          <p:cNvSpPr/>
          <p:nvPr/>
        </p:nvSpPr>
        <p:spPr>
          <a:xfrm>
            <a:off x="9418320" y="2286000"/>
            <a:ext cx="8531351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КАК СВОДЯТСЯ В ОЦЕНКУ</a:t>
            </a:r>
          </a:p>
        </p:txBody>
      </p:sp>
      <p:sp>
        <p:nvSpPr>
          <p:cNvPr id="214" name="Тайга и лесостепь"/>
          <p:cNvSpPr/>
          <p:nvPr/>
        </p:nvSpPr>
        <p:spPr>
          <a:xfrm>
            <a:off x="9418320" y="2971800"/>
            <a:ext cx="8531351" cy="105156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Акцент"/>
          <p:cNvSpPr/>
          <p:nvPr/>
        </p:nvSpPr>
        <p:spPr>
          <a:xfrm>
            <a:off x="9418320" y="3108960"/>
            <a:ext cx="82296" cy="7772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Тайга и лесостепь"/>
          <p:cNvSpPr txBox="1"/>
          <p:nvPr/>
        </p:nvSpPr>
        <p:spPr>
          <a:xfrm>
            <a:off x="9692640" y="297180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Тайга и лесостепь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062D3F"/>
                </a:solidFill>
                <a:latin typeface="Circe"/>
              </a:rPr>
              <a:t>Больше всего значит теплообеспеченность</a:t>
            </a:r>
          </a:p>
        </p:txBody>
      </p:sp>
      <p:sp>
        <p:nvSpPr>
          <p:cNvPr id="217" name="Формула"/>
          <p:cNvSpPr txBox="1"/>
          <p:nvPr/>
        </p:nvSpPr>
        <p:spPr>
          <a:xfrm>
            <a:off x="13075920" y="2971800"/>
            <a:ext cx="478231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2D3F"/>
                </a:solidFill>
                <a:latin typeface="Circe Bold"/>
              </a:rPr>
              <a:t>ПРП = Т ∨ (О ∨ П)</a:t>
            </a:r>
          </a:p>
        </p:txBody>
      </p:sp>
      <p:sp>
        <p:nvSpPr>
          <p:cNvPr id="218" name="Степь и сухая степь"/>
          <p:cNvSpPr/>
          <p:nvPr/>
        </p:nvSpPr>
        <p:spPr>
          <a:xfrm>
            <a:off x="9418320" y="4160520"/>
            <a:ext cx="8531351" cy="105156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Акцент"/>
          <p:cNvSpPr/>
          <p:nvPr/>
        </p:nvSpPr>
        <p:spPr>
          <a:xfrm>
            <a:off x="9418320" y="4297680"/>
            <a:ext cx="82296" cy="7772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Степь и сухая степь"/>
          <p:cNvSpPr txBox="1"/>
          <p:nvPr/>
        </p:nvSpPr>
        <p:spPr>
          <a:xfrm>
            <a:off x="9692640" y="416052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Степь и сухая степь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062D3F"/>
                </a:solidFill>
                <a:latin typeface="Circe"/>
              </a:rPr>
              <a:t>В дефиците осадки</a:t>
            </a:r>
          </a:p>
        </p:txBody>
      </p:sp>
      <p:sp>
        <p:nvSpPr>
          <p:cNvPr id="221" name="Формула"/>
          <p:cNvSpPr txBox="1"/>
          <p:nvPr/>
        </p:nvSpPr>
        <p:spPr>
          <a:xfrm>
            <a:off x="13075920" y="4160520"/>
            <a:ext cx="478231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2D3F"/>
                </a:solidFill>
                <a:latin typeface="Circe Bold"/>
              </a:rPr>
              <a:t>ПРП = О ∨ (Т ∨ П)</a:t>
            </a:r>
          </a:p>
        </p:txBody>
      </p:sp>
      <p:sp>
        <p:nvSpPr>
          <p:cNvPr id="222" name="Интразональные почвы"/>
          <p:cNvSpPr/>
          <p:nvPr/>
        </p:nvSpPr>
        <p:spPr>
          <a:xfrm>
            <a:off x="9418320" y="5349240"/>
            <a:ext cx="8531351" cy="1051560"/>
          </a:xfrm>
          <a:prstGeom prst="roundRect">
            <a:avLst>
              <a:gd name="adj" fmla="val 1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Акцент"/>
          <p:cNvSpPr/>
          <p:nvPr/>
        </p:nvSpPr>
        <p:spPr>
          <a:xfrm>
            <a:off x="9418320" y="5486400"/>
            <a:ext cx="82296" cy="7772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Интразональные почвы"/>
          <p:cNvSpPr txBox="1"/>
          <p:nvPr/>
        </p:nvSpPr>
        <p:spPr>
          <a:xfrm>
            <a:off x="9692640" y="53492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Интразональные почвы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062D3F"/>
                </a:solidFill>
                <a:latin typeface="Circe"/>
              </a:rPr>
              <a:t>Определяющее значение у качества почв</a:t>
            </a:r>
          </a:p>
        </p:txBody>
      </p:sp>
      <p:sp>
        <p:nvSpPr>
          <p:cNvPr id="225" name="Формула"/>
          <p:cNvSpPr txBox="1"/>
          <p:nvPr/>
        </p:nvSpPr>
        <p:spPr>
          <a:xfrm>
            <a:off x="13075920" y="5349240"/>
            <a:ext cx="478231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2D3F"/>
                </a:solidFill>
                <a:latin typeface="Circe Bold"/>
              </a:rPr>
              <a:t>ПРП = П ∨ (Т ∨ О)</a:t>
            </a:r>
          </a:p>
        </p:txBody>
      </p:sp>
      <p:sp>
        <p:nvSpPr>
          <p:cNvPr id="226" name="Пояснение"/>
          <p:cNvSpPr txBox="1"/>
          <p:nvPr/>
        </p:nvSpPr>
        <p:spPr>
          <a:xfrm>
            <a:off x="9418320" y="6556247"/>
            <a:ext cx="85313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Показатель в начале формулы влияет сильнее. Знак ∨ в авторских примерах даёт среднее двух значений, поэтому первый показатель получает вес одна вторая, остальные по одной четвёртой</a:t>
            </a:r>
          </a:p>
        </p:txBody>
      </p:sp>
      <p:sp>
        <p:nvSpPr>
          <p:cNvPr id="227" name="Заголовок градации"/>
          <p:cNvSpPr txBox="1"/>
          <p:nvPr/>
        </p:nvSpPr>
        <p:spPr>
          <a:xfrm>
            <a:off x="9418320" y="7589519"/>
            <a:ext cx="853135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ГРАДАЦИЯ ОЦЕНКИ, БАЛЛЫ</a:t>
            </a:r>
          </a:p>
        </p:txBody>
      </p:sp>
      <p:sp>
        <p:nvSpPr>
          <p:cNvPr id="228" name="Градация низкий"/>
          <p:cNvSpPr/>
          <p:nvPr/>
        </p:nvSpPr>
        <p:spPr>
          <a:xfrm>
            <a:off x="9418320" y="8000999"/>
            <a:ext cx="1706270" cy="86868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1–20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062D3F"/>
                </a:solidFill>
                <a:latin typeface="Circe"/>
              </a:rPr>
              <a:t>низкий</a:t>
            </a:r>
          </a:p>
        </p:txBody>
      </p:sp>
      <p:sp>
        <p:nvSpPr>
          <p:cNvPr id="229" name="Градация пониженный"/>
          <p:cNvSpPr/>
          <p:nvPr/>
        </p:nvSpPr>
        <p:spPr>
          <a:xfrm>
            <a:off x="11124590" y="8000999"/>
            <a:ext cx="1706270" cy="868680"/>
          </a:xfrm>
          <a:prstGeom prst="rect">
            <a:avLst/>
          </a:prstGeom>
          <a:solidFill>
            <a:srgbClr val="FFE283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21–40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062D3F"/>
                </a:solidFill>
                <a:latin typeface="Circe"/>
              </a:rPr>
              <a:t>пониженный</a:t>
            </a:r>
          </a:p>
        </p:txBody>
      </p:sp>
      <p:sp>
        <p:nvSpPr>
          <p:cNvPr id="230" name="Градация средний"/>
          <p:cNvSpPr/>
          <p:nvPr/>
        </p:nvSpPr>
        <p:spPr>
          <a:xfrm>
            <a:off x="12830860" y="8000999"/>
            <a:ext cx="1706270" cy="8686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41–60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062D3F"/>
                </a:solidFill>
                <a:latin typeface="Circe"/>
              </a:rPr>
              <a:t>средний</a:t>
            </a:r>
          </a:p>
        </p:txBody>
      </p:sp>
      <p:sp>
        <p:nvSpPr>
          <p:cNvPr id="231" name="Градация повышенный"/>
          <p:cNvSpPr/>
          <p:nvPr/>
        </p:nvSpPr>
        <p:spPr>
          <a:xfrm>
            <a:off x="14537131" y="8000999"/>
            <a:ext cx="1706270" cy="868680"/>
          </a:xfrm>
          <a:prstGeom prst="rect">
            <a:avLst/>
          </a:prstGeom>
          <a:solidFill>
            <a:srgbClr val="5E7A8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irce Bold"/>
              </a:rPr>
              <a:t>61–80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irce"/>
              </a:rPr>
              <a:t>повышенный</a:t>
            </a:r>
          </a:p>
        </p:txBody>
      </p:sp>
      <p:sp>
        <p:nvSpPr>
          <p:cNvPr id="232" name="Градация высокий"/>
          <p:cNvSpPr/>
          <p:nvPr/>
        </p:nvSpPr>
        <p:spPr>
          <a:xfrm>
            <a:off x="16243401" y="8000999"/>
            <a:ext cx="1706270" cy="86868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irce Bold"/>
              </a:rPr>
              <a:t>81–100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irce"/>
              </a:rPr>
              <a:t>высокий</a:t>
            </a:r>
          </a:p>
        </p:txBody>
      </p:sp>
      <p:sp>
        <p:nvSpPr>
          <p:cNvPr id="233" name="Охват методики"/>
          <p:cNvSpPr/>
          <p:nvPr/>
        </p:nvSpPr>
        <p:spPr>
          <a:xfrm>
            <a:off x="1069848" y="7315200"/>
            <a:ext cx="7863840" cy="1600200"/>
          </a:xfrm>
          <a:prstGeom prst="roundRect">
            <a:avLst>
              <a:gd name="adj" fmla="val 8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320040" rIns="320040" tIns="0" bIns="0"/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ОХВАТ МЕТОДИКИ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62D3F"/>
                </a:solidFill>
                <a:latin typeface="Circe"/>
              </a:rPr>
              <a:t>Оценивается агро-часть потенциала, то есть почва, тепло и влага. Лесной, водный, рекреационный и минерально-сырьевой компоненты в методику не входят</a:t>
            </a:r>
          </a:p>
        </p:txBody>
      </p:sp>
      <p:sp>
        <p:nvSpPr>
          <p:cNvPr id="234" name="Акцент"/>
          <p:cNvSpPr/>
          <p:nvPr/>
        </p:nvSpPr>
        <p:spPr>
          <a:xfrm>
            <a:off x="1069848" y="7498079"/>
            <a:ext cx="82296" cy="1234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Источник"/>
          <p:cNvSpPr txBox="1"/>
          <p:nvPr/>
        </p:nvSpPr>
        <p:spPr>
          <a:xfrm>
            <a:off x="1069848" y="9464040"/>
            <a:ext cx="1682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Источник. Шпедт А.А., Трубников Ю.Н. Методика оценки природно-ресурсного потенциала агроландшафтов России. Живые и биокосные системы, 2020, №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