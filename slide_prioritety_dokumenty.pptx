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пересобран из растрового рисунка (бывший слайд 22). На исходном рисунке нумерация была 1, 2, 4, 4, 5; здесь исправлена на 1–5. В описании пункта 4 убран обрывок текста «участников в процесс планирования (бизнес-жители)», попавший в рисунок по ошибке. Название пункта 4 исправлено с «Сводная стратегии» на «Сводная стратегия»; срок «до 2030–2035» оставлен как на исходном рисунке, его нужно сверить с распоряжением № 1512-р. Подсветка пунктов 1 и 2 добавлена при оформлении: на них ссылается слайд про критические и сквозные технологии (Указы № 145 и № 529).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ПРИОРИТЕТЫ ТЕХНОЛОГИЧЕСКОГО РАЗВИТИЯ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46304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Основные документы, которые определяют приоритеты и механизмы технологического развития России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Заголовок колонки"/>
          <p:cNvSpPr txBox="1"/>
          <p:nvPr/>
        </p:nvSpPr>
        <p:spPr>
          <a:xfrm>
            <a:off x="2606040" y="21031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ДОКУМЕНТ</a:t>
            </a:r>
          </a:p>
        </p:txBody>
      </p:sp>
      <p:sp>
        <p:nvSpPr>
          <p:cNvPr id="204" name="Заголовок колонки"/>
          <p:cNvSpPr txBox="1"/>
          <p:nvPr/>
        </p:nvSpPr>
        <p:spPr>
          <a:xfrm>
            <a:off x="10149840" y="2103120"/>
            <a:ext cx="75163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ЧТО УСТАНАВЛИВАЕТ</a:t>
            </a:r>
          </a:p>
        </p:txBody>
      </p:sp>
      <p:cxnSp>
        <p:nvCxnSpPr>
          <p:cNvPr id="205" name="Линия заголовка"/>
          <p:cNvCxnSpPr/>
          <p:nvPr/>
        </p:nvCxnSpPr>
        <p:spPr>
          <a:xfrm>
            <a:off x="1069848" y="2560320"/>
            <a:ext cx="16870679" cy="0"/>
          </a:xfrm>
          <a:prstGeom prst="line">
            <a:avLst/>
          </a:prstGeom>
          <a:ln w="19050">
            <a:solidFill>
              <a:srgbClr val="062D3F"/>
            </a:solidFill>
          </a:ln>
        </p:spPr>
      </p:cxnSp>
      <p:sp>
        <p:nvSpPr>
          <p:cNvPr id="206" name="Выделение 1"/>
          <p:cNvSpPr/>
          <p:nvPr/>
        </p:nvSpPr>
        <p:spPr>
          <a:xfrm>
            <a:off x="1069848" y="2743200"/>
            <a:ext cx="16870680" cy="1261872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Выделение 2"/>
          <p:cNvSpPr/>
          <p:nvPr/>
        </p:nvSpPr>
        <p:spPr>
          <a:xfrm>
            <a:off x="1069848" y="4069080"/>
            <a:ext cx="16870680" cy="1261872"/>
          </a:xfrm>
          <a:prstGeom prst="roundRect">
            <a:avLst>
              <a:gd name="adj" fmla="val 12000"/>
            </a:avLst>
          </a:prstGeom>
          <a:solidFill>
            <a:srgbClr val="FFF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Номер 1"/>
          <p:cNvSpPr/>
          <p:nvPr/>
        </p:nvSpPr>
        <p:spPr>
          <a:xfrm>
            <a:off x="1417320" y="3035808"/>
            <a:ext cx="676656" cy="67665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62D3F"/>
                </a:solidFill>
                <a:latin typeface="Circe Bold"/>
              </a:rPr>
              <a:t>1</a:t>
            </a:r>
          </a:p>
        </p:txBody>
      </p:sp>
      <p:sp>
        <p:nvSpPr>
          <p:cNvPr id="209" name="Документ 1"/>
          <p:cNvSpPr txBox="1"/>
          <p:nvPr/>
        </p:nvSpPr>
        <p:spPr>
          <a:xfrm>
            <a:off x="2606040" y="2852928"/>
            <a:ext cx="6949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Стратегия научно-технического развития Российской Федерации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5E6B73"/>
                </a:solidFill>
                <a:latin typeface="Circe"/>
              </a:rPr>
              <a:t>утв. Указом Президента РФ от 28.02.2024 № 145</a:t>
            </a:r>
          </a:p>
        </p:txBody>
      </p:sp>
      <p:sp>
        <p:nvSpPr>
          <p:cNvPr id="210" name="Описание 1"/>
          <p:cNvSpPr txBox="1"/>
          <p:nvPr/>
        </p:nvSpPr>
        <p:spPr>
          <a:xfrm>
            <a:off x="10149840" y="2852928"/>
            <a:ext cx="7516367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Устанавливает приоритеты и перспективы научно-технического развития (НТР), цели и задачи НТР, направления государственной политики в НТР, инструменты реализации стратегии НТР</a:t>
            </a:r>
          </a:p>
        </p:txBody>
      </p:sp>
      <p:sp>
        <p:nvSpPr>
          <p:cNvPr id="211" name="Номер 2"/>
          <p:cNvSpPr/>
          <p:nvPr/>
        </p:nvSpPr>
        <p:spPr>
          <a:xfrm>
            <a:off x="1417320" y="4361688"/>
            <a:ext cx="676656" cy="67665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62D3F"/>
                </a:solidFill>
                <a:latin typeface="Circe Bold"/>
              </a:rPr>
              <a:t>2</a:t>
            </a:r>
          </a:p>
        </p:txBody>
      </p:sp>
      <p:sp>
        <p:nvSpPr>
          <p:cNvPr id="212" name="Документ 2"/>
          <p:cNvSpPr txBox="1"/>
          <p:nvPr/>
        </p:nvSpPr>
        <p:spPr>
          <a:xfrm>
            <a:off x="2606040" y="4178808"/>
            <a:ext cx="6949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Приоритетные направления научно-технологического развития и перечень важнейших наукоёмких технологий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5E6B73"/>
                </a:solidFill>
                <a:latin typeface="Circe"/>
              </a:rPr>
              <a:t>утв. Указом Президента РФ от 18 июня 2024 г. № 529</a:t>
            </a:r>
          </a:p>
        </p:txBody>
      </p:sp>
      <p:sp>
        <p:nvSpPr>
          <p:cNvPr id="213" name="Описание 2"/>
          <p:cNvSpPr txBox="1"/>
          <p:nvPr/>
        </p:nvSpPr>
        <p:spPr>
          <a:xfrm>
            <a:off x="10149840" y="4178808"/>
            <a:ext cx="7516367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Устанавливает приоритетные направления НТР, критические и сквозные технологии</a:t>
            </a:r>
          </a:p>
        </p:txBody>
      </p:sp>
      <p:sp>
        <p:nvSpPr>
          <p:cNvPr id="214" name="Номер 3"/>
          <p:cNvSpPr/>
          <p:nvPr/>
        </p:nvSpPr>
        <p:spPr>
          <a:xfrm>
            <a:off x="1417320" y="5687568"/>
            <a:ext cx="676656" cy="67665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62D3F"/>
                </a:solidFill>
                <a:latin typeface="Circe Bold"/>
              </a:rPr>
              <a:t>3</a:t>
            </a:r>
          </a:p>
        </p:txBody>
      </p:sp>
      <p:sp>
        <p:nvSpPr>
          <p:cNvPr id="215" name="Документ 3"/>
          <p:cNvSpPr txBox="1"/>
          <p:nvPr/>
        </p:nvSpPr>
        <p:spPr>
          <a:xfrm>
            <a:off x="2606040" y="5504688"/>
            <a:ext cx="6949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Концепция технологического развития на период до 2030 года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5E6B73"/>
                </a:solidFill>
                <a:latin typeface="Circe"/>
              </a:rPr>
              <a:t>утв. распоряжением Правительства РФ от 20.05.2023 № 1315-р</a:t>
            </a:r>
          </a:p>
        </p:txBody>
      </p:sp>
      <p:sp>
        <p:nvSpPr>
          <p:cNvPr id="216" name="Описание 3"/>
          <p:cNvSpPr txBox="1"/>
          <p:nvPr/>
        </p:nvSpPr>
        <p:spPr>
          <a:xfrm>
            <a:off x="10149840" y="5504688"/>
            <a:ext cx="7516367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Устанавливает принципы, цели и индикаторы технологического развития, механизмы реализации</a:t>
            </a:r>
          </a:p>
        </p:txBody>
      </p:sp>
      <p:cxnSp>
        <p:nvCxnSpPr>
          <p:cNvPr id="217" name="Разделитель"/>
          <p:cNvCxnSpPr/>
          <p:nvPr/>
        </p:nvCxnSpPr>
        <p:spPr>
          <a:xfrm>
            <a:off x="1069848" y="6688836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18" name="Номер 4"/>
          <p:cNvSpPr/>
          <p:nvPr/>
        </p:nvSpPr>
        <p:spPr>
          <a:xfrm>
            <a:off x="1417320" y="7013448"/>
            <a:ext cx="676656" cy="67665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62D3F"/>
                </a:solidFill>
                <a:latin typeface="Circe Bold"/>
              </a:rPr>
              <a:t>4</a:t>
            </a:r>
          </a:p>
        </p:txBody>
      </p:sp>
      <p:sp>
        <p:nvSpPr>
          <p:cNvPr id="219" name="Документ 4"/>
          <p:cNvSpPr txBox="1"/>
          <p:nvPr/>
        </p:nvSpPr>
        <p:spPr>
          <a:xfrm>
            <a:off x="2606040" y="6830568"/>
            <a:ext cx="6949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Сводная стратегия развития обрабатывающей промышленности Российской Федерации до 2030–2035</a:t>
            </a:r>
          </a:p>
          <a:p>
            <a:pPr algn="l">
              <a:spcBef>
                <a:spcPts val="500"/>
              </a:spcBef>
            </a:pPr>
            <a:r>
              <a:rPr sz="1500" b="0">
                <a:solidFill>
                  <a:srgbClr val="5E6B73"/>
                </a:solidFill>
                <a:latin typeface="Circe"/>
              </a:rPr>
              <a:t>утв. распоряжением Правительства РФ от 06.06.2020 № 1512-р</a:t>
            </a:r>
          </a:p>
        </p:txBody>
      </p:sp>
      <p:sp>
        <p:nvSpPr>
          <p:cNvPr id="220" name="Описание 4"/>
          <p:cNvSpPr txBox="1"/>
          <p:nvPr/>
        </p:nvSpPr>
        <p:spPr>
          <a:xfrm>
            <a:off x="10149840" y="6830568"/>
            <a:ext cx="7516367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0">
                <a:solidFill>
                  <a:srgbClr val="062D3F"/>
                </a:solidFill>
                <a:latin typeface="Circe"/>
              </a:rPr>
              <a:t>Устанавливает сценарии развития и индикаторы, направления и мероприятия развития, приоритетные группы выпускаемой продукции по отраслям обрабатывающей промышленности</a:t>
            </a:r>
          </a:p>
        </p:txBody>
      </p:sp>
      <p:cxnSp>
        <p:nvCxnSpPr>
          <p:cNvPr id="221" name="Разделитель"/>
          <p:cNvCxnSpPr/>
          <p:nvPr/>
        </p:nvCxnSpPr>
        <p:spPr>
          <a:xfrm>
            <a:off x="1069848" y="8014716"/>
            <a:ext cx="16870679" cy="0"/>
          </a:xfrm>
          <a:prstGeom prst="line">
            <a:avLst/>
          </a:prstGeom>
          <a:ln w="12700">
            <a:solidFill>
              <a:srgbClr val="D9DEE2"/>
            </a:solidFill>
          </a:ln>
        </p:spPr>
      </p:cxnSp>
      <p:sp>
        <p:nvSpPr>
          <p:cNvPr id="222" name="Номер 5"/>
          <p:cNvSpPr/>
          <p:nvPr/>
        </p:nvSpPr>
        <p:spPr>
          <a:xfrm>
            <a:off x="1417320" y="8339328"/>
            <a:ext cx="676656" cy="676656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062D3F"/>
                </a:solidFill>
                <a:latin typeface="Circe Bold"/>
              </a:rPr>
              <a:t>5</a:t>
            </a:r>
          </a:p>
        </p:txBody>
      </p:sp>
      <p:sp>
        <p:nvSpPr>
          <p:cNvPr id="223" name="Документ 5"/>
          <p:cNvSpPr txBox="1"/>
          <p:nvPr/>
        </p:nvSpPr>
        <p:spPr>
          <a:xfrm>
            <a:off x="2606040" y="8156448"/>
            <a:ext cx="6949440" cy="10424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100" b="1">
                <a:solidFill>
                  <a:srgbClr val="062D3F"/>
                </a:solidFill>
                <a:latin typeface="Circe Bold"/>
              </a:rPr>
              <a:t>Отраслевые планы импортозамещения Минпромторга России</a:t>
            </a:r>
          </a:p>
        </p:txBody>
      </p:sp>
      <p:sp>
        <p:nvSpPr>
          <p:cNvPr id="224" name="Пояснение"/>
          <p:cNvSpPr txBox="1"/>
          <p:nvPr/>
        </p:nvSpPr>
        <p:spPr>
          <a:xfrm>
            <a:off x="1069848" y="9445751"/>
            <a:ext cx="1687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E6B73"/>
                </a:solidFill>
                <a:latin typeface="Circe"/>
              </a:rPr>
              <a:t>Выделены документы, на которые опирается слайд «Критические и сквозные технологии для села»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