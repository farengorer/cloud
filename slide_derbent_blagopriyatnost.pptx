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401" r:id="rId40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2A504"/>
    <a:srgbClr val="062D3F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>
      <p:cViewPr>
        <p:scale>
          <a:sx n="75" d="100"/>
          <a:sy n="75" d="100"/>
        </p:scale>
        <p:origin x="654" y="-132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0" Type="http://schemas.openxmlformats.org/officeDocument/2006/relationships/slide" Target="slides/slide39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0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4.png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ОЦЕНКА БЛАГОПРИЯТНОСТИ ОСВОЕНИЯ ТЕРРИТОРИИ НА ПРИМЕРЕ ДЕРБЕНТА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4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39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9330" y="2103120"/>
            <a:ext cx="16871653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2000" b="1" dirty="0" err="1">
                <a:solidFill>
                  <a:srgbClr val="062D3F"/>
                </a:solidFill>
                <a:latin typeface="Circe Bold"/>
              </a:rPr>
              <a:t>Оценка</a:t>
            </a:r>
            <a:r>
              <a:rPr sz="2000" b="1" dirty="0">
                <a:solidFill>
                  <a:srgbClr val="062D3F"/>
                </a:solidFill>
                <a:latin typeface="Circe Bold"/>
              </a:rPr>
              <a:t> </a:t>
            </a:r>
            <a:r>
              <a:rPr sz="2000" b="1" dirty="0" err="1">
                <a:solidFill>
                  <a:srgbClr val="062D3F"/>
                </a:solidFill>
                <a:latin typeface="Circe Bold"/>
              </a:rPr>
              <a:t>благоприятности</a:t>
            </a:r>
            <a:r>
              <a:rPr sz="2000" b="1" dirty="0">
                <a:solidFill>
                  <a:srgbClr val="062D3F"/>
                </a:solidFill>
                <a:latin typeface="Circe Bold"/>
              </a:rPr>
              <a:t> </a:t>
            </a:r>
            <a:r>
              <a:rPr sz="2000" b="1" dirty="0" err="1">
                <a:solidFill>
                  <a:srgbClr val="062D3F"/>
                </a:solidFill>
                <a:latin typeface="Circe Bold"/>
              </a:rPr>
              <a:t>освоения</a:t>
            </a:r>
            <a:r>
              <a:rPr sz="2000" b="1" dirty="0">
                <a:solidFill>
                  <a:srgbClr val="062D3F"/>
                </a:solidFill>
                <a:latin typeface="Circe Bold"/>
              </a:rPr>
              <a:t> </a:t>
            </a:r>
            <a:r>
              <a:rPr sz="2000" b="1" dirty="0" err="1">
                <a:solidFill>
                  <a:srgbClr val="062D3F"/>
                </a:solidFill>
                <a:latin typeface="Circe Bold"/>
              </a:rPr>
              <a:t>территории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позволяет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установить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допустимые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режимы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землепользования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на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основании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анализа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установленных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зон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с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особыми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условиями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использования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территорий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(ЗОУИТ).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Подобная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оценка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способна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выявить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возможные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в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сложившейся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градостроительной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ситуации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решения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пространственного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Circe"/>
              </a:rPr>
              <a:t>развития</a:t>
            </a:r>
            <a:r>
              <a:rPr sz="2000" b="0" dirty="0">
                <a:solidFill>
                  <a:srgbClr val="222222"/>
                </a:solidFill>
                <a:latin typeface="Circe"/>
              </a:rPr>
              <a:t>.</a:t>
            </a:r>
          </a:p>
        </p:txBody>
      </p:sp>
      <p:pic>
        <p:nvPicPr>
          <p:cNvPr id="22" name="Карта благоприятности освоения" descr="derbent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30" y="3611880"/>
            <a:ext cx="11795760" cy="54609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322290" y="3611880"/>
            <a:ext cx="461869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/>
          <a:lstStyle/>
          <a:p>
            <a:pPr algn="l"/>
            <a:r>
              <a:rPr sz="1400" b="1">
                <a:solidFill>
                  <a:srgbClr val="5E6B73"/>
                </a:solidFill>
                <a:latin typeface="Circe Bold"/>
              </a:rPr>
              <a:t>ВОЗМОЖНЫЕ ФОРМЫ ОСВОЕНИЯ ТЕРРИТОРИИ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322290" y="4160520"/>
            <a:ext cx="4618693" cy="0"/>
          </a:xfrm>
          <a:prstGeom prst="line">
            <a:avLst/>
          </a:prstGeom>
          <a:ln w="19050">
            <a:solidFill>
              <a:srgbClr val="062D3F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13322290" y="4453128"/>
            <a:ext cx="457200" cy="292608"/>
          </a:xfrm>
          <a:prstGeom prst="rect">
            <a:avLst/>
          </a:prstGeom>
          <a:solidFill>
            <a:srgbClr val="B3341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008090" y="4343400"/>
            <a:ext cx="3932893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222222"/>
                </a:solidFill>
                <a:latin typeface="Circe"/>
              </a:rPr>
              <a:t>только общественное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22290" y="5020056"/>
            <a:ext cx="457200" cy="292608"/>
          </a:xfrm>
          <a:prstGeom prst="rect">
            <a:avLst/>
          </a:prstGeom>
          <a:solidFill>
            <a:srgbClr val="E8820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008090" y="4910328"/>
            <a:ext cx="3932893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222222"/>
                </a:solidFill>
                <a:latin typeface="Circe"/>
              </a:rPr>
              <a:t>жилое и общественное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22290" y="5586984"/>
            <a:ext cx="457200" cy="292608"/>
          </a:xfrm>
          <a:prstGeom prst="rect">
            <a:avLst/>
          </a:prstGeom>
          <a:solidFill>
            <a:srgbClr val="5E7A8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008090" y="5477256"/>
            <a:ext cx="3932893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222222"/>
                </a:solidFill>
                <a:latin typeface="Circe"/>
              </a:rPr>
              <a:t>общественное и промышленное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22290" y="6153912"/>
            <a:ext cx="457200" cy="29260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4008090" y="6044184"/>
            <a:ext cx="3932893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222222"/>
                </a:solidFill>
                <a:latin typeface="Circe"/>
              </a:rPr>
              <a:t>возможны любые формы освоения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22290" y="6720840"/>
            <a:ext cx="457200" cy="292608"/>
          </a:xfrm>
          <a:prstGeom prst="rect">
            <a:avLst/>
          </a:prstGeom>
          <a:solidFill>
            <a:srgbClr val="FFE28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4008090" y="6611112"/>
            <a:ext cx="3932893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222222"/>
                </a:solidFill>
                <a:latin typeface="Circe"/>
              </a:rPr>
              <a:t>возможны любые формы освоения при выполнении условий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322290" y="7470648"/>
            <a:ext cx="457200" cy="292608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4008090" y="7360920"/>
            <a:ext cx="3932893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500" b="0">
                <a:solidFill>
                  <a:srgbClr val="222222"/>
                </a:solidFill>
                <a:latin typeface="Circe"/>
              </a:rPr>
              <a:t>жилое, общественное, промышленное освоение невозможно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322290" y="8249832"/>
            <a:ext cx="4618693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3088</TotalTime>
  <Words>7447</Words>
  <Application>Microsoft Office PowerPoint</Application>
  <PresentationFormat>Произвольный</PresentationFormat>
  <Paragraphs>1788</Paragraphs>
  <Slides>51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9" baseType="lpstr">
      <vt:lpstr>Arial</vt:lpstr>
      <vt:lpstr>Calibri</vt:lpstr>
      <vt:lpstr>Century Gothic</vt:lpstr>
      <vt:lpstr>Circe</vt:lpstr>
      <vt:lpstr>Circe Bold</vt:lpstr>
      <vt:lpstr>Inter V Extra Bold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Шевцов Александр Александрович</cp:lastModifiedBy>
  <cp:revision>131</cp:revision>
  <cp:lastPrinted>2026-10-05T13:20:42Z</cp:lastPrinted>
  <dcterms:created xsi:type="dcterms:W3CDTF">2022-11-22T08:46:48Z</dcterms:created>
  <dcterms:modified xsi:type="dcterms:W3CDTF">2026-10-13T13:22:34Z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