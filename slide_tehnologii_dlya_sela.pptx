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354" r:id="rId19"/>
  </p:sldIdLst>
  <p:sldSz cx="19010313" cy="10693400"/>
  <p:notesSz cx="14357350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nkXiles" initials="I" lastIdx="1" clrIdx="0">
    <p:extLst>
      <p:ext uri="{19B8F6BF-5375-455C-9EA6-DF929625EA0E}">
        <p15:presenceInfo xmlns:p15="http://schemas.microsoft.com/office/powerpoint/2012/main" userId="InkXile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FFFFFF"/>
    <a:srgbClr val="E8B85C"/>
    <a:srgbClr val="1C4659"/>
    <a:srgbClr val="062D3F"/>
    <a:srgbClr val="F2A504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3852" autoAdjust="0"/>
  </p:normalViewPr>
  <p:slideViewPr>
    <p:cSldViewPr>
      <p:cViewPr varScale="1">
        <p:scale>
          <a:sx n="51" d="100"/>
          <a:sy n="51" d="100"/>
        </p:scale>
        <p:origin x="1061" y="67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32" Type="http://schemas.openxmlformats.org/officeDocument/2006/relationships/commentAuthors" Target="commentAuthors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6221997" cy="498180"/>
          </a:xfrm>
          <a:prstGeom prst="rect">
            <a:avLst/>
          </a:prstGeom>
        </p:spPr>
        <p:txBody>
          <a:bodyPr vert="horz" lIns="74745" tIns="37372" rIns="74745" bIns="37372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32954" y="1"/>
            <a:ext cx="6220800" cy="498180"/>
          </a:xfrm>
          <a:prstGeom prst="rect">
            <a:avLst/>
          </a:prstGeom>
        </p:spPr>
        <p:txBody>
          <a:bodyPr vert="horz" lIns="74745" tIns="37372" rIns="74745" bIns="37372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00525" y="1239838"/>
            <a:ext cx="5956300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745" tIns="37372" rIns="74745" bIns="37372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6215" y="4778401"/>
            <a:ext cx="11484921" cy="3908797"/>
          </a:xfrm>
          <a:prstGeom prst="rect">
            <a:avLst/>
          </a:prstGeom>
        </p:spPr>
        <p:txBody>
          <a:bodyPr vert="horz" lIns="74745" tIns="37372" rIns="74745" bIns="37372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6"/>
            <a:ext cx="6221997" cy="498180"/>
          </a:xfrm>
          <a:prstGeom prst="rect">
            <a:avLst/>
          </a:prstGeom>
        </p:spPr>
        <p:txBody>
          <a:bodyPr vert="horz" lIns="74745" tIns="37372" rIns="74745" bIns="37372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32954" y="9430046"/>
            <a:ext cx="6220800" cy="498180"/>
          </a:xfrm>
          <a:prstGeom prst="rect">
            <a:avLst/>
          </a:prstGeom>
        </p:spPr>
        <p:txBody>
          <a:bodyPr vert="horz" lIns="74745" tIns="37372" rIns="74745" bIns="37372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каждой технологии со слайда добавлена строка «В селе»: конкретное применение на сельской территории. Формулировки составлены при оформлении слайда как иллюстрации и не являются текстом Указа № 529; их стоит проверить на примерах конкретных районов.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6.png"/><Relationship Id="rId13" Type="http://schemas.openxmlformats.org/officeDocument/2006/relationships/image" Target="../media/image7.png"/><Relationship Id="rId14" Type="http://schemas.openxmlformats.org/officeDocument/2006/relationships/image" Target="../media/image8.png"/><Relationship Id="rId15" Type="http://schemas.openxmlformats.org/officeDocument/2006/relationships/image" Target="../media/image9.png"/><Relationship Id="rId16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7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0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КРИТИЧЕСКИЕ И СКВОЗНЫЕ ТЕХНОЛОГИИ ДЛЯ СЕЛА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4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18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2000" b="0" dirty="0" err="1">
                <a:solidFill>
                  <a:srgbClr val="062D3F"/>
                </a:solidFill>
                <a:latin typeface="Circe"/>
              </a:rPr>
              <a:t>Стратегия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НТР (</a:t>
            </a:r>
            <a:r>
              <a:rPr sz="2000" b="0" dirty="0" err="1">
                <a:solidFill>
                  <a:srgbClr val="062D3F"/>
                </a:solidFill>
                <a:latin typeface="Circe"/>
              </a:rPr>
              <a:t>Указ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№ 145 </a:t>
            </a:r>
            <a:r>
              <a:rPr sz="2000" b="0" dirty="0" err="1">
                <a:solidFill>
                  <a:srgbClr val="062D3F"/>
                </a:solidFill>
                <a:latin typeface="Circe"/>
              </a:rPr>
              <a:t>от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28.02.2024) и </a:t>
            </a:r>
            <a:r>
              <a:rPr sz="2000" b="0" dirty="0" err="1">
                <a:solidFill>
                  <a:srgbClr val="062D3F"/>
                </a:solidFill>
                <a:latin typeface="Circe"/>
              </a:rPr>
              <a:t>перечень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062D3F"/>
                </a:solidFill>
                <a:latin typeface="Circe"/>
              </a:rPr>
              <a:t>важнейших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062D3F"/>
                </a:solidFill>
                <a:latin typeface="Circe"/>
              </a:rPr>
              <a:t>наукоёмких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062D3F"/>
                </a:solidFill>
                <a:latin typeface="Circe"/>
              </a:rPr>
              <a:t>технологий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(</a:t>
            </a:r>
            <a:r>
              <a:rPr sz="2000" b="0" dirty="0" err="1">
                <a:solidFill>
                  <a:srgbClr val="062D3F"/>
                </a:solidFill>
                <a:latin typeface="Circe"/>
              </a:rPr>
              <a:t>Указ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№ 529 </a:t>
            </a:r>
            <a:r>
              <a:rPr sz="2000" b="0" dirty="0" err="1">
                <a:solidFill>
                  <a:srgbClr val="062D3F"/>
                </a:solidFill>
                <a:latin typeface="Circe"/>
              </a:rPr>
              <a:t>от</a:t>
            </a:r>
            <a:r>
              <a:rPr sz="2000" b="0" dirty="0">
                <a:solidFill>
                  <a:srgbClr val="062D3F"/>
                </a:solidFill>
                <a:latin typeface="Circe"/>
              </a:rPr>
              <a:t> 18.06.2024)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9848" y="2103120"/>
            <a:ext cx="4480560" cy="544068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wrap="square" lIns="274320" tIns="228600" rIns="274320" bIns="228600" rtlCol="0" anchor="t"/>
          <a:lstStyle/>
          <a:p>
            <a:pPr algn="l"/>
            <a:r>
              <a:rPr sz="2100" b="1" dirty="0" err="1">
                <a:solidFill>
                  <a:srgbClr val="062D3F"/>
                </a:solidFill>
                <a:latin typeface="Circe Bold"/>
              </a:rPr>
              <a:t>Растениеводство</a:t>
            </a:r>
            <a:r>
              <a:rPr sz="2100" b="1" dirty="0">
                <a:solidFill>
                  <a:srgbClr val="062D3F"/>
                </a:solidFill>
                <a:latin typeface="Circe Bold"/>
              </a:rPr>
              <a:t> и </a:t>
            </a:r>
            <a:r>
              <a:rPr sz="2100" b="1" dirty="0" err="1">
                <a:solidFill>
                  <a:srgbClr val="062D3F"/>
                </a:solidFill>
                <a:latin typeface="Circe Bold"/>
              </a:rPr>
              <a:t>животноводство</a:t>
            </a:r>
            <a:endParaRPr sz="2100" b="1" dirty="0">
              <a:solidFill>
                <a:srgbClr val="062D3F"/>
              </a:solidFill>
              <a:latin typeface="Circe Bold"/>
            </a:endParaRP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7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Повышение продуктивности сельхозживотных, в том числе селекцией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Больше молока и мяса при том же поголовье: выше доход хозяйств района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8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Ветеринарные препараты нового поколения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Защита стад от инфекций: меньше потерь у хозяйств и личных подворий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9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Новые сорта и гибриды, устойчивые к изменениям природной среды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Сохраняют урожай при засухах и заморозках, расширяют земледелие на север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10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Биологические и химические средства повышения урожайности и защиты растений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Возвращают плодородие и защищают посевы на бедных почвах Нечерноземья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733288" y="2103120"/>
            <a:ext cx="4160520" cy="544068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wrap="square" lIns="274320" tIns="228600" rIns="274320" bIns="228600" rtlCol="0" anchor="t"/>
          <a:lstStyle/>
          <a:p>
            <a:pPr algn="l"/>
            <a:r>
              <a:rPr sz="2100" b="1" dirty="0" err="1">
                <a:solidFill>
                  <a:srgbClr val="062D3F"/>
                </a:solidFill>
                <a:latin typeface="Circe Bold"/>
              </a:rPr>
              <a:t>Беспилотные</a:t>
            </a:r>
            <a:r>
              <a:rPr sz="2100" b="1" dirty="0">
                <a:solidFill>
                  <a:srgbClr val="062D3F"/>
                </a:solidFill>
                <a:latin typeface="Circe Bold"/>
              </a:rPr>
              <a:t> </a:t>
            </a:r>
            <a:r>
              <a:rPr sz="2100" b="1" dirty="0" err="1">
                <a:solidFill>
                  <a:srgbClr val="062D3F"/>
                </a:solidFill>
                <a:latin typeface="Circe Bold"/>
              </a:rPr>
              <a:t>системы</a:t>
            </a:r>
            <a:r>
              <a:rPr sz="2100" b="1" dirty="0">
                <a:solidFill>
                  <a:srgbClr val="062D3F"/>
                </a:solidFill>
                <a:latin typeface="Circe Bold"/>
              </a:rPr>
              <a:t>, </a:t>
            </a:r>
            <a:r>
              <a:rPr sz="2100" b="1" dirty="0" err="1">
                <a:solidFill>
                  <a:srgbClr val="062D3F"/>
                </a:solidFill>
                <a:latin typeface="Circe Bold"/>
              </a:rPr>
              <a:t>связь</a:t>
            </a:r>
            <a:r>
              <a:rPr sz="2100" b="1" dirty="0">
                <a:solidFill>
                  <a:srgbClr val="062D3F"/>
                </a:solidFill>
                <a:latin typeface="Circe Bold"/>
              </a:rPr>
              <a:t> и </a:t>
            </a:r>
            <a:r>
              <a:rPr sz="2100" b="1" dirty="0" err="1">
                <a:solidFill>
                  <a:srgbClr val="062D3F"/>
                </a:solidFill>
                <a:latin typeface="Circe Bold"/>
              </a:rPr>
              <a:t>данные</a:t>
            </a:r>
            <a:endParaRPr sz="2100" b="1" dirty="0">
              <a:solidFill>
                <a:srgbClr val="062D3F"/>
              </a:solidFill>
              <a:latin typeface="Circe Bold"/>
            </a:endParaRP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14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Транспортные технологии, в том числе беспилотные и автономные системы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Дроны для обработки полей и доставка в посёлки без регулярного сообщения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15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Космическое приборостроение для связи, навигации и дистанционного зондирования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Связь там, где нет вышек; снимки выявляют зарастающие поля и залежи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25   </a:t>
            </a:r>
            <a:r>
              <a:rPr sz="1400" b="0" i="1">
                <a:solidFill>
                  <a:srgbClr val="222222"/>
                </a:solidFill>
                <a:latin typeface="Circe"/>
              </a:rPr>
              <a:t>Искусственный интеллект в отраслях экономики и управлении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Прогноз урожая, управление хозяйством, телемедицина и дистанционное обучение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76688" y="2103120"/>
            <a:ext cx="3840480" cy="544068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wrap="square" lIns="274320" tIns="228600" rIns="274320" bIns="228600" rtlCol="0" anchor="t"/>
          <a:lstStyle/>
          <a:p>
            <a:pPr algn="l"/>
            <a:r>
              <a:rPr sz="2100" b="1" dirty="0" err="1">
                <a:solidFill>
                  <a:srgbClr val="062D3F"/>
                </a:solidFill>
                <a:latin typeface="Circe Bold"/>
              </a:rPr>
              <a:t>Биотехнологии</a:t>
            </a:r>
            <a:r>
              <a:rPr sz="2100" b="1" dirty="0">
                <a:solidFill>
                  <a:srgbClr val="062D3F"/>
                </a:solidFill>
                <a:latin typeface="Circe Bold"/>
              </a:rPr>
              <a:t> и </a:t>
            </a:r>
            <a:r>
              <a:rPr sz="2100" b="1" dirty="0" err="1">
                <a:solidFill>
                  <a:srgbClr val="062D3F"/>
                </a:solidFill>
                <a:latin typeface="Circe Bold"/>
              </a:rPr>
              <a:t>переработка</a:t>
            </a:r>
            <a:endParaRPr sz="2100" b="1" dirty="0">
              <a:solidFill>
                <a:srgbClr val="062D3F"/>
              </a:solidFill>
              <a:latin typeface="Circe Bold"/>
            </a:endParaRP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5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Технологии функционального и лечебного питания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Продукты с заданными свойствами из местного сырья: доход остаётся в районе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22   </a:t>
            </a:r>
            <a:r>
              <a:rPr sz="1400" b="0" i="1">
                <a:solidFill>
                  <a:srgbClr val="222222"/>
                </a:solidFill>
                <a:latin typeface="Circe"/>
              </a:rPr>
              <a:t>Синтетическая биология и генная инженерия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Основа для отечественных сортов, пород и биопрепаратов, которые берут хозяйства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28   </a:t>
            </a:r>
            <a:r>
              <a:rPr sz="1400" b="0" i="1">
                <a:solidFill>
                  <a:srgbClr val="222222"/>
                </a:solidFill>
                <a:latin typeface="Circe"/>
              </a:rPr>
              <a:t>Биотехнологии в отраслях экономики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Переработка отходов АПК (навоз, барда, зерно) в корма, удобрения и биогаз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00047" y="2103120"/>
            <a:ext cx="3840480" cy="544068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wrap="square" lIns="274320" tIns="228600" rIns="274320" bIns="228600" rtlCol="0" anchor="t"/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Энергетика и природная среда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1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Генерация, распределение и хранение энергии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Местная генерация и накопители для удалённых посёлков и ферм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19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Мониторинг среды и климата, снижение рисков ЧС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Раннее оповещение о паводках, засухах и пожарах: защита земель и жителей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62D3F"/>
                </a:solidFill>
                <a:latin typeface="Circe Bold"/>
              </a:rPr>
              <a:t>21   </a:t>
            </a:r>
            <a:r>
              <a:rPr sz="1400" b="0" i="0">
                <a:solidFill>
                  <a:srgbClr val="222222"/>
                </a:solidFill>
                <a:latin typeface="Circe"/>
              </a:rPr>
              <a:t>Сохранение биоразнообразия, борьба с инвазивными видами</a:t>
            </a:r>
          </a:p>
          <a:p>
            <a:pPr marL="274320">
              <a:spcBef>
                <a:spcPts val="300"/>
              </a:spcBef>
            </a:pPr>
            <a:r>
              <a:rPr sz="1350" b="1" i="0">
                <a:solidFill>
                  <a:srgbClr val="062D3F"/>
                </a:solidFill>
                <a:latin typeface="Circe Bold"/>
              </a:rPr>
              <a:t>В селе: </a:t>
            </a:r>
            <a:r>
              <a:rPr sz="1350" b="0" i="0">
                <a:solidFill>
                  <a:srgbClr val="062D3F"/>
                </a:solidFill>
                <a:latin typeface="Circe"/>
              </a:rPr>
              <a:t>Борьба с борщевиком и другими инвазивными видами на заброшенных полях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9330" y="7635240"/>
            <a:ext cx="16871653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300" b="0">
                <a:solidFill>
                  <a:srgbClr val="5E6B73"/>
                </a:solidFill>
                <a:latin typeface="Circe"/>
              </a:rPr>
              <a:t>Номера по перечню Указа № 529. Позиции 22–28 относятся к сквозным технологиям, остальные к критическим.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330" y="7955279"/>
            <a:ext cx="16871653" cy="1600200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wrap="square" lIns="320040" tIns="228600" rIns="320040" bIns="228600" rtlCol="0" anchor="t"/>
          <a:lstStyle/>
          <a:p>
            <a:pPr algn="l"/>
            <a:r>
              <a:rPr sz="2100" b="1" dirty="0" err="1">
                <a:solidFill>
                  <a:srgbClr val="FFFFFF"/>
                </a:solidFill>
                <a:latin typeface="Circe Bold"/>
              </a:rPr>
              <a:t>Технология</a:t>
            </a:r>
            <a:r>
              <a:rPr sz="2100" b="1" dirty="0">
                <a:solidFill>
                  <a:srgbClr val="FFFFFF"/>
                </a:solidFill>
                <a:latin typeface="Circe Bold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Circe Bold"/>
              </a:rPr>
              <a:t>становится</a:t>
            </a:r>
            <a:r>
              <a:rPr sz="2100" b="1" dirty="0">
                <a:solidFill>
                  <a:srgbClr val="FFFFFF"/>
                </a:solidFill>
                <a:latin typeface="Circe Bold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Circe Bold"/>
              </a:rPr>
              <a:t>возможностью</a:t>
            </a:r>
            <a:r>
              <a:rPr sz="2100" b="1" dirty="0">
                <a:solidFill>
                  <a:srgbClr val="FFFFFF"/>
                </a:solidFill>
                <a:latin typeface="Circe Bold"/>
              </a:rPr>
              <a:t> (O) </a:t>
            </a:r>
            <a:r>
              <a:rPr sz="2100" b="1" dirty="0" err="1">
                <a:solidFill>
                  <a:srgbClr val="FFFFFF"/>
                </a:solidFill>
                <a:latin typeface="Circe Bold"/>
              </a:rPr>
              <a:t>для</a:t>
            </a:r>
            <a:r>
              <a:rPr sz="2100" b="1" dirty="0">
                <a:solidFill>
                  <a:srgbClr val="FFFFFF"/>
                </a:solidFill>
                <a:latin typeface="Circe Bold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Circe Bold"/>
              </a:rPr>
              <a:t>территории</a:t>
            </a:r>
            <a:r>
              <a:rPr sz="2100" b="1" dirty="0">
                <a:solidFill>
                  <a:srgbClr val="FFFFFF"/>
                </a:solidFill>
                <a:latin typeface="Circe Bold"/>
              </a:rPr>
              <a:t>, </a:t>
            </a:r>
            <a:r>
              <a:rPr sz="2100" b="1" dirty="0" err="1">
                <a:solidFill>
                  <a:srgbClr val="FFFFFF"/>
                </a:solidFill>
                <a:latin typeface="Circe Bold"/>
              </a:rPr>
              <a:t>если</a:t>
            </a:r>
            <a:r>
              <a:rPr sz="2100" b="1" dirty="0">
                <a:solidFill>
                  <a:srgbClr val="FFFFFF"/>
                </a:solidFill>
                <a:latin typeface="Circe Bold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Circe Bold"/>
              </a:rPr>
              <a:t>на</a:t>
            </a:r>
            <a:r>
              <a:rPr sz="2100" b="1" dirty="0">
                <a:solidFill>
                  <a:srgbClr val="FFFFFF"/>
                </a:solidFill>
                <a:latin typeface="Circe Bold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Circe Bold"/>
              </a:rPr>
              <a:t>ней</a:t>
            </a:r>
            <a:r>
              <a:rPr sz="2100" b="1" dirty="0">
                <a:solidFill>
                  <a:srgbClr val="FFFFFF"/>
                </a:solidFill>
                <a:latin typeface="Circe Bold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Circe Bold"/>
              </a:rPr>
              <a:t>есть</a:t>
            </a:r>
            <a:endParaRPr sz="2100" b="1" dirty="0">
              <a:solidFill>
                <a:srgbClr val="FFFFFF"/>
              </a:solidFill>
              <a:latin typeface="Circe Bold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89370" y="8686800"/>
            <a:ext cx="306343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700" b="0" dirty="0" err="1">
                <a:solidFill>
                  <a:srgbClr val="C9D8E0"/>
                </a:solidFill>
                <a:latin typeface="Circe"/>
              </a:rPr>
              <a:t>Кадры</a:t>
            </a:r>
            <a:r>
              <a:rPr sz="1700" b="0" dirty="0">
                <a:solidFill>
                  <a:srgbClr val="C9D8E0"/>
                </a:solidFill>
                <a:latin typeface="Circe"/>
              </a:rPr>
              <a:t> и </a:t>
            </a:r>
            <a:r>
              <a:rPr sz="1700" b="0" dirty="0" err="1">
                <a:solidFill>
                  <a:srgbClr val="C9D8E0"/>
                </a:solidFill>
                <a:latin typeface="Circe"/>
              </a:rPr>
              <a:t>компетенции</a:t>
            </a:r>
            <a:endParaRPr sz="1700" b="0" dirty="0">
              <a:solidFill>
                <a:srgbClr val="C9D8E0"/>
              </a:solidFill>
              <a:latin typeface="Circe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389370" y="8613648"/>
            <a:ext cx="457200" cy="0"/>
          </a:xfrm>
          <a:prstGeom prst="line">
            <a:avLst/>
          </a:prstGeom>
          <a:ln w="38100">
            <a:solidFill>
              <a:srgbClr val="FFC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635684" y="8686800"/>
            <a:ext cx="306343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700" b="0">
                <a:solidFill>
                  <a:srgbClr val="C9D8E0"/>
                </a:solidFill>
                <a:latin typeface="Circe"/>
              </a:rPr>
              <a:t>Спрос со стороны хозяйств и переработчиков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35684" y="8613648"/>
            <a:ext cx="457200" cy="0"/>
          </a:xfrm>
          <a:prstGeom prst="line">
            <a:avLst/>
          </a:prstGeom>
          <a:ln w="38100">
            <a:solidFill>
              <a:srgbClr val="FFC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881998" y="8686800"/>
            <a:ext cx="306343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700" b="0">
                <a:solidFill>
                  <a:srgbClr val="C9D8E0"/>
                </a:solidFill>
                <a:latin typeface="Circe"/>
              </a:rPr>
              <a:t>Связь и цифровая инфраструктура</a:t>
            </a:r>
          </a:p>
        </p:txBody>
      </p:sp>
      <p:cxnSp>
        <p:nvCxnSpPr>
          <p:cNvPr id="17" name="Connector 16"/>
          <p:cNvCxnSpPr>
            <a:cxnSpLocks/>
          </p:cNvCxnSpPr>
          <p:nvPr/>
        </p:nvCxnSpPr>
        <p:spPr>
          <a:xfrm>
            <a:off x="7881998" y="8613648"/>
            <a:ext cx="457200" cy="0"/>
          </a:xfrm>
          <a:prstGeom prst="line">
            <a:avLst/>
          </a:prstGeom>
          <a:ln w="38100">
            <a:solidFill>
              <a:srgbClr val="FFC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1128312" y="8686800"/>
            <a:ext cx="306343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700" b="0">
                <a:solidFill>
                  <a:srgbClr val="C9D8E0"/>
                </a:solidFill>
                <a:latin typeface="Circe"/>
              </a:rPr>
              <a:t>Научный партнёр рядом (вуз, НИИ, опытная станция)</a:t>
            </a:r>
          </a:p>
        </p:txBody>
      </p:sp>
      <p:cxnSp>
        <p:nvCxnSpPr>
          <p:cNvPr id="19" name="Connector 18"/>
          <p:cNvCxnSpPr>
            <a:cxnSpLocks/>
          </p:cNvCxnSpPr>
          <p:nvPr/>
        </p:nvCxnSpPr>
        <p:spPr>
          <a:xfrm>
            <a:off x="11128312" y="8613648"/>
            <a:ext cx="457200" cy="0"/>
          </a:xfrm>
          <a:prstGeom prst="line">
            <a:avLst/>
          </a:prstGeom>
          <a:ln w="38100">
            <a:solidFill>
              <a:srgbClr val="FFC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4374626" y="8686800"/>
            <a:ext cx="306343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700" b="0">
                <a:solidFill>
                  <a:srgbClr val="C9D8E0"/>
                </a:solidFill>
                <a:latin typeface="Circe"/>
              </a:rPr>
              <a:t>Финансирование и меры поддержки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374626" y="8613648"/>
            <a:ext cx="457200" cy="0"/>
          </a:xfrm>
          <a:prstGeom prst="line">
            <a:avLst/>
          </a:prstGeom>
          <a:ln w="38100">
            <a:solidFill>
              <a:srgbClr val="FFC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1174</TotalTime>
  <Words>1840</Words>
  <Application>Microsoft Office PowerPoint</Application>
  <PresentationFormat>Произвольный</PresentationFormat>
  <Paragraphs>423</Paragraphs>
  <Slides>29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4" baseType="lpstr">
      <vt:lpstr>Arial</vt:lpstr>
      <vt:lpstr>Calibri</vt:lpstr>
      <vt:lpstr>Circe</vt:lpstr>
      <vt:lpstr>Circe Bold</vt:lpstr>
      <vt:lpstr>Основной слайд</vt:lpstr>
      <vt:lpstr>SWOT-анализ и PEST – анализ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Веленко Татьяна Александровна</dc:creator>
  <cp:lastModifiedBy>InkXiles</cp:lastModifiedBy>
  <cp:revision>98</cp:revision>
  <cp:lastPrinted>2026-10-05T13:27:38Z</cp:lastPrinted>
  <dcterms:created xsi:type="dcterms:W3CDTF">2022-11-22T08:46:48Z</dcterms:created>
  <dcterms:modified xsi:type="dcterms:W3CDTF">2026-10-06T12:58:34Z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