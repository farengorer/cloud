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354" r:id="rId19"/>
  </p:sldIdLst>
  <p:sldSz cx="19010313" cy="10693400"/>
  <p:notesSz cx="14357350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nkXiles" initials="I" lastIdx="1" clrIdx="0">
    <p:extLst>
      <p:ext uri="{19B8F6BF-5375-455C-9EA6-DF929625EA0E}">
        <p15:presenceInfo xmlns:p15="http://schemas.microsoft.com/office/powerpoint/2012/main" userId="InkXil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FFFF"/>
    <a:srgbClr val="E8B85C"/>
    <a:srgbClr val="1C4659"/>
    <a:srgbClr val="062D3F"/>
    <a:srgbClr val="F2A504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3852" autoAdjust="0"/>
  </p:normalViewPr>
  <p:slideViewPr>
    <p:cSldViewPr>
      <p:cViewPr varScale="1">
        <p:scale>
          <a:sx n="51" d="100"/>
          <a:sy n="51" d="100"/>
        </p:scale>
        <p:origin x="1061" y="67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6221997" cy="498180"/>
          </a:xfrm>
          <a:prstGeom prst="rect">
            <a:avLst/>
          </a:prstGeom>
        </p:spPr>
        <p:txBody>
          <a:bodyPr vert="horz" lIns="74745" tIns="37372" rIns="74745" bIns="37372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32954" y="1"/>
            <a:ext cx="6220800" cy="498180"/>
          </a:xfrm>
          <a:prstGeom prst="rect">
            <a:avLst/>
          </a:prstGeom>
        </p:spPr>
        <p:txBody>
          <a:bodyPr vert="horz" lIns="74745" tIns="37372" rIns="74745" bIns="37372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0525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745" tIns="37372" rIns="74745" bIns="37372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6215" y="4778401"/>
            <a:ext cx="11484921" cy="3908797"/>
          </a:xfrm>
          <a:prstGeom prst="rect">
            <a:avLst/>
          </a:prstGeom>
        </p:spPr>
        <p:txBody>
          <a:bodyPr vert="horz" lIns="74745" tIns="37372" rIns="74745" bIns="37372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6"/>
            <a:ext cx="6221997" cy="498180"/>
          </a:xfrm>
          <a:prstGeom prst="rect">
            <a:avLst/>
          </a:prstGeom>
        </p:spPr>
        <p:txBody>
          <a:bodyPr vert="horz" lIns="74745" tIns="37372" rIns="74745" bIns="37372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32954" y="9430046"/>
            <a:ext cx="6220800" cy="498180"/>
          </a:xfrm>
          <a:prstGeom prst="rect">
            <a:avLst/>
          </a:prstGeom>
        </p:spPr>
        <p:txBody>
          <a:bodyPr vert="horz" lIns="74745" tIns="37372" rIns="74745" bIns="37372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 каждой технологии добавлена строка с конкретным применением на сельской территории. Формулировки составлены при оформлении слайда как иллюстрации к перечню Указа № 529; их стоит проверить на примерах конкретных районов.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7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0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КРИТИЧЕСКИЕ И СКВОЗНЫЕ ТЕХНОЛОГИИ ДЛЯ СЕЛЬСКОЙ ТЕРРИТОРИИ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4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18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9330" y="201168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2000" b="0" dirty="0" err="1">
                <a:solidFill>
                  <a:srgbClr val="062D3F"/>
                </a:solidFill>
                <a:latin typeface="Circe"/>
              </a:rPr>
              <a:t>Стратегия</a:t>
            </a:r>
            <a:r>
              <a:rPr sz="2000" b="0" dirty="0">
                <a:solidFill>
                  <a:srgbClr val="062D3F"/>
                </a:solidFill>
                <a:latin typeface="Circe"/>
              </a:rPr>
              <a:t> НТР (</a:t>
            </a:r>
            <a:r>
              <a:rPr sz="2000" b="0" dirty="0" err="1">
                <a:solidFill>
                  <a:srgbClr val="062D3F"/>
                </a:solidFill>
                <a:latin typeface="Circe"/>
              </a:rPr>
              <a:t>Указ</a:t>
            </a:r>
            <a:r>
              <a:rPr sz="2000" b="0" dirty="0">
                <a:solidFill>
                  <a:srgbClr val="062D3F"/>
                </a:solidFill>
                <a:latin typeface="Circe"/>
              </a:rPr>
              <a:t> № 145 </a:t>
            </a:r>
            <a:r>
              <a:rPr sz="2000" b="0" dirty="0" err="1">
                <a:solidFill>
                  <a:srgbClr val="062D3F"/>
                </a:solidFill>
                <a:latin typeface="Circe"/>
              </a:rPr>
              <a:t>от</a:t>
            </a:r>
            <a:r>
              <a:rPr sz="2000" b="0" dirty="0">
                <a:solidFill>
                  <a:srgbClr val="062D3F"/>
                </a:solidFill>
                <a:latin typeface="Circe"/>
              </a:rPr>
              <a:t> 28.02.2024) и </a:t>
            </a:r>
            <a:r>
              <a:rPr sz="2000" b="0" dirty="0" err="1">
                <a:solidFill>
                  <a:srgbClr val="062D3F"/>
                </a:solidFill>
                <a:latin typeface="Circe"/>
              </a:rPr>
              <a:t>перечень</a:t>
            </a:r>
            <a:r>
              <a:rPr sz="2000" b="0" dirty="0">
                <a:solidFill>
                  <a:srgbClr val="062D3F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062D3F"/>
                </a:solidFill>
                <a:latin typeface="Circe"/>
              </a:rPr>
              <a:t>важнейших</a:t>
            </a:r>
            <a:r>
              <a:rPr sz="2000" b="0" dirty="0">
                <a:solidFill>
                  <a:srgbClr val="062D3F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062D3F"/>
                </a:solidFill>
                <a:latin typeface="Circe"/>
              </a:rPr>
              <a:t>наукоёмких</a:t>
            </a:r>
            <a:r>
              <a:rPr sz="2000" b="0" dirty="0">
                <a:solidFill>
                  <a:srgbClr val="062D3F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062D3F"/>
                </a:solidFill>
                <a:latin typeface="Circe"/>
              </a:rPr>
              <a:t>технологий</a:t>
            </a:r>
            <a:r>
              <a:rPr sz="2000" b="0" dirty="0">
                <a:solidFill>
                  <a:srgbClr val="062D3F"/>
                </a:solidFill>
                <a:latin typeface="Circe"/>
              </a:rPr>
              <a:t> (</a:t>
            </a:r>
            <a:r>
              <a:rPr sz="2000" b="0" dirty="0" err="1">
                <a:solidFill>
                  <a:srgbClr val="062D3F"/>
                </a:solidFill>
                <a:latin typeface="Circe"/>
              </a:rPr>
              <a:t>Указ</a:t>
            </a:r>
            <a:r>
              <a:rPr sz="2000" b="0" dirty="0">
                <a:solidFill>
                  <a:srgbClr val="062D3F"/>
                </a:solidFill>
                <a:latin typeface="Circe"/>
              </a:rPr>
              <a:t> № 529 </a:t>
            </a:r>
            <a:r>
              <a:rPr sz="2000" b="0" dirty="0" err="1">
                <a:solidFill>
                  <a:srgbClr val="062D3F"/>
                </a:solidFill>
                <a:latin typeface="Circe"/>
              </a:rPr>
              <a:t>от</a:t>
            </a:r>
            <a:r>
              <a:rPr sz="2000" b="0" dirty="0">
                <a:solidFill>
                  <a:srgbClr val="062D3F"/>
                </a:solidFill>
                <a:latin typeface="Circe"/>
              </a:rPr>
              <a:t> 18.06.2024)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9330" y="2560320"/>
            <a:ext cx="4012173" cy="65836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wrap="square" lIns="274320" tIns="228600" rIns="274320" bIns="228600" rtlCol="0" anchor="t"/>
          <a:lstStyle/>
          <a:p>
            <a:pPr algn="l"/>
            <a:r>
              <a:rPr sz="2100" b="1" dirty="0" err="1">
                <a:solidFill>
                  <a:srgbClr val="062D3F"/>
                </a:solidFill>
                <a:latin typeface="Circe Bold"/>
              </a:rPr>
              <a:t>Растениеводство</a:t>
            </a:r>
            <a:r>
              <a:rPr sz="2100" b="1" dirty="0">
                <a:solidFill>
                  <a:srgbClr val="062D3F"/>
                </a:solidFill>
                <a:latin typeface="Circe Bold"/>
              </a:rPr>
              <a:t> и </a:t>
            </a:r>
            <a:r>
              <a:rPr sz="2100" b="1" dirty="0" err="1">
                <a:solidFill>
                  <a:srgbClr val="062D3F"/>
                </a:solidFill>
                <a:latin typeface="Circe Bold"/>
              </a:rPr>
              <a:t>животноводство</a:t>
            </a:r>
            <a:endParaRPr sz="2100" b="1" dirty="0">
              <a:solidFill>
                <a:srgbClr val="062D3F"/>
              </a:solidFill>
              <a:latin typeface="Circe Bold"/>
            </a:endParaRP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62D3F"/>
                </a:solidFill>
                <a:latin typeface="Circe Bold"/>
              </a:rPr>
              <a:t>7   </a:t>
            </a:r>
            <a:r>
              <a:rPr sz="1500" b="1" i="0">
                <a:solidFill>
                  <a:srgbClr val="062D3F"/>
                </a:solidFill>
                <a:latin typeface="Circe Bold"/>
              </a:rPr>
              <a:t>Повышение продуктивности сельхозживотных, в том числе селекцией</a:t>
            </a:r>
          </a:p>
          <a:p>
            <a:pPr marL="274320">
              <a:spcBef>
                <a:spcPts val="300"/>
              </a:spcBef>
            </a:pPr>
            <a:r>
              <a:rPr sz="1450" b="0" i="0">
                <a:solidFill>
                  <a:srgbClr val="062D3F"/>
                </a:solidFill>
                <a:latin typeface="Circe"/>
              </a:rPr>
              <a:t>Рост удоев и привесов повышает доход хозяйств района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62D3F"/>
                </a:solidFill>
                <a:latin typeface="Circe Bold"/>
              </a:rPr>
              <a:t>8   </a:t>
            </a:r>
            <a:r>
              <a:rPr sz="1500" b="1" i="0">
                <a:solidFill>
                  <a:srgbClr val="062D3F"/>
                </a:solidFill>
                <a:latin typeface="Circe Bold"/>
              </a:rPr>
              <a:t>Ветеринарные препараты нового поколения</a:t>
            </a:r>
          </a:p>
          <a:p>
            <a:pPr marL="274320">
              <a:spcBef>
                <a:spcPts val="300"/>
              </a:spcBef>
            </a:pPr>
            <a:r>
              <a:rPr sz="1450" b="0" i="0">
                <a:solidFill>
                  <a:srgbClr val="062D3F"/>
                </a:solidFill>
                <a:latin typeface="Circe"/>
              </a:rPr>
              <a:t>Вакцины и препараты защищают стада хозяйств и личных подворий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62D3F"/>
                </a:solidFill>
                <a:latin typeface="Circe Bold"/>
              </a:rPr>
              <a:t>9   </a:t>
            </a:r>
            <a:r>
              <a:rPr sz="1500" b="1" i="0">
                <a:solidFill>
                  <a:srgbClr val="062D3F"/>
                </a:solidFill>
                <a:latin typeface="Circe Bold"/>
              </a:rPr>
              <a:t>Новые сорта и гибриды, устойчивые к изменениям природной среды</a:t>
            </a:r>
          </a:p>
          <a:p>
            <a:pPr marL="274320">
              <a:spcBef>
                <a:spcPts val="300"/>
              </a:spcBef>
            </a:pPr>
            <a:r>
              <a:rPr sz="1450" b="0" i="0">
                <a:solidFill>
                  <a:srgbClr val="062D3F"/>
                </a:solidFill>
                <a:latin typeface="Circe"/>
              </a:rPr>
              <a:t>Урожай сохраняется при засухах и заморозках, земледелие расширяется на север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62D3F"/>
                </a:solidFill>
                <a:latin typeface="Circe Bold"/>
              </a:rPr>
              <a:t>10   </a:t>
            </a:r>
            <a:r>
              <a:rPr sz="1500" b="1" i="0">
                <a:solidFill>
                  <a:srgbClr val="062D3F"/>
                </a:solidFill>
                <a:latin typeface="Circe Bold"/>
              </a:rPr>
              <a:t>Биологические и химические средства повышения урожайности и защиты растений</a:t>
            </a:r>
          </a:p>
          <a:p>
            <a:pPr marL="274320">
              <a:spcBef>
                <a:spcPts val="300"/>
              </a:spcBef>
            </a:pPr>
            <a:r>
              <a:rPr sz="1450" b="0" i="0">
                <a:solidFill>
                  <a:srgbClr val="062D3F"/>
                </a:solidFill>
                <a:latin typeface="Circe"/>
              </a:rPr>
              <a:t>Плодородие восстанавливается, посевы защищены на бедных почвах Нечерноземья</a:t>
            </a:r>
          </a:p>
        </p:txBody>
      </p:sp>
      <p:sp>
        <p:nvSpPr>
          <p:cNvPr id="7" name="Rectangle 6"/>
          <p:cNvSpPr/>
          <p:nvPr/>
        </p:nvSpPr>
        <p:spPr>
          <a:xfrm>
            <a:off x="5355823" y="2560320"/>
            <a:ext cx="4012173" cy="65836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wrap="square" lIns="274320" tIns="228600" rIns="274320" bIns="228600" rtlCol="0" anchor="t"/>
          <a:lstStyle/>
          <a:p>
            <a:pPr algn="l"/>
            <a:r>
              <a:rPr sz="2100" b="1" dirty="0" err="1">
                <a:solidFill>
                  <a:srgbClr val="062D3F"/>
                </a:solidFill>
                <a:latin typeface="Circe Bold"/>
              </a:rPr>
              <a:t>Беспилотные</a:t>
            </a:r>
            <a:r>
              <a:rPr sz="2100" b="1" dirty="0">
                <a:solidFill>
                  <a:srgbClr val="062D3F"/>
                </a:solidFill>
                <a:latin typeface="Circe Bold"/>
              </a:rPr>
              <a:t> </a:t>
            </a:r>
            <a:r>
              <a:rPr sz="2100" b="1" dirty="0" err="1">
                <a:solidFill>
                  <a:srgbClr val="062D3F"/>
                </a:solidFill>
                <a:latin typeface="Circe Bold"/>
              </a:rPr>
              <a:t>системы</a:t>
            </a:r>
            <a:r>
              <a:rPr sz="2100" b="1" dirty="0">
                <a:solidFill>
                  <a:srgbClr val="062D3F"/>
                </a:solidFill>
                <a:latin typeface="Circe Bold"/>
              </a:rPr>
              <a:t>, </a:t>
            </a:r>
            <a:r>
              <a:rPr sz="2100" b="1" dirty="0" err="1">
                <a:solidFill>
                  <a:srgbClr val="062D3F"/>
                </a:solidFill>
                <a:latin typeface="Circe Bold"/>
              </a:rPr>
              <a:t>связь</a:t>
            </a:r>
            <a:r>
              <a:rPr sz="2100" b="1" dirty="0">
                <a:solidFill>
                  <a:srgbClr val="062D3F"/>
                </a:solidFill>
                <a:latin typeface="Circe Bold"/>
              </a:rPr>
              <a:t> и </a:t>
            </a:r>
            <a:r>
              <a:rPr sz="2100" b="1" dirty="0" err="1">
                <a:solidFill>
                  <a:srgbClr val="062D3F"/>
                </a:solidFill>
                <a:latin typeface="Circe Bold"/>
              </a:rPr>
              <a:t>данные</a:t>
            </a:r>
            <a:endParaRPr sz="2100" b="1" dirty="0">
              <a:solidFill>
                <a:srgbClr val="062D3F"/>
              </a:solidFill>
              <a:latin typeface="Circe Bold"/>
            </a:endParaRP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62D3F"/>
                </a:solidFill>
                <a:latin typeface="Circe Bold"/>
              </a:rPr>
              <a:t>14   </a:t>
            </a:r>
            <a:r>
              <a:rPr sz="1500" b="1" i="0">
                <a:solidFill>
                  <a:srgbClr val="062D3F"/>
                </a:solidFill>
                <a:latin typeface="Circe Bold"/>
              </a:rPr>
              <a:t>Транспортные технологии, в том числе беспилотные и автономные системы</a:t>
            </a:r>
          </a:p>
          <a:p>
            <a:pPr marL="274320">
              <a:spcBef>
                <a:spcPts val="300"/>
              </a:spcBef>
            </a:pPr>
            <a:r>
              <a:rPr sz="1450" b="0" i="0">
                <a:solidFill>
                  <a:srgbClr val="062D3F"/>
                </a:solidFill>
                <a:latin typeface="Circe"/>
              </a:rPr>
              <a:t>Дроны обрабатывают поля и доставляют грузы в посёлки с редким транспортным сообщением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62D3F"/>
                </a:solidFill>
                <a:latin typeface="Circe Bold"/>
              </a:rPr>
              <a:t>15   </a:t>
            </a:r>
            <a:r>
              <a:rPr sz="1500" b="1" i="0">
                <a:solidFill>
                  <a:srgbClr val="062D3F"/>
                </a:solidFill>
                <a:latin typeface="Circe Bold"/>
              </a:rPr>
              <a:t>Космическое приборостроение для связи, навигации и дистанционного зондирования</a:t>
            </a:r>
          </a:p>
          <a:p>
            <a:pPr marL="274320">
              <a:spcBef>
                <a:spcPts val="300"/>
              </a:spcBef>
            </a:pPr>
            <a:r>
              <a:rPr sz="1450" b="0" i="0">
                <a:solidFill>
                  <a:srgbClr val="062D3F"/>
                </a:solidFill>
                <a:latin typeface="Circe"/>
              </a:rPr>
              <a:t>Спутниковая связь доступна в районах без вышек, снимки показывают зарастающие поля и залежи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62D3F"/>
                </a:solidFill>
                <a:latin typeface="Circe Bold"/>
              </a:rPr>
              <a:t>25   </a:t>
            </a:r>
            <a:r>
              <a:rPr sz="1500" b="1" i="1">
                <a:solidFill>
                  <a:srgbClr val="062D3F"/>
                </a:solidFill>
                <a:latin typeface="Circe Bold"/>
              </a:rPr>
              <a:t>Искусственный интеллект в отраслях экономики и управлении</a:t>
            </a:r>
          </a:p>
          <a:p>
            <a:pPr marL="274320">
              <a:spcBef>
                <a:spcPts val="300"/>
              </a:spcBef>
            </a:pPr>
            <a:r>
              <a:rPr sz="1450" b="0" i="0">
                <a:solidFill>
                  <a:srgbClr val="062D3F"/>
                </a:solidFill>
                <a:latin typeface="Circe"/>
              </a:rPr>
              <a:t>Прогноз урожая, управление хозяйством, телемедицина и дистанционное обучение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2316" y="2560320"/>
            <a:ext cx="4012173" cy="65836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wrap="square" lIns="274320" tIns="228600" rIns="274320" bIns="228600" rtlCol="0" anchor="t"/>
          <a:lstStyle/>
          <a:p>
            <a:pPr algn="l"/>
            <a:r>
              <a:rPr sz="2100" b="1" dirty="0" err="1">
                <a:solidFill>
                  <a:srgbClr val="062D3F"/>
                </a:solidFill>
                <a:latin typeface="Circe Bold"/>
              </a:rPr>
              <a:t>Биотехнологии</a:t>
            </a:r>
            <a:r>
              <a:rPr sz="2100" b="1" dirty="0">
                <a:solidFill>
                  <a:srgbClr val="062D3F"/>
                </a:solidFill>
                <a:latin typeface="Circe Bold"/>
              </a:rPr>
              <a:t> и </a:t>
            </a:r>
            <a:r>
              <a:rPr sz="2100" b="1" dirty="0" err="1">
                <a:solidFill>
                  <a:srgbClr val="062D3F"/>
                </a:solidFill>
                <a:latin typeface="Circe Bold"/>
              </a:rPr>
              <a:t>переработка</a:t>
            </a:r>
            <a:endParaRPr sz="2100" b="1" dirty="0">
              <a:solidFill>
                <a:srgbClr val="062D3F"/>
              </a:solidFill>
              <a:latin typeface="Circe Bold"/>
            </a:endParaRP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62D3F"/>
                </a:solidFill>
                <a:latin typeface="Circe Bold"/>
              </a:rPr>
              <a:t>5   </a:t>
            </a:r>
            <a:r>
              <a:rPr sz="1500" b="1" i="0">
                <a:solidFill>
                  <a:srgbClr val="062D3F"/>
                </a:solidFill>
                <a:latin typeface="Circe Bold"/>
              </a:rPr>
              <a:t>Технологии функционального и лечебного питания</a:t>
            </a:r>
          </a:p>
          <a:p>
            <a:pPr marL="274320">
              <a:spcBef>
                <a:spcPts val="300"/>
              </a:spcBef>
            </a:pPr>
            <a:r>
              <a:rPr sz="1450" b="0" i="0">
                <a:solidFill>
                  <a:srgbClr val="062D3F"/>
                </a:solidFill>
                <a:latin typeface="Circe"/>
              </a:rPr>
              <a:t>Из местного сырья производят продукты с заданными свойствами, доход остаётся в районе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62D3F"/>
                </a:solidFill>
                <a:latin typeface="Circe Bold"/>
              </a:rPr>
              <a:t>22   </a:t>
            </a:r>
            <a:r>
              <a:rPr sz="1500" b="1" i="1">
                <a:solidFill>
                  <a:srgbClr val="062D3F"/>
                </a:solidFill>
                <a:latin typeface="Circe Bold"/>
              </a:rPr>
              <a:t>Синтетическая биология и генная инженерия</a:t>
            </a:r>
          </a:p>
          <a:p>
            <a:pPr marL="274320">
              <a:spcBef>
                <a:spcPts val="300"/>
              </a:spcBef>
            </a:pPr>
            <a:r>
              <a:rPr sz="1450" b="0" i="0">
                <a:solidFill>
                  <a:srgbClr val="062D3F"/>
                </a:solidFill>
                <a:latin typeface="Circe"/>
              </a:rPr>
              <a:t>Основа для отечественных сортов, пород и биопрепаратов, которые применяют хозяйства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62D3F"/>
                </a:solidFill>
                <a:latin typeface="Circe Bold"/>
              </a:rPr>
              <a:t>28   </a:t>
            </a:r>
            <a:r>
              <a:rPr sz="1500" b="1" i="1">
                <a:solidFill>
                  <a:srgbClr val="062D3F"/>
                </a:solidFill>
                <a:latin typeface="Circe Bold"/>
              </a:rPr>
              <a:t>Биотехнологии в отраслях экономики</a:t>
            </a:r>
          </a:p>
          <a:p>
            <a:pPr marL="274320">
              <a:spcBef>
                <a:spcPts val="300"/>
              </a:spcBef>
            </a:pPr>
            <a:r>
              <a:rPr sz="1450" b="0" i="0">
                <a:solidFill>
                  <a:srgbClr val="062D3F"/>
                </a:solidFill>
                <a:latin typeface="Circe"/>
              </a:rPr>
              <a:t>Отходы АПК (навоз, барда, зерно) перерабатываются в корма, удобрения и биогаз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28809" y="2560320"/>
            <a:ext cx="4012173" cy="65836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wrap="square" lIns="274320" tIns="228600" rIns="274320" bIns="228600" rtlCol="0" anchor="t"/>
          <a:lstStyle/>
          <a:p>
            <a:pPr algn="l"/>
            <a:r>
              <a:rPr sz="2100" b="1">
                <a:solidFill>
                  <a:srgbClr val="062D3F"/>
                </a:solidFill>
                <a:latin typeface="Circe Bold"/>
              </a:rPr>
              <a:t>Энергетика и природная среда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62D3F"/>
                </a:solidFill>
                <a:latin typeface="Circe Bold"/>
              </a:rPr>
              <a:t>1   </a:t>
            </a:r>
            <a:r>
              <a:rPr sz="1500" b="1" i="0">
                <a:solidFill>
                  <a:srgbClr val="062D3F"/>
                </a:solidFill>
                <a:latin typeface="Circe Bold"/>
              </a:rPr>
              <a:t>Генерация, распределение и хранение энергии</a:t>
            </a:r>
          </a:p>
          <a:p>
            <a:pPr marL="274320">
              <a:spcBef>
                <a:spcPts val="300"/>
              </a:spcBef>
            </a:pPr>
            <a:r>
              <a:rPr sz="1450" b="0" i="0">
                <a:solidFill>
                  <a:srgbClr val="062D3F"/>
                </a:solidFill>
                <a:latin typeface="Circe"/>
              </a:rPr>
              <a:t>Местная генерация и накопители обеспечивают удалённые посёлки и фермы энергией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62D3F"/>
                </a:solidFill>
                <a:latin typeface="Circe Bold"/>
              </a:rPr>
              <a:t>19   </a:t>
            </a:r>
            <a:r>
              <a:rPr sz="1500" b="1" i="0">
                <a:solidFill>
                  <a:srgbClr val="062D3F"/>
                </a:solidFill>
                <a:latin typeface="Circe Bold"/>
              </a:rPr>
              <a:t>Мониторинг среды и климата, снижение рисков ЧС</a:t>
            </a:r>
          </a:p>
          <a:p>
            <a:pPr marL="274320">
              <a:spcBef>
                <a:spcPts val="300"/>
              </a:spcBef>
            </a:pPr>
            <a:r>
              <a:rPr sz="1450" b="0" i="0">
                <a:solidFill>
                  <a:srgbClr val="062D3F"/>
                </a:solidFill>
                <a:latin typeface="Circe"/>
              </a:rPr>
              <a:t>Раннее оповещение о паводках, засухах и пожарах защищает земли и жителей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62D3F"/>
                </a:solidFill>
                <a:latin typeface="Circe Bold"/>
              </a:rPr>
              <a:t>21   </a:t>
            </a:r>
            <a:r>
              <a:rPr sz="1500" b="1" i="0">
                <a:solidFill>
                  <a:srgbClr val="062D3F"/>
                </a:solidFill>
                <a:latin typeface="Circe Bold"/>
              </a:rPr>
              <a:t>Сохранение биоразнообразия, борьба с инвазивными видами</a:t>
            </a:r>
          </a:p>
          <a:p>
            <a:pPr marL="274320">
              <a:spcBef>
                <a:spcPts val="300"/>
              </a:spcBef>
            </a:pPr>
            <a:r>
              <a:rPr sz="1450" b="0" i="0">
                <a:solidFill>
                  <a:srgbClr val="062D3F"/>
                </a:solidFill>
                <a:latin typeface="Circe"/>
              </a:rPr>
              <a:t>Инвазивные виды, например борщевик, удаляются с заброшенных полей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9330" y="9253728"/>
            <a:ext cx="16871653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Номера по перечню Указа № 529. Позиции с 22 по 28 относятся к сквозным технологиям, остальные к критическим.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1174</TotalTime>
  <Words>1840</Words>
  <Application>Microsoft Office PowerPoint</Application>
  <PresentationFormat>Произвольный</PresentationFormat>
  <Paragraphs>423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Calibri</vt:lpstr>
      <vt:lpstr>Circe</vt:lpstr>
      <vt:lpstr>Circe Bold</vt:lpstr>
      <vt:lpstr>Основной слайд</vt:lpstr>
      <vt:lpstr>SWOT-анализ и PEST – анализ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Веленко Татьяна Александровна</dc:creator>
  <cp:lastModifiedBy>InkXiles</cp:lastModifiedBy>
  <cp:revision>98</cp:revision>
  <cp:lastPrinted>2026-10-05T13:27:38Z</cp:lastPrinted>
  <dcterms:created xsi:type="dcterms:W3CDTF">2022-11-22T08:46:48Z</dcterms:created>
  <dcterms:modified xsi:type="dcterms:W3CDTF">2026-10-06T12:58:34Z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