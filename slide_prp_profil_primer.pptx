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абстрактный, значения баллов выдуманы для иллюстрации логики оценки. Уровни: от 66 высокий, от 33 до 66 средний, ниже 33 низкий (условные границы). Индекс равен среднему по семи компонентам. Высокий уровень даёт сильные стороны SWOT, низкий слабые, средний зависит от специализации района.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ПРИРОДНО-РЕСУРСНЫЙ ПОТЕНЦИАЛ. ПРОФИЛЬ ОЦЕНКИ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Условный пример. Оценка по компонентам и вывод для SWOT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Заголовок"/>
          <p:cNvSpPr txBox="1"/>
          <p:nvPr/>
        </p:nvSpPr>
        <p:spPr>
          <a:xfrm>
            <a:off x="1069848" y="224028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КОМПОНЕНТ</a:t>
            </a:r>
          </a:p>
        </p:txBody>
      </p:sp>
      <p:sp>
        <p:nvSpPr>
          <p:cNvPr id="204" name="Заголовок"/>
          <p:cNvSpPr txBox="1"/>
          <p:nvPr/>
        </p:nvSpPr>
        <p:spPr>
          <a:xfrm>
            <a:off x="4544568" y="224028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БАЛЛЫ ОТ 0 ДО 100</a:t>
            </a:r>
          </a:p>
        </p:txBody>
      </p:sp>
      <p:cxnSp>
        <p:nvCxnSpPr>
          <p:cNvPr id="205" name="Линия заголовка"/>
          <p:cNvCxnSpPr/>
          <p:nvPr/>
        </p:nvCxnSpPr>
        <p:spPr>
          <a:xfrm>
            <a:off x="1069848" y="2697480"/>
            <a:ext cx="10698480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06" name="Компонент"/>
          <p:cNvSpPr txBox="1"/>
          <p:nvPr/>
        </p:nvSpPr>
        <p:spPr>
          <a:xfrm>
            <a:off x="1069848" y="292608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Агроклиматический</a:t>
            </a:r>
          </a:p>
        </p:txBody>
      </p:sp>
      <p:sp>
        <p:nvSpPr>
          <p:cNvPr id="207" name="Дорожка"/>
          <p:cNvSpPr/>
          <p:nvPr/>
        </p:nvSpPr>
        <p:spPr>
          <a:xfrm>
            <a:off x="4544568" y="310896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Столбец Агроклиматический"/>
          <p:cNvSpPr/>
          <p:nvPr/>
        </p:nvSpPr>
        <p:spPr>
          <a:xfrm>
            <a:off x="4544568" y="3108960"/>
            <a:ext cx="3401568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Значение"/>
          <p:cNvSpPr txBox="1"/>
          <p:nvPr/>
        </p:nvSpPr>
        <p:spPr>
          <a:xfrm>
            <a:off x="10168128" y="292608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62</a:t>
            </a:r>
          </a:p>
        </p:txBody>
      </p:sp>
      <p:sp>
        <p:nvSpPr>
          <p:cNvPr id="210" name="Уровень"/>
          <p:cNvSpPr txBox="1"/>
          <p:nvPr/>
        </p:nvSpPr>
        <p:spPr>
          <a:xfrm>
            <a:off x="10762488" y="292608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СРЕДНИЙ</a:t>
            </a:r>
          </a:p>
        </p:txBody>
      </p:sp>
      <p:sp>
        <p:nvSpPr>
          <p:cNvPr id="211" name="Компонент"/>
          <p:cNvSpPr txBox="1"/>
          <p:nvPr/>
        </p:nvSpPr>
        <p:spPr>
          <a:xfrm>
            <a:off x="1069848" y="374904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Земельный</a:t>
            </a:r>
          </a:p>
        </p:txBody>
      </p:sp>
      <p:sp>
        <p:nvSpPr>
          <p:cNvPr id="212" name="Дорожка"/>
          <p:cNvSpPr/>
          <p:nvPr/>
        </p:nvSpPr>
        <p:spPr>
          <a:xfrm>
            <a:off x="4544568" y="393192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Столбец Земельный"/>
          <p:cNvSpPr/>
          <p:nvPr/>
        </p:nvSpPr>
        <p:spPr>
          <a:xfrm>
            <a:off x="4544568" y="3931920"/>
            <a:ext cx="2633472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Значение"/>
          <p:cNvSpPr txBox="1"/>
          <p:nvPr/>
        </p:nvSpPr>
        <p:spPr>
          <a:xfrm>
            <a:off x="10168128" y="374904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48</a:t>
            </a:r>
          </a:p>
        </p:txBody>
      </p:sp>
      <p:sp>
        <p:nvSpPr>
          <p:cNvPr id="215" name="Уровень"/>
          <p:cNvSpPr txBox="1"/>
          <p:nvPr/>
        </p:nvSpPr>
        <p:spPr>
          <a:xfrm>
            <a:off x="10762488" y="37490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СРЕДНИЙ</a:t>
            </a:r>
          </a:p>
        </p:txBody>
      </p:sp>
      <p:sp>
        <p:nvSpPr>
          <p:cNvPr id="216" name="Компонент"/>
          <p:cNvSpPr txBox="1"/>
          <p:nvPr/>
        </p:nvSpPr>
        <p:spPr>
          <a:xfrm>
            <a:off x="1069848" y="457200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Лесной</a:t>
            </a:r>
          </a:p>
        </p:txBody>
      </p:sp>
      <p:sp>
        <p:nvSpPr>
          <p:cNvPr id="217" name="Дорожка"/>
          <p:cNvSpPr/>
          <p:nvPr/>
        </p:nvSpPr>
        <p:spPr>
          <a:xfrm>
            <a:off x="4544568" y="475488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Столбец Лесной"/>
          <p:cNvSpPr/>
          <p:nvPr/>
        </p:nvSpPr>
        <p:spPr>
          <a:xfrm>
            <a:off x="4544568" y="4754880"/>
            <a:ext cx="4389120" cy="45720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Значение"/>
          <p:cNvSpPr txBox="1"/>
          <p:nvPr/>
        </p:nvSpPr>
        <p:spPr>
          <a:xfrm>
            <a:off x="10168128" y="457200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80</a:t>
            </a:r>
          </a:p>
        </p:txBody>
      </p:sp>
      <p:sp>
        <p:nvSpPr>
          <p:cNvPr id="220" name="Уровень"/>
          <p:cNvSpPr txBox="1"/>
          <p:nvPr/>
        </p:nvSpPr>
        <p:spPr>
          <a:xfrm>
            <a:off x="10762488" y="457200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ВЫСОКИЙ</a:t>
            </a:r>
          </a:p>
        </p:txBody>
      </p:sp>
      <p:sp>
        <p:nvSpPr>
          <p:cNvPr id="221" name="Компонент"/>
          <p:cNvSpPr txBox="1"/>
          <p:nvPr/>
        </p:nvSpPr>
        <p:spPr>
          <a:xfrm>
            <a:off x="1069848" y="539496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Водный</a:t>
            </a:r>
          </a:p>
        </p:txBody>
      </p:sp>
      <p:sp>
        <p:nvSpPr>
          <p:cNvPr id="222" name="Дорожка"/>
          <p:cNvSpPr/>
          <p:nvPr/>
        </p:nvSpPr>
        <p:spPr>
          <a:xfrm>
            <a:off x="4544568" y="557784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Столбец Водный"/>
          <p:cNvSpPr/>
          <p:nvPr/>
        </p:nvSpPr>
        <p:spPr>
          <a:xfrm>
            <a:off x="4544568" y="5577840"/>
            <a:ext cx="3017520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Значение"/>
          <p:cNvSpPr txBox="1"/>
          <p:nvPr/>
        </p:nvSpPr>
        <p:spPr>
          <a:xfrm>
            <a:off x="10168128" y="539496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55</a:t>
            </a:r>
          </a:p>
        </p:txBody>
      </p:sp>
      <p:sp>
        <p:nvSpPr>
          <p:cNvPr id="225" name="Уровень"/>
          <p:cNvSpPr txBox="1"/>
          <p:nvPr/>
        </p:nvSpPr>
        <p:spPr>
          <a:xfrm>
            <a:off x="10762488" y="539496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СРЕДНИЙ</a:t>
            </a:r>
          </a:p>
        </p:txBody>
      </p:sp>
      <p:sp>
        <p:nvSpPr>
          <p:cNvPr id="226" name="Компонент"/>
          <p:cNvSpPr txBox="1"/>
          <p:nvPr/>
        </p:nvSpPr>
        <p:spPr>
          <a:xfrm>
            <a:off x="1069848" y="621792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Минерально-сырьевой</a:t>
            </a:r>
          </a:p>
        </p:txBody>
      </p:sp>
      <p:sp>
        <p:nvSpPr>
          <p:cNvPr id="227" name="Дорожка"/>
          <p:cNvSpPr/>
          <p:nvPr/>
        </p:nvSpPr>
        <p:spPr>
          <a:xfrm>
            <a:off x="4544568" y="640080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Столбец Минерально-сырьевой"/>
          <p:cNvSpPr/>
          <p:nvPr/>
        </p:nvSpPr>
        <p:spPr>
          <a:xfrm>
            <a:off x="4544568" y="6400800"/>
            <a:ext cx="1645920" cy="457200"/>
          </a:xfrm>
          <a:prstGeom prst="rect">
            <a:avLst/>
          </a:prstGeom>
          <a:solidFill>
            <a:srgbClr val="B334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Значение"/>
          <p:cNvSpPr txBox="1"/>
          <p:nvPr/>
        </p:nvSpPr>
        <p:spPr>
          <a:xfrm>
            <a:off x="10168128" y="621792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30</a:t>
            </a:r>
          </a:p>
        </p:txBody>
      </p:sp>
      <p:sp>
        <p:nvSpPr>
          <p:cNvPr id="230" name="Уровень"/>
          <p:cNvSpPr txBox="1"/>
          <p:nvPr/>
        </p:nvSpPr>
        <p:spPr>
          <a:xfrm>
            <a:off x="10762488" y="621792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НИЗКИЙ</a:t>
            </a:r>
          </a:p>
        </p:txBody>
      </p:sp>
      <p:sp>
        <p:nvSpPr>
          <p:cNvPr id="231" name="Компонент"/>
          <p:cNvSpPr txBox="1"/>
          <p:nvPr/>
        </p:nvSpPr>
        <p:spPr>
          <a:xfrm>
            <a:off x="1069848" y="704088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Рекреационный</a:t>
            </a:r>
          </a:p>
        </p:txBody>
      </p:sp>
      <p:sp>
        <p:nvSpPr>
          <p:cNvPr id="232" name="Дорожка"/>
          <p:cNvSpPr/>
          <p:nvPr/>
        </p:nvSpPr>
        <p:spPr>
          <a:xfrm>
            <a:off x="4544568" y="722376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Столбец Рекреационный"/>
          <p:cNvSpPr/>
          <p:nvPr/>
        </p:nvSpPr>
        <p:spPr>
          <a:xfrm>
            <a:off x="4544568" y="7223760"/>
            <a:ext cx="3840480" cy="45720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Значение"/>
          <p:cNvSpPr txBox="1"/>
          <p:nvPr/>
        </p:nvSpPr>
        <p:spPr>
          <a:xfrm>
            <a:off x="10168128" y="704088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70</a:t>
            </a:r>
          </a:p>
        </p:txBody>
      </p:sp>
      <p:sp>
        <p:nvSpPr>
          <p:cNvPr id="235" name="Уровень"/>
          <p:cNvSpPr txBox="1"/>
          <p:nvPr/>
        </p:nvSpPr>
        <p:spPr>
          <a:xfrm>
            <a:off x="10762488" y="704088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ВЫСОКИЙ</a:t>
            </a:r>
          </a:p>
        </p:txBody>
      </p:sp>
      <p:sp>
        <p:nvSpPr>
          <p:cNvPr id="236" name="Компонент"/>
          <p:cNvSpPr txBox="1"/>
          <p:nvPr/>
        </p:nvSpPr>
        <p:spPr>
          <a:xfrm>
            <a:off x="1069848" y="786384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Нагрузка и деградация</a:t>
            </a:r>
          </a:p>
        </p:txBody>
      </p:sp>
      <p:sp>
        <p:nvSpPr>
          <p:cNvPr id="237" name="Дорожка"/>
          <p:cNvSpPr/>
          <p:nvPr/>
        </p:nvSpPr>
        <p:spPr>
          <a:xfrm>
            <a:off x="4544568" y="8046720"/>
            <a:ext cx="5486400" cy="4572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Столбец Нагрузка и деградация"/>
          <p:cNvSpPr/>
          <p:nvPr/>
        </p:nvSpPr>
        <p:spPr>
          <a:xfrm>
            <a:off x="4544568" y="8046720"/>
            <a:ext cx="1536192" cy="457200"/>
          </a:xfrm>
          <a:prstGeom prst="rect">
            <a:avLst/>
          </a:prstGeom>
          <a:solidFill>
            <a:srgbClr val="B334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Значение"/>
          <p:cNvSpPr txBox="1"/>
          <p:nvPr/>
        </p:nvSpPr>
        <p:spPr>
          <a:xfrm>
            <a:off x="10168128" y="786384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28</a:t>
            </a:r>
          </a:p>
        </p:txBody>
      </p:sp>
      <p:sp>
        <p:nvSpPr>
          <p:cNvPr id="240" name="Уровень"/>
          <p:cNvSpPr txBox="1"/>
          <p:nvPr/>
        </p:nvSpPr>
        <p:spPr>
          <a:xfrm>
            <a:off x="10762488" y="78638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6B73"/>
                </a:solidFill>
                <a:latin typeface="Circe Bold"/>
              </a:rPr>
              <a:t>НИЗКИЙ</a:t>
            </a:r>
          </a:p>
        </p:txBody>
      </p:sp>
      <p:cxnSp>
        <p:nvCxnSpPr>
          <p:cNvPr id="241" name="Граница уровня"/>
          <p:cNvCxnSpPr/>
          <p:nvPr/>
        </p:nvCxnSpPr>
        <p:spPr>
          <a:xfrm>
            <a:off x="6355079" y="3017520"/>
            <a:ext cx="0" cy="5577840"/>
          </a:xfrm>
          <a:prstGeom prst="line">
            <a:avLst/>
          </a:prstGeom>
          <a:ln w="12700">
            <a:solidFill>
              <a:srgbClr val="5E6B73"/>
            </a:solidFill>
          </a:ln>
        </p:spPr>
      </p:cxnSp>
      <p:cxnSp>
        <p:nvCxnSpPr>
          <p:cNvPr id="242" name="Граница уровня"/>
          <p:cNvCxnSpPr/>
          <p:nvPr/>
        </p:nvCxnSpPr>
        <p:spPr>
          <a:xfrm>
            <a:off x="8165592" y="3017520"/>
            <a:ext cx="0" cy="5577840"/>
          </a:xfrm>
          <a:prstGeom prst="line">
            <a:avLst/>
          </a:prstGeom>
          <a:ln w="12700">
            <a:solidFill>
              <a:srgbClr val="5E6B73"/>
            </a:solidFill>
          </a:ln>
        </p:spPr>
      </p:cxnSp>
      <p:sp>
        <p:nvSpPr>
          <p:cNvPr id="243" name="Отметка"/>
          <p:cNvSpPr txBox="1"/>
          <p:nvPr/>
        </p:nvSpPr>
        <p:spPr>
          <a:xfrm>
            <a:off x="5897879" y="8686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E6B73"/>
                </a:solidFill>
                <a:latin typeface="Circe"/>
              </a:rPr>
              <a:t>33</a:t>
            </a:r>
          </a:p>
        </p:txBody>
      </p:sp>
      <p:sp>
        <p:nvSpPr>
          <p:cNvPr id="244" name="Отметка"/>
          <p:cNvSpPr txBox="1"/>
          <p:nvPr/>
        </p:nvSpPr>
        <p:spPr>
          <a:xfrm>
            <a:off x="7708392" y="8686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E6B73"/>
                </a:solidFill>
                <a:latin typeface="Circe"/>
              </a:rPr>
              <a:t>66</a:t>
            </a:r>
          </a:p>
        </p:txBody>
      </p:sp>
      <p:sp>
        <p:nvSpPr>
          <p:cNvPr id="245" name="Примечание"/>
          <p:cNvSpPr txBox="1"/>
          <p:nvPr/>
        </p:nvSpPr>
        <p:spPr>
          <a:xfrm>
            <a:off x="1069848" y="90525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Условный пример на выдуманных значениях. Границы уровней 33 и 66 условны, для нагрузки больший балл означает меньшую нагрузку</a:t>
            </a:r>
          </a:p>
        </p:txBody>
      </p:sp>
      <p:sp>
        <p:nvSpPr>
          <p:cNvPr id="246" name="Шапка вывода"/>
          <p:cNvSpPr/>
          <p:nvPr/>
        </p:nvSpPr>
        <p:spPr>
          <a:xfrm>
            <a:off x="12435840" y="2240280"/>
            <a:ext cx="5513831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ЧТО ПЕРЕДАЁТСЯ В SWOT</a:t>
            </a:r>
          </a:p>
        </p:txBody>
      </p:sp>
      <p:sp>
        <p:nvSpPr>
          <p:cNvPr id="247" name="Индекс"/>
          <p:cNvSpPr txBox="1"/>
          <p:nvPr/>
        </p:nvSpPr>
        <p:spPr>
          <a:xfrm>
            <a:off x="12435840" y="288036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062D3F"/>
                </a:solidFill>
                <a:latin typeface="Circe Bold"/>
              </a:rPr>
              <a:t>53</a:t>
            </a:r>
          </a:p>
        </p:txBody>
      </p:sp>
      <p:sp>
        <p:nvSpPr>
          <p:cNvPr id="248" name="Пояснение индекса"/>
          <p:cNvSpPr txBox="1"/>
          <p:nvPr/>
        </p:nvSpPr>
        <p:spPr>
          <a:xfrm>
            <a:off x="14493240" y="2880360"/>
            <a:ext cx="345643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интегральный индекс при равных весах компонентов</a:t>
            </a:r>
          </a:p>
        </p:txBody>
      </p:sp>
      <p:sp>
        <p:nvSpPr>
          <p:cNvPr id="249" name="СИЛЬНЫЕ СТОРОНЫ"/>
          <p:cNvSpPr/>
          <p:nvPr/>
        </p:nvSpPr>
        <p:spPr>
          <a:xfrm>
            <a:off x="12435840" y="3931920"/>
            <a:ext cx="5513831" cy="1188720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300" b="1">
                <a:solidFill>
                  <a:srgbClr val="FFCC00"/>
                </a:solidFill>
                <a:latin typeface="Circe Bold"/>
              </a:rPr>
              <a:t>СИЛЬНЫЕ СТОРОНЫ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Circe Bold"/>
              </a:rPr>
              <a:t>Лесной и рекреационный потенциал</a:t>
            </a:r>
          </a:p>
        </p:txBody>
      </p:sp>
      <p:sp>
        <p:nvSpPr>
          <p:cNvPr id="250" name="СЛАБЫЕ СТОРОНЫ"/>
          <p:cNvSpPr/>
          <p:nvPr/>
        </p:nvSpPr>
        <p:spPr>
          <a:xfrm>
            <a:off x="12435840" y="5257800"/>
            <a:ext cx="5513831" cy="118872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СЛАБЫЕ СТОРОНЫ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62D3F"/>
                </a:solidFill>
                <a:latin typeface="Circe Bold"/>
              </a:rPr>
              <a:t>Минерально-сырьевой потенциал, нагрузка и деградация земель</a:t>
            </a:r>
          </a:p>
        </p:txBody>
      </p:sp>
      <p:sp>
        <p:nvSpPr>
          <p:cNvPr id="251" name="ЗАВИСИТ ОТ СПЕЦИАЛИЗАЦИИ"/>
          <p:cNvSpPr/>
          <p:nvPr/>
        </p:nvSpPr>
        <p:spPr>
          <a:xfrm>
            <a:off x="12435840" y="6583680"/>
            <a:ext cx="5513831" cy="118872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ЗАВИСИТ ОТ СПЕЦИАЛИЗАЦИИ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62D3F"/>
                </a:solidFill>
                <a:latin typeface="Circe Bold"/>
              </a:rPr>
              <a:t>Агроклиматический, земельный и водный потенциал</a:t>
            </a:r>
          </a:p>
        </p:txBody>
      </p:sp>
      <p:sp>
        <p:nvSpPr>
          <p:cNvPr id="252" name="Акцент"/>
          <p:cNvSpPr/>
          <p:nvPr/>
        </p:nvSpPr>
        <p:spPr>
          <a:xfrm>
            <a:off x="12435840" y="7955280"/>
            <a:ext cx="82296" cy="137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Вывод"/>
          <p:cNvSpPr txBox="1"/>
          <p:nvPr/>
        </p:nvSpPr>
        <p:spPr>
          <a:xfrm>
            <a:off x="12710160" y="7955280"/>
            <a:ext cx="5239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Ограничивающий компонент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62D3F"/>
                </a:solidFill>
                <a:latin typeface="Circe"/>
              </a:rPr>
              <a:t>Нагрузка и деградация. Прежде чем наращивать потенциал, нужно снять это ограничение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