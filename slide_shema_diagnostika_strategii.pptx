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0"/>
  </p:notesMasterIdLst>
  <p:sldIdLst>
    <p:sldId id="418" r:id="rId65"/>
  </p:sldIdLst>
  <p:sldSz cx="19010313" cy="10693400"/>
  <p:notesSz cx="14303375" cy="9928225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8" userDrawn="1">
          <p15:clr>
            <a:srgbClr val="A4A3A4"/>
          </p15:clr>
        </p15:guide>
        <p15:guide id="2" pos="21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A504"/>
    <a:srgbClr val="062D3F"/>
    <a:srgbClr val="FFCC00"/>
    <a:srgbClr val="F6DEDA"/>
    <a:srgbClr val="C6D7CD"/>
    <a:srgbClr val="F9CC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59" autoAdjust="0"/>
    <p:restoredTop sz="94660"/>
  </p:normalViewPr>
  <p:slideViewPr>
    <p:cSldViewPr>
      <p:cViewPr varScale="1">
        <p:scale>
          <a:sx n="52" d="100"/>
          <a:sy n="52" d="100"/>
        </p:scale>
        <p:origin x="1013" y="58"/>
      </p:cViewPr>
      <p:guideLst>
        <p:guide orient="horz" pos="2888"/>
        <p:guide pos="21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Relationship Id="rId65" Type="http://schemas.openxmlformats.org/officeDocument/2006/relationships/slide" Target="slides/slide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8102379" y="0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r">
              <a:defRPr sz="1000"/>
            </a:lvl1pPr>
          </a:lstStyle>
          <a:p>
            <a:fld id="{FF5CD594-AF33-4F8B-9903-DBEEF0A2BB36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17512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74588" tIns="37294" rIns="74588" bIns="37294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430815" y="4778401"/>
            <a:ext cx="11441745" cy="3908796"/>
          </a:xfrm>
          <a:prstGeom prst="rect">
            <a:avLst/>
          </a:prstGeom>
        </p:spPr>
        <p:txBody>
          <a:bodyPr vert="horz" lIns="74588" tIns="37294" rIns="74588" bIns="37294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45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8102379" y="9430045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r">
              <a:defRPr sz="1000"/>
            </a:lvl1pPr>
          </a:lstStyle>
          <a:p>
            <a:fld id="{E0173A6D-C577-4C66-8BFA-040957011D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06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пересобран из прежнего слайда «Принципиальная схема диагностики». Блоки диагностики соответствуют разделам лекции 02, 04 по 09. Формулировки четырёх стратегий (рост, укрепление, сдерживание, сжатие) и их краткие описания написаны при оформлении и требуют сверки с принятой в институте методикой.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 презентац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2"/>
          <p:cNvSpPr/>
          <p:nvPr userDrawn="1"/>
        </p:nvSpPr>
        <p:spPr>
          <a:xfrm>
            <a:off x="6350" y="6350"/>
            <a:ext cx="18993805" cy="10679430"/>
          </a:xfrm>
          <a:custGeom>
            <a:avLst/>
            <a:gdLst/>
            <a:ahLst/>
            <a:cxnLst/>
            <a:rect l="l" t="t" r="r" b="b"/>
            <a:pathLst>
              <a:path w="18995390" h="10679430">
                <a:moveTo>
                  <a:pt x="18995301" y="0"/>
                </a:moveTo>
                <a:lnTo>
                  <a:pt x="0" y="0"/>
                </a:lnTo>
                <a:lnTo>
                  <a:pt x="0" y="10679303"/>
                </a:lnTo>
                <a:lnTo>
                  <a:pt x="18995301" y="10679303"/>
                </a:lnTo>
                <a:lnTo>
                  <a:pt x="18995301" y="0"/>
                </a:lnTo>
                <a:close/>
              </a:path>
            </a:pathLst>
          </a:custGeom>
          <a:solidFill>
            <a:srgbClr val="1577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"/>
          <p:cNvGrpSpPr/>
          <p:nvPr userDrawn="1"/>
        </p:nvGrpSpPr>
        <p:grpSpPr>
          <a:xfrm>
            <a:off x="2136072" y="1074108"/>
            <a:ext cx="15532708" cy="8295005"/>
            <a:chOff x="2136250" y="1074105"/>
            <a:chExt cx="15534005" cy="8295005"/>
          </a:xfrm>
        </p:grpSpPr>
        <p:sp>
          <p:nvSpPr>
            <p:cNvPr id="34" name="object 4"/>
            <p:cNvSpPr/>
            <p:nvPr/>
          </p:nvSpPr>
          <p:spPr>
            <a:xfrm>
              <a:off x="2136250" y="1341007"/>
              <a:ext cx="15534005" cy="8028305"/>
            </a:xfrm>
            <a:custGeom>
              <a:avLst/>
              <a:gdLst/>
              <a:ahLst/>
              <a:cxnLst/>
              <a:rect l="l" t="t" r="r" b="b"/>
              <a:pathLst>
                <a:path w="15534005" h="8028305">
                  <a:moveTo>
                    <a:pt x="6037021" y="0"/>
                  </a:moveTo>
                  <a:lnTo>
                    <a:pt x="1512125" y="0"/>
                  </a:lnTo>
                  <a:lnTo>
                    <a:pt x="0" y="3409149"/>
                  </a:lnTo>
                  <a:lnTo>
                    <a:pt x="2207069" y="5963386"/>
                  </a:lnTo>
                  <a:lnTo>
                    <a:pt x="2241420" y="6001669"/>
                  </a:lnTo>
                  <a:lnTo>
                    <a:pt x="2277103" y="6038562"/>
                  </a:lnTo>
                  <a:lnTo>
                    <a:pt x="2314075" y="6074036"/>
                  </a:lnTo>
                  <a:lnTo>
                    <a:pt x="2352292" y="6108059"/>
                  </a:lnTo>
                  <a:lnTo>
                    <a:pt x="2391709" y="6140602"/>
                  </a:lnTo>
                  <a:lnTo>
                    <a:pt x="2432281" y="6171635"/>
                  </a:lnTo>
                  <a:lnTo>
                    <a:pt x="2473966" y="6201129"/>
                  </a:lnTo>
                  <a:lnTo>
                    <a:pt x="2516718" y="6229052"/>
                  </a:lnTo>
                  <a:lnTo>
                    <a:pt x="2560493" y="6255375"/>
                  </a:lnTo>
                  <a:lnTo>
                    <a:pt x="2605248" y="6280067"/>
                  </a:lnTo>
                  <a:lnTo>
                    <a:pt x="2650938" y="6303100"/>
                  </a:lnTo>
                  <a:lnTo>
                    <a:pt x="2697518" y="6324443"/>
                  </a:lnTo>
                  <a:lnTo>
                    <a:pt x="2744945" y="6344065"/>
                  </a:lnTo>
                  <a:lnTo>
                    <a:pt x="2793174" y="6361938"/>
                  </a:lnTo>
                  <a:lnTo>
                    <a:pt x="4352886" y="6906895"/>
                  </a:lnTo>
                  <a:lnTo>
                    <a:pt x="4401560" y="6924957"/>
                  </a:lnTo>
                  <a:lnTo>
                    <a:pt x="4449387" y="6944827"/>
                  </a:lnTo>
                  <a:lnTo>
                    <a:pt x="4496324" y="6966471"/>
                  </a:lnTo>
                  <a:lnTo>
                    <a:pt x="4542324" y="6989857"/>
                  </a:lnTo>
                  <a:lnTo>
                    <a:pt x="4587340" y="7014952"/>
                  </a:lnTo>
                  <a:lnTo>
                    <a:pt x="4631327" y="7041722"/>
                  </a:lnTo>
                  <a:lnTo>
                    <a:pt x="4674240" y="7070134"/>
                  </a:lnTo>
                  <a:lnTo>
                    <a:pt x="4716031" y="7100155"/>
                  </a:lnTo>
                  <a:lnTo>
                    <a:pt x="4756655" y="7131753"/>
                  </a:lnTo>
                  <a:lnTo>
                    <a:pt x="4796067" y="7164894"/>
                  </a:lnTo>
                  <a:lnTo>
                    <a:pt x="4834219" y="7199545"/>
                  </a:lnTo>
                  <a:lnTo>
                    <a:pt x="4871066" y="7235673"/>
                  </a:lnTo>
                  <a:lnTo>
                    <a:pt x="4906563" y="7273245"/>
                  </a:lnTo>
                  <a:lnTo>
                    <a:pt x="4940663" y="7312227"/>
                  </a:lnTo>
                  <a:lnTo>
                    <a:pt x="4973320" y="7352588"/>
                  </a:lnTo>
                  <a:lnTo>
                    <a:pt x="5498642" y="8028000"/>
                  </a:lnTo>
                  <a:lnTo>
                    <a:pt x="15533636" y="8028000"/>
                  </a:lnTo>
                  <a:lnTo>
                    <a:pt x="15533636" y="2749308"/>
                  </a:lnTo>
                  <a:lnTo>
                    <a:pt x="6490296" y="65824"/>
                  </a:lnTo>
                  <a:lnTo>
                    <a:pt x="6441058" y="52070"/>
                  </a:lnTo>
                  <a:lnTo>
                    <a:pt x="6391447" y="39913"/>
                  </a:lnTo>
                  <a:lnTo>
                    <a:pt x="6341502" y="29358"/>
                  </a:lnTo>
                  <a:lnTo>
                    <a:pt x="6291262" y="20411"/>
                  </a:lnTo>
                  <a:lnTo>
                    <a:pt x="6240768" y="13078"/>
                  </a:lnTo>
                  <a:lnTo>
                    <a:pt x="6190057" y="7365"/>
                  </a:lnTo>
                  <a:lnTo>
                    <a:pt x="6139170" y="3277"/>
                  </a:lnTo>
                  <a:lnTo>
                    <a:pt x="6088144" y="820"/>
                  </a:lnTo>
                  <a:lnTo>
                    <a:pt x="6037021" y="0"/>
                  </a:lnTo>
                  <a:close/>
                </a:path>
              </a:pathLst>
            </a:custGeom>
            <a:solidFill>
              <a:srgbClr val="3F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5"/>
            <p:cNvSpPr/>
            <p:nvPr/>
          </p:nvSpPr>
          <p:spPr>
            <a:xfrm>
              <a:off x="16883381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3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</p:grpSp>
      <p:pic>
        <p:nvPicPr>
          <p:cNvPr id="38" name="object 8"/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8290442" y="1328019"/>
            <a:ext cx="175841" cy="155067"/>
          </a:xfrm>
          <a:prstGeom prst="rect">
            <a:avLst/>
          </a:prstGeom>
        </p:spPr>
      </p:pic>
      <p:sp>
        <p:nvSpPr>
          <p:cNvPr id="39" name="object 9"/>
          <p:cNvSpPr/>
          <p:nvPr userDrawn="1"/>
        </p:nvSpPr>
        <p:spPr>
          <a:xfrm>
            <a:off x="17820282" y="1908839"/>
            <a:ext cx="191753" cy="205104"/>
          </a:xfrm>
          <a:custGeom>
            <a:avLst/>
            <a:gdLst/>
            <a:ahLst/>
            <a:cxnLst/>
            <a:rect l="l" t="t" r="r" b="b"/>
            <a:pathLst>
              <a:path w="191769" h="205105">
                <a:moveTo>
                  <a:pt x="134594" y="0"/>
                </a:moveTo>
                <a:lnTo>
                  <a:pt x="107111" y="10083"/>
                </a:lnTo>
                <a:lnTo>
                  <a:pt x="131279" y="75958"/>
                </a:lnTo>
                <a:lnTo>
                  <a:pt x="51663" y="105168"/>
                </a:lnTo>
                <a:lnTo>
                  <a:pt x="27495" y="39306"/>
                </a:lnTo>
                <a:lnTo>
                  <a:pt x="0" y="49390"/>
                </a:lnTo>
                <a:lnTo>
                  <a:pt x="57149" y="205079"/>
                </a:lnTo>
                <a:lnTo>
                  <a:pt x="84632" y="194995"/>
                </a:lnTo>
                <a:lnTo>
                  <a:pt x="60883" y="130301"/>
                </a:lnTo>
                <a:lnTo>
                  <a:pt x="140500" y="101079"/>
                </a:lnTo>
                <a:lnTo>
                  <a:pt x="164249" y="165773"/>
                </a:lnTo>
                <a:lnTo>
                  <a:pt x="191731" y="155689"/>
                </a:lnTo>
                <a:lnTo>
                  <a:pt x="1345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10"/>
          <p:cNvGrpSpPr/>
          <p:nvPr userDrawn="1"/>
        </p:nvGrpSpPr>
        <p:grpSpPr>
          <a:xfrm>
            <a:off x="18244257" y="1009079"/>
            <a:ext cx="222232" cy="285115"/>
            <a:chOff x="18245780" y="1009076"/>
            <a:chExt cx="222250" cy="285115"/>
          </a:xfrm>
        </p:grpSpPr>
        <p:pic>
          <p:nvPicPr>
            <p:cNvPr id="4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45780" y="1009076"/>
              <a:ext cx="195656" cy="110337"/>
            </a:xfrm>
            <a:prstGeom prst="rect">
              <a:avLst/>
            </a:prstGeom>
          </p:spPr>
        </p:pic>
        <p:pic>
          <p:nvPicPr>
            <p:cNvPr id="4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87106" y="1157724"/>
              <a:ext cx="180898" cy="136232"/>
            </a:xfrm>
            <a:prstGeom prst="rect">
              <a:avLst/>
            </a:prstGeom>
          </p:spPr>
        </p:pic>
      </p:grpSp>
      <p:sp>
        <p:nvSpPr>
          <p:cNvPr id="43" name="object 13"/>
          <p:cNvSpPr/>
          <p:nvPr userDrawn="1"/>
        </p:nvSpPr>
        <p:spPr>
          <a:xfrm>
            <a:off x="17980252" y="1665020"/>
            <a:ext cx="342236" cy="314960"/>
          </a:xfrm>
          <a:custGeom>
            <a:avLst/>
            <a:gdLst/>
            <a:ahLst/>
            <a:cxnLst/>
            <a:rect l="l" t="t" r="r" b="b"/>
            <a:pathLst>
              <a:path w="342265" h="314960">
                <a:moveTo>
                  <a:pt x="176580" y="314921"/>
                </a:moveTo>
                <a:lnTo>
                  <a:pt x="166763" y="267843"/>
                </a:lnTo>
                <a:lnTo>
                  <a:pt x="155105" y="211848"/>
                </a:lnTo>
                <a:lnTo>
                  <a:pt x="139687" y="137909"/>
                </a:lnTo>
                <a:lnTo>
                  <a:pt x="139687" y="267843"/>
                </a:lnTo>
                <a:lnTo>
                  <a:pt x="88138" y="242697"/>
                </a:lnTo>
                <a:lnTo>
                  <a:pt x="104648" y="229857"/>
                </a:lnTo>
                <a:lnTo>
                  <a:pt x="127812" y="211848"/>
                </a:lnTo>
                <a:lnTo>
                  <a:pt x="139687" y="267843"/>
                </a:lnTo>
                <a:lnTo>
                  <a:pt x="139687" y="137909"/>
                </a:lnTo>
                <a:lnTo>
                  <a:pt x="136893" y="124498"/>
                </a:lnTo>
                <a:lnTo>
                  <a:pt x="113169" y="142938"/>
                </a:lnTo>
                <a:lnTo>
                  <a:pt x="121754" y="183286"/>
                </a:lnTo>
                <a:lnTo>
                  <a:pt x="61861" y="229857"/>
                </a:lnTo>
                <a:lnTo>
                  <a:pt x="24714" y="211734"/>
                </a:lnTo>
                <a:lnTo>
                  <a:pt x="0" y="230949"/>
                </a:lnTo>
                <a:lnTo>
                  <a:pt x="176580" y="314921"/>
                </a:lnTo>
                <a:close/>
              </a:path>
              <a:path w="342265" h="314960">
                <a:moveTo>
                  <a:pt x="341782" y="135039"/>
                </a:moveTo>
                <a:lnTo>
                  <a:pt x="272897" y="56362"/>
                </a:lnTo>
                <a:lnTo>
                  <a:pt x="259803" y="23876"/>
                </a:lnTo>
                <a:lnTo>
                  <a:pt x="262445" y="15557"/>
                </a:lnTo>
                <a:lnTo>
                  <a:pt x="265010" y="10477"/>
                </a:lnTo>
                <a:lnTo>
                  <a:pt x="235331" y="0"/>
                </a:lnTo>
                <a:lnTo>
                  <a:pt x="232435" y="7048"/>
                </a:lnTo>
                <a:lnTo>
                  <a:pt x="230466" y="14109"/>
                </a:lnTo>
                <a:lnTo>
                  <a:pt x="229387" y="21107"/>
                </a:lnTo>
                <a:lnTo>
                  <a:pt x="229196" y="28016"/>
                </a:lnTo>
                <a:lnTo>
                  <a:pt x="231571" y="41402"/>
                </a:lnTo>
                <a:lnTo>
                  <a:pt x="236639" y="54089"/>
                </a:lnTo>
                <a:lnTo>
                  <a:pt x="243598" y="65760"/>
                </a:lnTo>
                <a:lnTo>
                  <a:pt x="251625" y="76111"/>
                </a:lnTo>
                <a:lnTo>
                  <a:pt x="304952" y="137985"/>
                </a:lnTo>
                <a:lnTo>
                  <a:pt x="275475" y="173558"/>
                </a:lnTo>
                <a:lnTo>
                  <a:pt x="168148" y="84658"/>
                </a:lnTo>
                <a:lnTo>
                  <a:pt x="149491" y="107188"/>
                </a:lnTo>
                <a:lnTo>
                  <a:pt x="277215" y="212979"/>
                </a:lnTo>
                <a:lnTo>
                  <a:pt x="341782" y="135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object 14"/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17624729" y="1961574"/>
            <a:ext cx="172947" cy="180428"/>
          </a:xfrm>
          <a:prstGeom prst="rect">
            <a:avLst/>
          </a:prstGeom>
        </p:spPr>
      </p:pic>
      <p:sp>
        <p:nvSpPr>
          <p:cNvPr id="45" name="object 15"/>
          <p:cNvSpPr/>
          <p:nvPr userDrawn="1"/>
        </p:nvSpPr>
        <p:spPr>
          <a:xfrm>
            <a:off x="18233517" y="1506520"/>
            <a:ext cx="205723" cy="191135"/>
          </a:xfrm>
          <a:custGeom>
            <a:avLst/>
            <a:gdLst/>
            <a:ahLst/>
            <a:cxnLst/>
            <a:rect l="l" t="t" r="r" b="b"/>
            <a:pathLst>
              <a:path w="205740" h="191135">
                <a:moveTo>
                  <a:pt x="50038" y="0"/>
                </a:moveTo>
                <a:lnTo>
                  <a:pt x="39738" y="27152"/>
                </a:lnTo>
                <a:lnTo>
                  <a:pt x="169799" y="76466"/>
                </a:lnTo>
                <a:lnTo>
                  <a:pt x="140449" y="153885"/>
                </a:lnTo>
                <a:lnTo>
                  <a:pt x="10388" y="104571"/>
                </a:lnTo>
                <a:lnTo>
                  <a:pt x="0" y="131940"/>
                </a:lnTo>
                <a:lnTo>
                  <a:pt x="155079" y="190754"/>
                </a:lnTo>
                <a:lnTo>
                  <a:pt x="205117" y="58813"/>
                </a:lnTo>
                <a:lnTo>
                  <a:pt x="5003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6"/>
          <p:cNvSpPr/>
          <p:nvPr userDrawn="1"/>
        </p:nvSpPr>
        <p:spPr>
          <a:xfrm>
            <a:off x="17019403" y="752395"/>
            <a:ext cx="226041" cy="232410"/>
          </a:xfrm>
          <a:custGeom>
            <a:avLst/>
            <a:gdLst/>
            <a:ahLst/>
            <a:cxnLst/>
            <a:rect l="l" t="t" r="r" b="b"/>
            <a:pathLst>
              <a:path w="226059" h="232409">
                <a:moveTo>
                  <a:pt x="99987" y="0"/>
                </a:moveTo>
                <a:lnTo>
                  <a:pt x="98818" y="167982"/>
                </a:lnTo>
                <a:lnTo>
                  <a:pt x="19659" y="95186"/>
                </a:lnTo>
                <a:lnTo>
                  <a:pt x="0" y="116560"/>
                </a:lnTo>
                <a:lnTo>
                  <a:pt x="125996" y="232409"/>
                </a:lnTo>
                <a:lnTo>
                  <a:pt x="126999" y="64604"/>
                </a:lnTo>
                <a:lnTo>
                  <a:pt x="206159" y="137388"/>
                </a:lnTo>
                <a:lnTo>
                  <a:pt x="225971" y="115836"/>
                </a:lnTo>
                <a:lnTo>
                  <a:pt x="999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17"/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7706690" y="540799"/>
            <a:ext cx="183246" cy="191198"/>
          </a:xfrm>
          <a:prstGeom prst="rect">
            <a:avLst/>
          </a:prstGeom>
        </p:spPr>
      </p:pic>
      <p:sp>
        <p:nvSpPr>
          <p:cNvPr id="48" name="object 18"/>
          <p:cNvSpPr/>
          <p:nvPr userDrawn="1"/>
        </p:nvSpPr>
        <p:spPr>
          <a:xfrm>
            <a:off x="17185680" y="565150"/>
            <a:ext cx="365095" cy="277495"/>
          </a:xfrm>
          <a:custGeom>
            <a:avLst/>
            <a:gdLst/>
            <a:ahLst/>
            <a:cxnLst/>
            <a:rect l="l" t="t" r="r" b="b"/>
            <a:pathLst>
              <a:path w="365125" h="277494">
                <a:moveTo>
                  <a:pt x="209638" y="200850"/>
                </a:moveTo>
                <a:lnTo>
                  <a:pt x="121373" y="60439"/>
                </a:lnTo>
                <a:lnTo>
                  <a:pt x="96583" y="76022"/>
                </a:lnTo>
                <a:lnTo>
                  <a:pt x="133261" y="134366"/>
                </a:lnTo>
                <a:lnTo>
                  <a:pt x="61455" y="179501"/>
                </a:lnTo>
                <a:lnTo>
                  <a:pt x="24790" y="121158"/>
                </a:lnTo>
                <a:lnTo>
                  <a:pt x="0" y="136740"/>
                </a:lnTo>
                <a:lnTo>
                  <a:pt x="88265" y="277152"/>
                </a:lnTo>
                <a:lnTo>
                  <a:pt x="113055" y="261569"/>
                </a:lnTo>
                <a:lnTo>
                  <a:pt x="75704" y="202158"/>
                </a:lnTo>
                <a:lnTo>
                  <a:pt x="147510" y="157022"/>
                </a:lnTo>
                <a:lnTo>
                  <a:pt x="184848" y="216433"/>
                </a:lnTo>
                <a:lnTo>
                  <a:pt x="209638" y="200850"/>
                </a:lnTo>
                <a:close/>
              </a:path>
              <a:path w="365125" h="277494">
                <a:moveTo>
                  <a:pt x="364934" y="126530"/>
                </a:moveTo>
                <a:lnTo>
                  <a:pt x="339445" y="112725"/>
                </a:lnTo>
                <a:lnTo>
                  <a:pt x="332193" y="123850"/>
                </a:lnTo>
                <a:lnTo>
                  <a:pt x="323176" y="132816"/>
                </a:lnTo>
                <a:lnTo>
                  <a:pt x="312559" y="139496"/>
                </a:lnTo>
                <a:lnTo>
                  <a:pt x="300520" y="143713"/>
                </a:lnTo>
                <a:lnTo>
                  <a:pt x="288569" y="145110"/>
                </a:lnTo>
                <a:lnTo>
                  <a:pt x="276961" y="143916"/>
                </a:lnTo>
                <a:lnTo>
                  <a:pt x="241465" y="119773"/>
                </a:lnTo>
                <a:lnTo>
                  <a:pt x="231736" y="75946"/>
                </a:lnTo>
                <a:lnTo>
                  <a:pt x="239102" y="55283"/>
                </a:lnTo>
                <a:lnTo>
                  <a:pt x="253669" y="39357"/>
                </a:lnTo>
                <a:lnTo>
                  <a:pt x="274307" y="30060"/>
                </a:lnTo>
                <a:lnTo>
                  <a:pt x="287096" y="28651"/>
                </a:lnTo>
                <a:lnTo>
                  <a:pt x="299669" y="30162"/>
                </a:lnTo>
                <a:lnTo>
                  <a:pt x="311454" y="34391"/>
                </a:lnTo>
                <a:lnTo>
                  <a:pt x="321906" y="41122"/>
                </a:lnTo>
                <a:lnTo>
                  <a:pt x="337705" y="15189"/>
                </a:lnTo>
                <a:lnTo>
                  <a:pt x="321056" y="5829"/>
                </a:lnTo>
                <a:lnTo>
                  <a:pt x="304190" y="889"/>
                </a:lnTo>
                <a:lnTo>
                  <a:pt x="286651" y="0"/>
                </a:lnTo>
                <a:lnTo>
                  <a:pt x="268008" y="2768"/>
                </a:lnTo>
                <a:lnTo>
                  <a:pt x="235699" y="17246"/>
                </a:lnTo>
                <a:lnTo>
                  <a:pt x="213169" y="41541"/>
                </a:lnTo>
                <a:lnTo>
                  <a:pt x="201815" y="72351"/>
                </a:lnTo>
                <a:lnTo>
                  <a:pt x="203022" y="106362"/>
                </a:lnTo>
                <a:lnTo>
                  <a:pt x="216877" y="137985"/>
                </a:lnTo>
                <a:lnTo>
                  <a:pt x="240449" y="160667"/>
                </a:lnTo>
                <a:lnTo>
                  <a:pt x="271259" y="172351"/>
                </a:lnTo>
                <a:lnTo>
                  <a:pt x="306806" y="171005"/>
                </a:lnTo>
                <a:lnTo>
                  <a:pt x="325843" y="164642"/>
                </a:lnTo>
                <a:lnTo>
                  <a:pt x="341782" y="155079"/>
                </a:lnTo>
                <a:lnTo>
                  <a:pt x="354761" y="142367"/>
                </a:lnTo>
                <a:lnTo>
                  <a:pt x="364934" y="1265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19"/>
          <p:cNvSpPr/>
          <p:nvPr userDrawn="1"/>
        </p:nvSpPr>
        <p:spPr>
          <a:xfrm>
            <a:off x="17917053" y="583999"/>
            <a:ext cx="140959" cy="184150"/>
          </a:xfrm>
          <a:custGeom>
            <a:avLst/>
            <a:gdLst/>
            <a:ahLst/>
            <a:cxnLst/>
            <a:rect l="l" t="t" r="r" b="b"/>
            <a:pathLst>
              <a:path w="140969" h="184150">
                <a:moveTo>
                  <a:pt x="23571" y="0"/>
                </a:moveTo>
                <a:lnTo>
                  <a:pt x="12369" y="24549"/>
                </a:lnTo>
                <a:lnTo>
                  <a:pt x="57619" y="45186"/>
                </a:lnTo>
                <a:lnTo>
                  <a:pt x="0" y="171526"/>
                </a:lnTo>
                <a:lnTo>
                  <a:pt x="26644" y="183680"/>
                </a:lnTo>
                <a:lnTo>
                  <a:pt x="84264" y="57340"/>
                </a:lnTo>
                <a:lnTo>
                  <a:pt x="129539" y="77990"/>
                </a:lnTo>
                <a:lnTo>
                  <a:pt x="140741" y="53428"/>
                </a:lnTo>
                <a:lnTo>
                  <a:pt x="235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0"/>
          <p:cNvSpPr/>
          <p:nvPr userDrawn="1"/>
        </p:nvSpPr>
        <p:spPr>
          <a:xfrm>
            <a:off x="17557367" y="539999"/>
            <a:ext cx="130164" cy="170180"/>
          </a:xfrm>
          <a:custGeom>
            <a:avLst/>
            <a:gdLst/>
            <a:ahLst/>
            <a:cxnLst/>
            <a:rect l="l" t="t" r="r" b="b"/>
            <a:pathLst>
              <a:path w="130175" h="170179">
                <a:moveTo>
                  <a:pt x="128549" y="0"/>
                </a:moveTo>
                <a:lnTo>
                  <a:pt x="0" y="7493"/>
                </a:lnTo>
                <a:lnTo>
                  <a:pt x="1574" y="34429"/>
                </a:lnTo>
                <a:lnTo>
                  <a:pt x="51206" y="31546"/>
                </a:lnTo>
                <a:lnTo>
                  <a:pt x="59283" y="170167"/>
                </a:lnTo>
                <a:lnTo>
                  <a:pt x="88518" y="168465"/>
                </a:lnTo>
                <a:lnTo>
                  <a:pt x="80441" y="29845"/>
                </a:lnTo>
                <a:lnTo>
                  <a:pt x="130124" y="26949"/>
                </a:lnTo>
                <a:lnTo>
                  <a:pt x="1285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1"/>
          <p:cNvSpPr/>
          <p:nvPr userDrawn="1"/>
        </p:nvSpPr>
        <p:spPr>
          <a:xfrm>
            <a:off x="18022198" y="654837"/>
            <a:ext cx="299060" cy="286385"/>
          </a:xfrm>
          <a:custGeom>
            <a:avLst/>
            <a:gdLst/>
            <a:ahLst/>
            <a:cxnLst/>
            <a:rect l="l" t="t" r="r" b="b"/>
            <a:pathLst>
              <a:path w="299084" h="286384">
                <a:moveTo>
                  <a:pt x="195567" y="98145"/>
                </a:moveTo>
                <a:lnTo>
                  <a:pt x="170484" y="79400"/>
                </a:lnTo>
                <a:lnTo>
                  <a:pt x="82880" y="120294"/>
                </a:lnTo>
                <a:lnTo>
                  <a:pt x="84937" y="100215"/>
                </a:lnTo>
                <a:lnTo>
                  <a:pt x="91859" y="20574"/>
                </a:lnTo>
                <a:lnTo>
                  <a:pt x="64350" y="0"/>
                </a:lnTo>
                <a:lnTo>
                  <a:pt x="53962" y="133807"/>
                </a:lnTo>
                <a:lnTo>
                  <a:pt x="0" y="158978"/>
                </a:lnTo>
                <a:lnTo>
                  <a:pt x="24650" y="177419"/>
                </a:lnTo>
                <a:lnTo>
                  <a:pt x="195567" y="98145"/>
                </a:lnTo>
                <a:close/>
              </a:path>
              <a:path w="299084" h="286384">
                <a:moveTo>
                  <a:pt x="299021" y="218668"/>
                </a:moveTo>
                <a:lnTo>
                  <a:pt x="216801" y="119570"/>
                </a:lnTo>
                <a:lnTo>
                  <a:pt x="196024" y="136804"/>
                </a:lnTo>
                <a:lnTo>
                  <a:pt x="227774" y="175069"/>
                </a:lnTo>
                <a:lnTo>
                  <a:pt x="120904" y="263740"/>
                </a:lnTo>
                <a:lnTo>
                  <a:pt x="139598" y="286270"/>
                </a:lnTo>
                <a:lnTo>
                  <a:pt x="246468" y="197612"/>
                </a:lnTo>
                <a:lnTo>
                  <a:pt x="278244" y="235902"/>
                </a:lnTo>
                <a:lnTo>
                  <a:pt x="299021" y="2186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2"/>
          <p:cNvSpPr/>
          <p:nvPr userDrawn="1"/>
        </p:nvSpPr>
        <p:spPr>
          <a:xfrm>
            <a:off x="17910826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3"/>
          <p:cNvSpPr/>
          <p:nvPr userDrawn="1"/>
        </p:nvSpPr>
        <p:spPr>
          <a:xfrm>
            <a:off x="17654144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4"/>
          <p:cNvSpPr/>
          <p:nvPr userDrawn="1"/>
        </p:nvSpPr>
        <p:spPr>
          <a:xfrm>
            <a:off x="17397473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5"/>
          <p:cNvSpPr txBox="1">
            <a:spLocks noGrp="1"/>
          </p:cNvSpPr>
          <p:nvPr>
            <p:ph type="title"/>
          </p:nvPr>
        </p:nvSpPr>
        <p:spPr>
          <a:xfrm>
            <a:off x="2177983" y="4617443"/>
            <a:ext cx="5878974" cy="190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-11" dirty="0">
                <a:solidFill>
                  <a:srgbClr val="FFFFFF"/>
                </a:solidFill>
              </a:rPr>
              <a:t>ЗАГОЛОВОК</a:t>
            </a:r>
            <a:endParaRPr sz="6100"/>
          </a:p>
          <a:p>
            <a:pPr marL="12700">
              <a:lnSpc>
                <a:spcPct val="100000"/>
              </a:lnSpc>
            </a:pPr>
            <a:r>
              <a:rPr sz="6100" spc="-11" dirty="0">
                <a:solidFill>
                  <a:srgbClr val="FFFFFF"/>
                </a:solidFill>
              </a:rPr>
              <a:t>ПРЕЗЕНТАЦИИ</a:t>
            </a:r>
            <a:endParaRPr sz="6100"/>
          </a:p>
        </p:txBody>
      </p:sp>
      <p:sp>
        <p:nvSpPr>
          <p:cNvPr id="59" name="Текст 58"/>
          <p:cNvSpPr>
            <a:spLocks noGrp="1"/>
          </p:cNvSpPr>
          <p:nvPr>
            <p:ph type="body" sz="quarter" idx="10" hasCustomPrompt="1"/>
          </p:nvPr>
        </p:nvSpPr>
        <p:spPr>
          <a:xfrm>
            <a:off x="2143525" y="8423722"/>
            <a:ext cx="2180463" cy="732978"/>
          </a:xfrm>
        </p:spPr>
        <p:txBody>
          <a:bodyPr wrap="none">
            <a:no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 sz="4800" b="0"/>
            </a:lvl1pPr>
            <a:lvl3pPr marL="914446" marR="0" indent="0" defTabSz="9144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3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800" b="1" spc="-11" dirty="0">
                <a:solidFill>
                  <a:srgbClr val="FFFFFF"/>
                </a:solidFill>
                <a:latin typeface="Circe Bold"/>
                <a:cs typeface="Circe Bold"/>
              </a:rPr>
              <a:t>Подзаголовок</a:t>
            </a:r>
            <a:endParaRPr lang="ru-RU" sz="1800" dirty="0">
              <a:latin typeface="Circe Bold"/>
              <a:cs typeface="Circe Bold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30942"/>
          </a:xfrm>
        </p:spPr>
        <p:txBody>
          <a:bodyPr lIns="0" tIns="0" rIns="0" bIns="0"/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463507" y="9944862"/>
            <a:ext cx="6083300" cy="53467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50516" y="9944862"/>
            <a:ext cx="4372372" cy="53467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0221F-0849-457D-A12B-BB39F50736CA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2"/>
          <p:cNvSpPr/>
          <p:nvPr userDrawn="1"/>
        </p:nvSpPr>
        <p:spPr>
          <a:xfrm>
            <a:off x="2" y="0"/>
            <a:ext cx="12491312" cy="10692130"/>
          </a:xfrm>
          <a:custGeom>
            <a:avLst/>
            <a:gdLst/>
            <a:ahLst/>
            <a:cxnLst/>
            <a:rect l="l" t="t" r="r" b="b"/>
            <a:pathLst>
              <a:path w="12492355" h="10692130">
                <a:moveTo>
                  <a:pt x="12491999" y="0"/>
                </a:moveTo>
                <a:lnTo>
                  <a:pt x="0" y="0"/>
                </a:lnTo>
                <a:lnTo>
                  <a:pt x="0" y="10692003"/>
                </a:lnTo>
                <a:lnTo>
                  <a:pt x="12491999" y="10692003"/>
                </a:lnTo>
                <a:lnTo>
                  <a:pt x="12491999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12781484" y="546100"/>
            <a:ext cx="5790717" cy="630942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12781484" y="1993901"/>
            <a:ext cx="5790717" cy="14773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 userDrawn="1"/>
        </p:nvSpPr>
        <p:spPr>
          <a:xfrm>
            <a:off x="2136072" y="1341008"/>
            <a:ext cx="15532708" cy="8028305"/>
          </a:xfrm>
          <a:custGeom>
            <a:avLst/>
            <a:gdLst/>
            <a:ahLst/>
            <a:cxnLst/>
            <a:rect l="l" t="t" r="r" b="b"/>
            <a:pathLst>
              <a:path w="15534005" h="8028305">
                <a:moveTo>
                  <a:pt x="6037021" y="0"/>
                </a:moveTo>
                <a:lnTo>
                  <a:pt x="1512125" y="0"/>
                </a:lnTo>
                <a:lnTo>
                  <a:pt x="0" y="3409149"/>
                </a:lnTo>
                <a:lnTo>
                  <a:pt x="2207069" y="5963386"/>
                </a:lnTo>
                <a:lnTo>
                  <a:pt x="2241420" y="6001669"/>
                </a:lnTo>
                <a:lnTo>
                  <a:pt x="2277103" y="6038562"/>
                </a:lnTo>
                <a:lnTo>
                  <a:pt x="2314075" y="6074036"/>
                </a:lnTo>
                <a:lnTo>
                  <a:pt x="2352292" y="6108059"/>
                </a:lnTo>
                <a:lnTo>
                  <a:pt x="2391709" y="6140602"/>
                </a:lnTo>
                <a:lnTo>
                  <a:pt x="2432281" y="6171635"/>
                </a:lnTo>
                <a:lnTo>
                  <a:pt x="2473966" y="6201129"/>
                </a:lnTo>
                <a:lnTo>
                  <a:pt x="2516718" y="6229052"/>
                </a:lnTo>
                <a:lnTo>
                  <a:pt x="2560493" y="6255375"/>
                </a:lnTo>
                <a:lnTo>
                  <a:pt x="2605248" y="6280067"/>
                </a:lnTo>
                <a:lnTo>
                  <a:pt x="2650938" y="6303100"/>
                </a:lnTo>
                <a:lnTo>
                  <a:pt x="2697518" y="6324443"/>
                </a:lnTo>
                <a:lnTo>
                  <a:pt x="2744945" y="6344065"/>
                </a:lnTo>
                <a:lnTo>
                  <a:pt x="2793174" y="6361938"/>
                </a:lnTo>
                <a:lnTo>
                  <a:pt x="4352886" y="6906895"/>
                </a:lnTo>
                <a:lnTo>
                  <a:pt x="4401560" y="6924957"/>
                </a:lnTo>
                <a:lnTo>
                  <a:pt x="4449387" y="6944827"/>
                </a:lnTo>
                <a:lnTo>
                  <a:pt x="4496324" y="6966471"/>
                </a:lnTo>
                <a:lnTo>
                  <a:pt x="4542324" y="6989857"/>
                </a:lnTo>
                <a:lnTo>
                  <a:pt x="4587340" y="7014952"/>
                </a:lnTo>
                <a:lnTo>
                  <a:pt x="4631327" y="7041722"/>
                </a:lnTo>
                <a:lnTo>
                  <a:pt x="4674240" y="7070134"/>
                </a:lnTo>
                <a:lnTo>
                  <a:pt x="4716031" y="7100155"/>
                </a:lnTo>
                <a:lnTo>
                  <a:pt x="4756655" y="7131753"/>
                </a:lnTo>
                <a:lnTo>
                  <a:pt x="4796067" y="7164894"/>
                </a:lnTo>
                <a:lnTo>
                  <a:pt x="4834219" y="7199545"/>
                </a:lnTo>
                <a:lnTo>
                  <a:pt x="4871066" y="7235673"/>
                </a:lnTo>
                <a:lnTo>
                  <a:pt x="4906563" y="7273245"/>
                </a:lnTo>
                <a:lnTo>
                  <a:pt x="4940663" y="7312227"/>
                </a:lnTo>
                <a:lnTo>
                  <a:pt x="4973320" y="7352588"/>
                </a:lnTo>
                <a:lnTo>
                  <a:pt x="5498642" y="8028000"/>
                </a:lnTo>
                <a:lnTo>
                  <a:pt x="15533636" y="8028000"/>
                </a:lnTo>
                <a:lnTo>
                  <a:pt x="15533636" y="2749308"/>
                </a:lnTo>
                <a:lnTo>
                  <a:pt x="6490296" y="65824"/>
                </a:lnTo>
                <a:lnTo>
                  <a:pt x="6441058" y="52070"/>
                </a:lnTo>
                <a:lnTo>
                  <a:pt x="6391447" y="39913"/>
                </a:lnTo>
                <a:lnTo>
                  <a:pt x="6341502" y="29358"/>
                </a:lnTo>
                <a:lnTo>
                  <a:pt x="6291262" y="20411"/>
                </a:lnTo>
                <a:lnTo>
                  <a:pt x="6240768" y="13078"/>
                </a:lnTo>
                <a:lnTo>
                  <a:pt x="6190057" y="7365"/>
                </a:lnTo>
                <a:lnTo>
                  <a:pt x="6139170" y="3277"/>
                </a:lnTo>
                <a:lnTo>
                  <a:pt x="6088144" y="820"/>
                </a:lnTo>
                <a:lnTo>
                  <a:pt x="6037021" y="0"/>
                </a:lnTo>
                <a:close/>
              </a:path>
            </a:pathLst>
          </a:custGeom>
          <a:solidFill>
            <a:srgbClr val="3F9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10563918" y="6658024"/>
            <a:ext cx="6014218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45" dirty="0">
                <a:solidFill>
                  <a:srgbClr val="FFFFFF"/>
                </a:solidFill>
              </a:rPr>
              <a:t>ШМУТЦ-</a:t>
            </a:r>
            <a:r>
              <a:rPr sz="6100" spc="-20" dirty="0">
                <a:solidFill>
                  <a:srgbClr val="FFFFFF"/>
                </a:solidFill>
              </a:rPr>
              <a:t>ТИТУЛ</a:t>
            </a:r>
            <a:endParaRPr sz="6100" dirty="0"/>
          </a:p>
        </p:txBody>
      </p:sp>
      <p:grpSp>
        <p:nvGrpSpPr>
          <p:cNvPr id="6" name="object 4"/>
          <p:cNvGrpSpPr/>
          <p:nvPr userDrawn="1"/>
        </p:nvGrpSpPr>
        <p:grpSpPr>
          <a:xfrm>
            <a:off x="16870416" y="540002"/>
            <a:ext cx="1596256" cy="1602105"/>
            <a:chOff x="16871822" y="539999"/>
            <a:chExt cx="1596390" cy="1602105"/>
          </a:xfrm>
        </p:grpSpPr>
        <p:sp>
          <p:nvSpPr>
            <p:cNvPr id="7" name="object 5"/>
            <p:cNvSpPr/>
            <p:nvPr/>
          </p:nvSpPr>
          <p:spPr>
            <a:xfrm>
              <a:off x="16883380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9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  <p:sp>
          <p:nvSpPr>
            <p:cNvPr id="10" name="object 8"/>
            <p:cNvSpPr/>
            <p:nvPr/>
          </p:nvSpPr>
          <p:spPr>
            <a:xfrm>
              <a:off x="17821770" y="1665020"/>
              <a:ext cx="502284" cy="448945"/>
            </a:xfrm>
            <a:custGeom>
              <a:avLst/>
              <a:gdLst/>
              <a:ahLst/>
              <a:cxnLst/>
              <a:rect l="l" t="t" r="r" b="b"/>
              <a:pathLst>
                <a:path w="502284" h="448944">
                  <a:moveTo>
                    <a:pt x="191731" y="399516"/>
                  </a:moveTo>
                  <a:lnTo>
                    <a:pt x="134594" y="243827"/>
                  </a:lnTo>
                  <a:lnTo>
                    <a:pt x="107111" y="253911"/>
                  </a:lnTo>
                  <a:lnTo>
                    <a:pt x="131279" y="319786"/>
                  </a:lnTo>
                  <a:lnTo>
                    <a:pt x="51663" y="348996"/>
                  </a:lnTo>
                  <a:lnTo>
                    <a:pt x="27495" y="283133"/>
                  </a:lnTo>
                  <a:lnTo>
                    <a:pt x="0" y="293217"/>
                  </a:lnTo>
                  <a:lnTo>
                    <a:pt x="57150" y="448906"/>
                  </a:lnTo>
                  <a:lnTo>
                    <a:pt x="84632" y="438823"/>
                  </a:lnTo>
                  <a:lnTo>
                    <a:pt x="60883" y="374129"/>
                  </a:lnTo>
                  <a:lnTo>
                    <a:pt x="140500" y="344906"/>
                  </a:lnTo>
                  <a:lnTo>
                    <a:pt x="164249" y="409600"/>
                  </a:lnTo>
                  <a:lnTo>
                    <a:pt x="191731" y="399516"/>
                  </a:lnTo>
                  <a:close/>
                </a:path>
                <a:path w="502284" h="448944">
                  <a:moveTo>
                    <a:pt x="336562" y="314921"/>
                  </a:moveTo>
                  <a:lnTo>
                    <a:pt x="326745" y="267843"/>
                  </a:lnTo>
                  <a:lnTo>
                    <a:pt x="315087" y="211848"/>
                  </a:lnTo>
                  <a:lnTo>
                    <a:pt x="299669" y="137909"/>
                  </a:lnTo>
                  <a:lnTo>
                    <a:pt x="299669" y="267843"/>
                  </a:lnTo>
                  <a:lnTo>
                    <a:pt x="248119" y="242697"/>
                  </a:lnTo>
                  <a:lnTo>
                    <a:pt x="264629" y="229857"/>
                  </a:lnTo>
                  <a:lnTo>
                    <a:pt x="287794" y="211848"/>
                  </a:lnTo>
                  <a:lnTo>
                    <a:pt x="299669" y="267843"/>
                  </a:lnTo>
                  <a:lnTo>
                    <a:pt x="299669" y="137909"/>
                  </a:lnTo>
                  <a:lnTo>
                    <a:pt x="296875" y="124498"/>
                  </a:lnTo>
                  <a:lnTo>
                    <a:pt x="273151" y="142938"/>
                  </a:lnTo>
                  <a:lnTo>
                    <a:pt x="281736" y="183286"/>
                  </a:lnTo>
                  <a:lnTo>
                    <a:pt x="221843" y="229857"/>
                  </a:lnTo>
                  <a:lnTo>
                    <a:pt x="184696" y="211734"/>
                  </a:lnTo>
                  <a:lnTo>
                    <a:pt x="159981" y="230949"/>
                  </a:lnTo>
                  <a:lnTo>
                    <a:pt x="336562" y="314921"/>
                  </a:lnTo>
                  <a:close/>
                </a:path>
                <a:path w="502284" h="448944">
                  <a:moveTo>
                    <a:pt x="501764" y="135039"/>
                  </a:moveTo>
                  <a:lnTo>
                    <a:pt x="432879" y="56362"/>
                  </a:lnTo>
                  <a:lnTo>
                    <a:pt x="419785" y="23876"/>
                  </a:lnTo>
                  <a:lnTo>
                    <a:pt x="422427" y="15557"/>
                  </a:lnTo>
                  <a:lnTo>
                    <a:pt x="424992" y="10477"/>
                  </a:lnTo>
                  <a:lnTo>
                    <a:pt x="395312" y="0"/>
                  </a:lnTo>
                  <a:lnTo>
                    <a:pt x="392417" y="7048"/>
                  </a:lnTo>
                  <a:lnTo>
                    <a:pt x="390448" y="14109"/>
                  </a:lnTo>
                  <a:lnTo>
                    <a:pt x="389369" y="21107"/>
                  </a:lnTo>
                  <a:lnTo>
                    <a:pt x="389178" y="28016"/>
                  </a:lnTo>
                  <a:lnTo>
                    <a:pt x="391553" y="41402"/>
                  </a:lnTo>
                  <a:lnTo>
                    <a:pt x="396621" y="54089"/>
                  </a:lnTo>
                  <a:lnTo>
                    <a:pt x="403580" y="65760"/>
                  </a:lnTo>
                  <a:lnTo>
                    <a:pt x="411607" y="76111"/>
                  </a:lnTo>
                  <a:lnTo>
                    <a:pt x="464934" y="137985"/>
                  </a:lnTo>
                  <a:lnTo>
                    <a:pt x="435457" y="173558"/>
                  </a:lnTo>
                  <a:lnTo>
                    <a:pt x="328129" y="84658"/>
                  </a:lnTo>
                  <a:lnTo>
                    <a:pt x="309473" y="107188"/>
                  </a:lnTo>
                  <a:lnTo>
                    <a:pt x="437197" y="212979"/>
                  </a:lnTo>
                  <a:lnTo>
                    <a:pt x="501764" y="1350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26197" y="1961574"/>
              <a:ext cx="172961" cy="180428"/>
            </a:xfrm>
            <a:prstGeom prst="rect">
              <a:avLst/>
            </a:prstGeom>
          </p:spPr>
        </p:pic>
        <p:pic>
          <p:nvPicPr>
            <p:cNvPr id="12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91968" y="1328017"/>
              <a:ext cx="175856" cy="155067"/>
            </a:xfrm>
            <a:prstGeom prst="rect">
              <a:avLst/>
            </a:prstGeom>
          </p:spPr>
        </p:pic>
        <p:pic>
          <p:nvPicPr>
            <p:cNvPr id="13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45781" y="1009076"/>
              <a:ext cx="195656" cy="110337"/>
            </a:xfrm>
            <a:prstGeom prst="rect">
              <a:avLst/>
            </a:prstGeom>
          </p:spPr>
        </p:pic>
        <p:pic>
          <p:nvPicPr>
            <p:cNvPr id="14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287107" y="1157724"/>
              <a:ext cx="180898" cy="136232"/>
            </a:xfrm>
            <a:prstGeom prst="rect">
              <a:avLst/>
            </a:prstGeom>
          </p:spPr>
        </p:pic>
        <p:sp>
          <p:nvSpPr>
            <p:cNvPr id="15" name="object 13"/>
            <p:cNvSpPr/>
            <p:nvPr/>
          </p:nvSpPr>
          <p:spPr>
            <a:xfrm>
              <a:off x="17020820" y="752398"/>
              <a:ext cx="1419860" cy="944880"/>
            </a:xfrm>
            <a:custGeom>
              <a:avLst/>
              <a:gdLst/>
              <a:ahLst/>
              <a:cxnLst/>
              <a:rect l="l" t="t" r="r" b="b"/>
              <a:pathLst>
                <a:path w="1419859" h="944880">
                  <a:moveTo>
                    <a:pt x="225971" y="115836"/>
                  </a:moveTo>
                  <a:lnTo>
                    <a:pt x="99987" y="0"/>
                  </a:lnTo>
                  <a:lnTo>
                    <a:pt x="98818" y="167982"/>
                  </a:lnTo>
                  <a:lnTo>
                    <a:pt x="19659" y="95186"/>
                  </a:lnTo>
                  <a:lnTo>
                    <a:pt x="0" y="116560"/>
                  </a:lnTo>
                  <a:lnTo>
                    <a:pt x="125996" y="232410"/>
                  </a:lnTo>
                  <a:lnTo>
                    <a:pt x="127000" y="64604"/>
                  </a:lnTo>
                  <a:lnTo>
                    <a:pt x="206159" y="137388"/>
                  </a:lnTo>
                  <a:lnTo>
                    <a:pt x="225971" y="115836"/>
                  </a:lnTo>
                  <a:close/>
                </a:path>
                <a:path w="1419859" h="944880">
                  <a:moveTo>
                    <a:pt x="1419326" y="812939"/>
                  </a:moveTo>
                  <a:lnTo>
                    <a:pt x="1264246" y="754126"/>
                  </a:lnTo>
                  <a:lnTo>
                    <a:pt x="1253947" y="781278"/>
                  </a:lnTo>
                  <a:lnTo>
                    <a:pt x="1384007" y="830592"/>
                  </a:lnTo>
                  <a:lnTo>
                    <a:pt x="1354658" y="908011"/>
                  </a:lnTo>
                  <a:lnTo>
                    <a:pt x="1224597" y="858697"/>
                  </a:lnTo>
                  <a:lnTo>
                    <a:pt x="1214208" y="886066"/>
                  </a:lnTo>
                  <a:lnTo>
                    <a:pt x="1369288" y="944880"/>
                  </a:lnTo>
                  <a:lnTo>
                    <a:pt x="1419326" y="8129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708167" y="540799"/>
              <a:ext cx="183261" cy="191198"/>
            </a:xfrm>
            <a:prstGeom prst="rect">
              <a:avLst/>
            </a:prstGeom>
          </p:spPr>
        </p:pic>
        <p:sp>
          <p:nvSpPr>
            <p:cNvPr id="17" name="object 15"/>
            <p:cNvSpPr/>
            <p:nvPr/>
          </p:nvSpPr>
          <p:spPr>
            <a:xfrm>
              <a:off x="17187113" y="540003"/>
              <a:ext cx="1136015" cy="1062990"/>
            </a:xfrm>
            <a:custGeom>
              <a:avLst/>
              <a:gdLst/>
              <a:ahLst/>
              <a:cxnLst/>
              <a:rect l="l" t="t" r="r" b="b"/>
              <a:pathLst>
                <a:path w="1136015" h="1062990">
                  <a:moveTo>
                    <a:pt x="209638" y="225996"/>
                  </a:moveTo>
                  <a:lnTo>
                    <a:pt x="121373" y="85585"/>
                  </a:lnTo>
                  <a:lnTo>
                    <a:pt x="96583" y="101168"/>
                  </a:lnTo>
                  <a:lnTo>
                    <a:pt x="133261" y="159512"/>
                  </a:lnTo>
                  <a:lnTo>
                    <a:pt x="61455" y="204647"/>
                  </a:lnTo>
                  <a:lnTo>
                    <a:pt x="24790" y="146304"/>
                  </a:lnTo>
                  <a:lnTo>
                    <a:pt x="0" y="161886"/>
                  </a:lnTo>
                  <a:lnTo>
                    <a:pt x="88265" y="302298"/>
                  </a:lnTo>
                  <a:lnTo>
                    <a:pt x="113055" y="286715"/>
                  </a:lnTo>
                  <a:lnTo>
                    <a:pt x="75704" y="227304"/>
                  </a:lnTo>
                  <a:lnTo>
                    <a:pt x="147510" y="182168"/>
                  </a:lnTo>
                  <a:lnTo>
                    <a:pt x="184848" y="241579"/>
                  </a:lnTo>
                  <a:lnTo>
                    <a:pt x="209638" y="225996"/>
                  </a:lnTo>
                  <a:close/>
                </a:path>
                <a:path w="1136015" h="1062990">
                  <a:moveTo>
                    <a:pt x="240347" y="539280"/>
                  </a:moveTo>
                  <a:lnTo>
                    <a:pt x="211810" y="539280"/>
                  </a:lnTo>
                  <a:lnTo>
                    <a:pt x="211810" y="1062710"/>
                  </a:lnTo>
                  <a:lnTo>
                    <a:pt x="240347" y="1062710"/>
                  </a:lnTo>
                  <a:lnTo>
                    <a:pt x="240347" y="539280"/>
                  </a:lnTo>
                  <a:close/>
                </a:path>
                <a:path w="1136015" h="1062990">
                  <a:moveTo>
                    <a:pt x="364934" y="151676"/>
                  </a:moveTo>
                  <a:lnTo>
                    <a:pt x="339445" y="137871"/>
                  </a:lnTo>
                  <a:lnTo>
                    <a:pt x="332193" y="148996"/>
                  </a:lnTo>
                  <a:lnTo>
                    <a:pt x="323176" y="157962"/>
                  </a:lnTo>
                  <a:lnTo>
                    <a:pt x="312559" y="164642"/>
                  </a:lnTo>
                  <a:lnTo>
                    <a:pt x="300520" y="168859"/>
                  </a:lnTo>
                  <a:lnTo>
                    <a:pt x="288569" y="170256"/>
                  </a:lnTo>
                  <a:lnTo>
                    <a:pt x="276961" y="169062"/>
                  </a:lnTo>
                  <a:lnTo>
                    <a:pt x="241465" y="144919"/>
                  </a:lnTo>
                  <a:lnTo>
                    <a:pt x="231736" y="101092"/>
                  </a:lnTo>
                  <a:lnTo>
                    <a:pt x="239102" y="80429"/>
                  </a:lnTo>
                  <a:lnTo>
                    <a:pt x="253669" y="64503"/>
                  </a:lnTo>
                  <a:lnTo>
                    <a:pt x="274307" y="55206"/>
                  </a:lnTo>
                  <a:lnTo>
                    <a:pt x="287096" y="53797"/>
                  </a:lnTo>
                  <a:lnTo>
                    <a:pt x="299669" y="55308"/>
                  </a:lnTo>
                  <a:lnTo>
                    <a:pt x="311454" y="59537"/>
                  </a:lnTo>
                  <a:lnTo>
                    <a:pt x="321906" y="66268"/>
                  </a:lnTo>
                  <a:lnTo>
                    <a:pt x="337705" y="40335"/>
                  </a:lnTo>
                  <a:lnTo>
                    <a:pt x="321056" y="30975"/>
                  </a:lnTo>
                  <a:lnTo>
                    <a:pt x="304190" y="26035"/>
                  </a:lnTo>
                  <a:lnTo>
                    <a:pt x="286651" y="25146"/>
                  </a:lnTo>
                  <a:lnTo>
                    <a:pt x="268008" y="27914"/>
                  </a:lnTo>
                  <a:lnTo>
                    <a:pt x="235699" y="42392"/>
                  </a:lnTo>
                  <a:lnTo>
                    <a:pt x="213169" y="66687"/>
                  </a:lnTo>
                  <a:lnTo>
                    <a:pt x="201815" y="97497"/>
                  </a:lnTo>
                  <a:lnTo>
                    <a:pt x="203022" y="131508"/>
                  </a:lnTo>
                  <a:lnTo>
                    <a:pt x="216877" y="163131"/>
                  </a:lnTo>
                  <a:lnTo>
                    <a:pt x="240449" y="185813"/>
                  </a:lnTo>
                  <a:lnTo>
                    <a:pt x="271259" y="197497"/>
                  </a:lnTo>
                  <a:lnTo>
                    <a:pt x="306806" y="196151"/>
                  </a:lnTo>
                  <a:lnTo>
                    <a:pt x="325843" y="189788"/>
                  </a:lnTo>
                  <a:lnTo>
                    <a:pt x="341782" y="180225"/>
                  </a:lnTo>
                  <a:lnTo>
                    <a:pt x="354761" y="167513"/>
                  </a:lnTo>
                  <a:lnTo>
                    <a:pt x="364934" y="151676"/>
                  </a:lnTo>
                  <a:close/>
                </a:path>
                <a:path w="1136015" h="1062990">
                  <a:moveTo>
                    <a:pt x="497039" y="539280"/>
                  </a:moveTo>
                  <a:lnTo>
                    <a:pt x="468503" y="539280"/>
                  </a:lnTo>
                  <a:lnTo>
                    <a:pt x="468503" y="1062710"/>
                  </a:lnTo>
                  <a:lnTo>
                    <a:pt x="497039" y="1062710"/>
                  </a:lnTo>
                  <a:lnTo>
                    <a:pt x="497039" y="539280"/>
                  </a:lnTo>
                  <a:close/>
                </a:path>
                <a:path w="1136015" h="1062990">
                  <a:moveTo>
                    <a:pt x="501840" y="26949"/>
                  </a:moveTo>
                  <a:lnTo>
                    <a:pt x="500265" y="0"/>
                  </a:lnTo>
                  <a:lnTo>
                    <a:pt x="371716" y="7493"/>
                  </a:lnTo>
                  <a:lnTo>
                    <a:pt x="373291" y="34429"/>
                  </a:lnTo>
                  <a:lnTo>
                    <a:pt x="422922" y="31546"/>
                  </a:lnTo>
                  <a:lnTo>
                    <a:pt x="430999" y="170167"/>
                  </a:lnTo>
                  <a:lnTo>
                    <a:pt x="460235" y="168465"/>
                  </a:lnTo>
                  <a:lnTo>
                    <a:pt x="452158" y="29845"/>
                  </a:lnTo>
                  <a:lnTo>
                    <a:pt x="501840" y="26949"/>
                  </a:lnTo>
                  <a:close/>
                </a:path>
                <a:path w="1136015" h="1062990">
                  <a:moveTo>
                    <a:pt x="753745" y="539280"/>
                  </a:moveTo>
                  <a:lnTo>
                    <a:pt x="725195" y="539280"/>
                  </a:lnTo>
                  <a:lnTo>
                    <a:pt x="725195" y="1062710"/>
                  </a:lnTo>
                  <a:lnTo>
                    <a:pt x="753745" y="1062710"/>
                  </a:lnTo>
                  <a:lnTo>
                    <a:pt x="753745" y="539280"/>
                  </a:lnTo>
                  <a:close/>
                </a:path>
                <a:path w="1136015" h="1062990">
                  <a:moveTo>
                    <a:pt x="872172" y="97434"/>
                  </a:moveTo>
                  <a:lnTo>
                    <a:pt x="755002" y="44005"/>
                  </a:lnTo>
                  <a:lnTo>
                    <a:pt x="743800" y="68554"/>
                  </a:lnTo>
                  <a:lnTo>
                    <a:pt x="789051" y="89192"/>
                  </a:lnTo>
                  <a:lnTo>
                    <a:pt x="731431" y="215531"/>
                  </a:lnTo>
                  <a:lnTo>
                    <a:pt x="758075" y="227685"/>
                  </a:lnTo>
                  <a:lnTo>
                    <a:pt x="815695" y="101346"/>
                  </a:lnTo>
                  <a:lnTo>
                    <a:pt x="860971" y="121996"/>
                  </a:lnTo>
                  <a:lnTo>
                    <a:pt x="872172" y="97434"/>
                  </a:lnTo>
                  <a:close/>
                </a:path>
                <a:path w="1136015" h="1062990">
                  <a:moveTo>
                    <a:pt x="1032154" y="212979"/>
                  </a:moveTo>
                  <a:lnTo>
                    <a:pt x="1007071" y="194233"/>
                  </a:lnTo>
                  <a:lnTo>
                    <a:pt x="919467" y="235127"/>
                  </a:lnTo>
                  <a:lnTo>
                    <a:pt x="921524" y="215049"/>
                  </a:lnTo>
                  <a:lnTo>
                    <a:pt x="928446" y="135407"/>
                  </a:lnTo>
                  <a:lnTo>
                    <a:pt x="900938" y="114833"/>
                  </a:lnTo>
                  <a:lnTo>
                    <a:pt x="890549" y="248640"/>
                  </a:lnTo>
                  <a:lnTo>
                    <a:pt x="836587" y="273812"/>
                  </a:lnTo>
                  <a:lnTo>
                    <a:pt x="861237" y="292252"/>
                  </a:lnTo>
                  <a:lnTo>
                    <a:pt x="1032154" y="212979"/>
                  </a:lnTo>
                  <a:close/>
                </a:path>
                <a:path w="1136015" h="1062990">
                  <a:moveTo>
                    <a:pt x="1135608" y="333502"/>
                  </a:moveTo>
                  <a:lnTo>
                    <a:pt x="1053388" y="234403"/>
                  </a:lnTo>
                  <a:lnTo>
                    <a:pt x="1032611" y="251637"/>
                  </a:lnTo>
                  <a:lnTo>
                    <a:pt x="1064361" y="289902"/>
                  </a:lnTo>
                  <a:lnTo>
                    <a:pt x="957491" y="378574"/>
                  </a:lnTo>
                  <a:lnTo>
                    <a:pt x="976185" y="401104"/>
                  </a:lnTo>
                  <a:lnTo>
                    <a:pt x="1083056" y="312445"/>
                  </a:lnTo>
                  <a:lnTo>
                    <a:pt x="1114831" y="350735"/>
                  </a:lnTo>
                  <a:lnTo>
                    <a:pt x="1135608" y="3335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Прямоугольник 18"/>
          <p:cNvSpPr/>
          <p:nvPr userDrawn="1"/>
        </p:nvSpPr>
        <p:spPr>
          <a:xfrm>
            <a:off x="14076776" y="9918700"/>
            <a:ext cx="3962069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105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8055176" y="10091361"/>
            <a:ext cx="462641" cy="29238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75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5" y="546101"/>
            <a:ext cx="17631873" cy="461665"/>
          </a:xfrm>
        </p:spPr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Circe Bold"/>
                <a:cs typeface="Circe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50516" y="2459482"/>
            <a:ext cx="826948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790311" y="2459482"/>
            <a:ext cx="826948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rgbClr val="44626F"/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rgbClr val="44626F"/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22694036" y="10091362"/>
            <a:ext cx="581506" cy="246221"/>
          </a:xfrm>
        </p:spPr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pPr marL="67938">
              <a:spcBef>
                <a:spcPts val="105"/>
              </a:spcBef>
            </a:pPr>
            <a:fld id="{81D60167-4931-47E6-BA6A-407CBD079E47}" type="slidenum">
              <a:rPr lang="ru-RU" spc="-25" smtClean="0">
                <a:solidFill>
                  <a:srgbClr val="062D3F"/>
                </a:solidFill>
              </a:rPr>
              <a:pPr marL="67938">
                <a:spcBef>
                  <a:spcPts val="105"/>
                </a:spcBef>
              </a:pPr>
              <a:t>‹#›</a:t>
            </a:fld>
            <a:endParaRPr lang="ru-RU" spc="-25" dirty="0">
              <a:solidFill>
                <a:srgbClr val="062D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0469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image" Target="../media/image7.png"/><Relationship Id="rId15" Type="http://schemas.openxmlformats.org/officeDocument/2006/relationships/image" Target="../media/image8.png"/><Relationship Id="rId16" Type="http://schemas.openxmlformats.org/officeDocument/2006/relationships/image" Target="../media/image9.png"/><Relationship Id="rId17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5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6695" y="2025390"/>
            <a:ext cx="1710928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grpSp>
        <p:nvGrpSpPr>
          <p:cNvPr id="38" name="Группа 37"/>
          <p:cNvGrpSpPr/>
          <p:nvPr userDrawn="1"/>
        </p:nvGrpSpPr>
        <p:grpSpPr>
          <a:xfrm>
            <a:off x="14305357" y="10147300"/>
            <a:ext cx="3269931" cy="144434"/>
            <a:chOff x="14496003" y="10008003"/>
            <a:chExt cx="3270204" cy="144434"/>
          </a:xfrm>
        </p:grpSpPr>
        <p:sp>
          <p:nvSpPr>
            <p:cNvPr id="7" name="object 2"/>
            <p:cNvSpPr/>
            <p:nvPr userDrawn="1"/>
          </p:nvSpPr>
          <p:spPr>
            <a:xfrm>
              <a:off x="15935233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3"/>
            <p:cNvSpPr/>
            <p:nvPr userDrawn="1"/>
          </p:nvSpPr>
          <p:spPr>
            <a:xfrm>
              <a:off x="15935224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4"/>
            <p:cNvSpPr/>
            <p:nvPr userDrawn="1"/>
          </p:nvSpPr>
          <p:spPr>
            <a:xfrm>
              <a:off x="15486570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90" y="21590"/>
                  </a:lnTo>
                  <a:lnTo>
                    <a:pt x="39890" y="133350"/>
                  </a:lnTo>
                  <a:lnTo>
                    <a:pt x="63360" y="133350"/>
                  </a:lnTo>
                  <a:lnTo>
                    <a:pt x="63360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5"/>
            <p:cNvSpPr/>
            <p:nvPr userDrawn="1"/>
          </p:nvSpPr>
          <p:spPr>
            <a:xfrm>
              <a:off x="16094555" y="10036339"/>
              <a:ext cx="23495" cy="111760"/>
            </a:xfrm>
            <a:custGeom>
              <a:avLst/>
              <a:gdLst/>
              <a:ahLst/>
              <a:cxnLst/>
              <a:rect l="l" t="t" r="r" b="b"/>
              <a:pathLst>
                <a:path w="23494" h="111759">
                  <a:moveTo>
                    <a:pt x="0" y="111760"/>
                  </a:moveTo>
                  <a:lnTo>
                    <a:pt x="23279" y="111760"/>
                  </a:lnTo>
                  <a:lnTo>
                    <a:pt x="23279" y="0"/>
                  </a:lnTo>
                  <a:lnTo>
                    <a:pt x="0" y="0"/>
                  </a:lnTo>
                  <a:lnTo>
                    <a:pt x="0" y="11176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6"/>
            <p:cNvSpPr/>
            <p:nvPr userDrawn="1"/>
          </p:nvSpPr>
          <p:spPr>
            <a:xfrm>
              <a:off x="16094546" y="10014749"/>
              <a:ext cx="113664" cy="133350"/>
            </a:xfrm>
            <a:custGeom>
              <a:avLst/>
              <a:gdLst/>
              <a:ahLst/>
              <a:cxnLst/>
              <a:rect l="l" t="t" r="r" b="b"/>
              <a:pathLst>
                <a:path w="113665" h="133350">
                  <a:moveTo>
                    <a:pt x="113182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89687" y="21590"/>
                  </a:lnTo>
                  <a:lnTo>
                    <a:pt x="89687" y="133350"/>
                  </a:lnTo>
                  <a:lnTo>
                    <a:pt x="113182" y="133350"/>
                  </a:lnTo>
                  <a:lnTo>
                    <a:pt x="113182" y="21590"/>
                  </a:lnTo>
                  <a:lnTo>
                    <a:pt x="113182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7"/>
            <p:cNvSpPr/>
            <p:nvPr userDrawn="1"/>
          </p:nvSpPr>
          <p:spPr>
            <a:xfrm>
              <a:off x="15341624" y="10015080"/>
              <a:ext cx="131445" cy="133350"/>
            </a:xfrm>
            <a:custGeom>
              <a:avLst/>
              <a:gdLst/>
              <a:ahLst/>
              <a:cxnLst/>
              <a:rect l="l" t="t" r="r" b="b"/>
              <a:pathLst>
                <a:path w="131444" h="133350">
                  <a:moveTo>
                    <a:pt x="131381" y="0"/>
                  </a:moveTo>
                  <a:lnTo>
                    <a:pt x="106299" y="0"/>
                  </a:lnTo>
                  <a:lnTo>
                    <a:pt x="69672" y="68351"/>
                  </a:lnTo>
                  <a:lnTo>
                    <a:pt x="61341" y="54470"/>
                  </a:lnTo>
                  <a:lnTo>
                    <a:pt x="27533" y="0"/>
                  </a:lnTo>
                  <a:lnTo>
                    <a:pt x="0" y="0"/>
                  </a:lnTo>
                  <a:lnTo>
                    <a:pt x="57581" y="90906"/>
                  </a:lnTo>
                  <a:lnTo>
                    <a:pt x="35026" y="133019"/>
                  </a:lnTo>
                  <a:lnTo>
                    <a:pt x="59715" y="133019"/>
                  </a:lnTo>
                  <a:lnTo>
                    <a:pt x="13138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8"/>
            <p:cNvSpPr/>
            <p:nvPr userDrawn="1"/>
          </p:nvSpPr>
          <p:spPr>
            <a:xfrm>
              <a:off x="15804846" y="10014749"/>
              <a:ext cx="90805" cy="133350"/>
            </a:xfrm>
            <a:custGeom>
              <a:avLst/>
              <a:gdLst/>
              <a:ahLst/>
              <a:cxnLst/>
              <a:rect l="l" t="t" r="r" b="b"/>
              <a:pathLst>
                <a:path w="90805" h="133350">
                  <a:moveTo>
                    <a:pt x="90284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55880"/>
                  </a:lnTo>
                  <a:lnTo>
                    <a:pt x="0" y="76200"/>
                  </a:lnTo>
                  <a:lnTo>
                    <a:pt x="0" y="111760"/>
                  </a:lnTo>
                  <a:lnTo>
                    <a:pt x="0" y="133350"/>
                  </a:lnTo>
                  <a:lnTo>
                    <a:pt x="90284" y="133350"/>
                  </a:lnTo>
                  <a:lnTo>
                    <a:pt x="90284" y="111760"/>
                  </a:lnTo>
                  <a:lnTo>
                    <a:pt x="23482" y="111760"/>
                  </a:lnTo>
                  <a:lnTo>
                    <a:pt x="23482" y="76200"/>
                  </a:lnTo>
                  <a:lnTo>
                    <a:pt x="84226" y="76200"/>
                  </a:lnTo>
                  <a:lnTo>
                    <a:pt x="84226" y="55880"/>
                  </a:lnTo>
                  <a:lnTo>
                    <a:pt x="23482" y="55880"/>
                  </a:lnTo>
                  <a:lnTo>
                    <a:pt x="23482" y="21590"/>
                  </a:lnTo>
                  <a:lnTo>
                    <a:pt x="90284" y="21590"/>
                  </a:lnTo>
                  <a:lnTo>
                    <a:pt x="90284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9"/>
            <p:cNvSpPr/>
            <p:nvPr userDrawn="1"/>
          </p:nvSpPr>
          <p:spPr>
            <a:xfrm>
              <a:off x="15689846" y="10014749"/>
              <a:ext cx="87630" cy="133350"/>
            </a:xfrm>
            <a:custGeom>
              <a:avLst/>
              <a:gdLst/>
              <a:ahLst/>
              <a:cxnLst/>
              <a:rect l="l" t="t" r="r" b="b"/>
              <a:pathLst>
                <a:path w="87630" h="133350">
                  <a:moveTo>
                    <a:pt x="8726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133350"/>
                  </a:lnTo>
                  <a:lnTo>
                    <a:pt x="23495" y="133350"/>
                  </a:lnTo>
                  <a:lnTo>
                    <a:pt x="23495" y="21590"/>
                  </a:lnTo>
                  <a:lnTo>
                    <a:pt x="87261" y="21590"/>
                  </a:lnTo>
                  <a:lnTo>
                    <a:pt x="8726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0"/>
            <p:cNvSpPr/>
            <p:nvPr userDrawn="1"/>
          </p:nvSpPr>
          <p:spPr>
            <a:xfrm>
              <a:off x="14661205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1"/>
            <p:cNvSpPr/>
            <p:nvPr userDrawn="1"/>
          </p:nvSpPr>
          <p:spPr>
            <a:xfrm>
              <a:off x="14661198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2"/>
            <p:cNvSpPr/>
            <p:nvPr userDrawn="1"/>
          </p:nvSpPr>
          <p:spPr>
            <a:xfrm>
              <a:off x="15225408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78" y="21590"/>
                  </a:lnTo>
                  <a:lnTo>
                    <a:pt x="39878" y="133350"/>
                  </a:lnTo>
                  <a:lnTo>
                    <a:pt x="63373" y="133350"/>
                  </a:lnTo>
                  <a:lnTo>
                    <a:pt x="63373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3"/>
            <p:cNvPicPr/>
            <p:nvPr userDrawn="1"/>
          </p:nvPicPr>
          <p:blipFill>
            <a:blip r:embed="rId8" cstate="print"/>
            <a:stretch>
              <a:fillRect/>
            </a:stretch>
          </p:blipFill>
          <p:spPr>
            <a:xfrm>
              <a:off x="14496003" y="10010832"/>
              <a:ext cx="123088" cy="141516"/>
            </a:xfrm>
            <a:prstGeom prst="rect">
              <a:avLst/>
            </a:prstGeom>
          </p:spPr>
        </p:pic>
        <p:grpSp>
          <p:nvGrpSpPr>
            <p:cNvPr id="19" name="object 14"/>
            <p:cNvGrpSpPr/>
            <p:nvPr userDrawn="1"/>
          </p:nvGrpSpPr>
          <p:grpSpPr>
            <a:xfrm>
              <a:off x="14806764" y="10010832"/>
              <a:ext cx="392430" cy="141605"/>
              <a:chOff x="14806764" y="10010832"/>
              <a:chExt cx="392430" cy="141605"/>
            </a:xfrm>
          </p:grpSpPr>
          <p:pic>
            <p:nvPicPr>
              <p:cNvPr id="20" name="object 15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4806764" y="10012257"/>
                <a:ext cx="241731" cy="138480"/>
              </a:xfrm>
              <a:prstGeom prst="rect">
                <a:avLst/>
              </a:prstGeom>
            </p:spPr>
          </p:pic>
          <p:pic>
            <p:nvPicPr>
              <p:cNvPr id="21" name="object 16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5075509" y="10010832"/>
                <a:ext cx="123088" cy="141516"/>
              </a:xfrm>
              <a:prstGeom prst="rect">
                <a:avLst/>
              </a:prstGeom>
            </p:spPr>
          </p:pic>
        </p:grpSp>
        <p:sp>
          <p:nvSpPr>
            <p:cNvPr id="22" name="object 17"/>
            <p:cNvSpPr/>
            <p:nvPr userDrawn="1"/>
          </p:nvSpPr>
          <p:spPr>
            <a:xfrm>
              <a:off x="16538937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8"/>
            <p:cNvSpPr/>
            <p:nvPr userDrawn="1"/>
          </p:nvSpPr>
          <p:spPr>
            <a:xfrm>
              <a:off x="16538931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5189" y="0"/>
                  </a:moveTo>
                  <a:lnTo>
                    <a:pt x="91706" y="0"/>
                  </a:lnTo>
                  <a:lnTo>
                    <a:pt x="91706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706" y="77470"/>
                  </a:lnTo>
                  <a:lnTo>
                    <a:pt x="91706" y="133350"/>
                  </a:lnTo>
                  <a:lnTo>
                    <a:pt x="115189" y="133350"/>
                  </a:lnTo>
                  <a:lnTo>
                    <a:pt x="115189" y="77470"/>
                  </a:lnTo>
                  <a:lnTo>
                    <a:pt x="115189" y="55880"/>
                  </a:lnTo>
                  <a:lnTo>
                    <a:pt x="11518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19"/>
            <p:cNvPicPr/>
            <p:nvPr userDrawn="1"/>
          </p:nvPicPr>
          <p:blipFill>
            <a:blip r:embed="rId11" cstate="print"/>
            <a:stretch>
              <a:fillRect/>
            </a:stretch>
          </p:blipFill>
          <p:spPr>
            <a:xfrm>
              <a:off x="17064702" y="10012253"/>
              <a:ext cx="139903" cy="138671"/>
            </a:xfrm>
            <a:prstGeom prst="rect">
              <a:avLst/>
            </a:prstGeom>
          </p:spPr>
        </p:pic>
        <p:sp>
          <p:nvSpPr>
            <p:cNvPr id="25" name="object 20"/>
            <p:cNvSpPr/>
            <p:nvPr userDrawn="1"/>
          </p:nvSpPr>
          <p:spPr>
            <a:xfrm>
              <a:off x="17646556" y="10014684"/>
              <a:ext cx="78105" cy="133985"/>
            </a:xfrm>
            <a:custGeom>
              <a:avLst/>
              <a:gdLst/>
              <a:ahLst/>
              <a:cxnLst/>
              <a:rect l="l" t="t" r="r" b="b"/>
              <a:pathLst>
                <a:path w="78105" h="133984">
                  <a:moveTo>
                    <a:pt x="2346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9959" y="133413"/>
                  </a:lnTo>
                  <a:lnTo>
                    <a:pt x="48471" y="131044"/>
                  </a:lnTo>
                  <a:lnTo>
                    <a:pt x="63741" y="123723"/>
                  </a:lnTo>
                  <a:lnTo>
                    <a:pt x="72431" y="113169"/>
                  </a:lnTo>
                  <a:lnTo>
                    <a:pt x="23469" y="113169"/>
                  </a:lnTo>
                  <a:lnTo>
                    <a:pt x="23469" y="72682"/>
                  </a:lnTo>
                  <a:lnTo>
                    <a:pt x="73128" y="72682"/>
                  </a:lnTo>
                  <a:lnTo>
                    <a:pt x="63665" y="61264"/>
                  </a:lnTo>
                  <a:lnTo>
                    <a:pt x="48386" y="54349"/>
                  </a:lnTo>
                  <a:lnTo>
                    <a:pt x="29959" y="52235"/>
                  </a:lnTo>
                  <a:lnTo>
                    <a:pt x="23469" y="52235"/>
                  </a:lnTo>
                  <a:lnTo>
                    <a:pt x="23469" y="0"/>
                  </a:lnTo>
                  <a:close/>
                </a:path>
                <a:path w="78105" h="133984">
                  <a:moveTo>
                    <a:pt x="73128" y="72682"/>
                  </a:moveTo>
                  <a:lnTo>
                    <a:pt x="29959" y="72682"/>
                  </a:lnTo>
                  <a:lnTo>
                    <a:pt x="42001" y="74362"/>
                  </a:lnTo>
                  <a:lnTo>
                    <a:pt x="49945" y="78851"/>
                  </a:lnTo>
                  <a:lnTo>
                    <a:pt x="54323" y="85315"/>
                  </a:lnTo>
                  <a:lnTo>
                    <a:pt x="55664" y="92925"/>
                  </a:lnTo>
                  <a:lnTo>
                    <a:pt x="54351" y="100530"/>
                  </a:lnTo>
                  <a:lnTo>
                    <a:pt x="50022" y="106995"/>
                  </a:lnTo>
                  <a:lnTo>
                    <a:pt x="42087" y="111487"/>
                  </a:lnTo>
                  <a:lnTo>
                    <a:pt x="29959" y="113169"/>
                  </a:lnTo>
                  <a:lnTo>
                    <a:pt x="72431" y="113169"/>
                  </a:lnTo>
                  <a:lnTo>
                    <a:pt x="74114" y="111125"/>
                  </a:lnTo>
                  <a:lnTo>
                    <a:pt x="77939" y="92925"/>
                  </a:lnTo>
                  <a:lnTo>
                    <a:pt x="74086" y="73837"/>
                  </a:lnTo>
                  <a:lnTo>
                    <a:pt x="73128" y="72682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1"/>
            <p:cNvPicPr/>
            <p:nvPr userDrawn="1"/>
          </p:nvPicPr>
          <p:blipFill>
            <a:blip r:embed="rId12" cstate="print"/>
            <a:stretch>
              <a:fillRect/>
            </a:stretch>
          </p:blipFill>
          <p:spPr>
            <a:xfrm>
              <a:off x="17228680" y="10012257"/>
              <a:ext cx="122897" cy="138480"/>
            </a:xfrm>
            <a:prstGeom prst="rect">
              <a:avLst/>
            </a:prstGeom>
          </p:spPr>
        </p:pic>
        <p:sp>
          <p:nvSpPr>
            <p:cNvPr id="27" name="object 22"/>
            <p:cNvSpPr/>
            <p:nvPr userDrawn="1"/>
          </p:nvSpPr>
          <p:spPr>
            <a:xfrm>
              <a:off x="17383354" y="10014686"/>
              <a:ext cx="107314" cy="133985"/>
            </a:xfrm>
            <a:custGeom>
              <a:avLst/>
              <a:gdLst/>
              <a:ahLst/>
              <a:cxnLst/>
              <a:rect l="l" t="t" r="r" b="b"/>
              <a:pathLst>
                <a:path w="107315" h="133984">
                  <a:moveTo>
                    <a:pt x="23482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482" y="133413"/>
                  </a:lnTo>
                  <a:lnTo>
                    <a:pt x="23482" y="62966"/>
                  </a:lnTo>
                  <a:lnTo>
                    <a:pt x="23482" y="0"/>
                  </a:lnTo>
                  <a:close/>
                </a:path>
                <a:path w="107315" h="133984">
                  <a:moveTo>
                    <a:pt x="106908" y="0"/>
                  </a:moveTo>
                  <a:lnTo>
                    <a:pt x="78562" y="0"/>
                  </a:lnTo>
                  <a:lnTo>
                    <a:pt x="23482" y="62966"/>
                  </a:lnTo>
                  <a:lnTo>
                    <a:pt x="78155" y="133413"/>
                  </a:lnTo>
                  <a:lnTo>
                    <a:pt x="106908" y="133413"/>
                  </a:lnTo>
                  <a:lnTo>
                    <a:pt x="51244" y="62280"/>
                  </a:lnTo>
                  <a:lnTo>
                    <a:pt x="106908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3"/>
            <p:cNvPicPr/>
            <p:nvPr userDrawn="1"/>
          </p:nvPicPr>
          <p:blipFill>
            <a:blip r:embed="rId13" cstate="print"/>
            <a:stretch>
              <a:fillRect/>
            </a:stretch>
          </p:blipFill>
          <p:spPr>
            <a:xfrm>
              <a:off x="16676596" y="10008005"/>
              <a:ext cx="139077" cy="140093"/>
            </a:xfrm>
            <a:prstGeom prst="rect">
              <a:avLst/>
            </a:prstGeom>
          </p:spPr>
        </p:pic>
        <p:pic>
          <p:nvPicPr>
            <p:cNvPr id="29" name="object 24"/>
            <p:cNvPicPr/>
            <p:nvPr userDrawn="1"/>
          </p:nvPicPr>
          <p:blipFill>
            <a:blip r:embed="rId14" cstate="print"/>
            <a:stretch>
              <a:fillRect/>
            </a:stretch>
          </p:blipFill>
          <p:spPr>
            <a:xfrm>
              <a:off x="16377378" y="10008005"/>
              <a:ext cx="139077" cy="140093"/>
            </a:xfrm>
            <a:prstGeom prst="rect">
              <a:avLst/>
            </a:prstGeom>
          </p:spPr>
        </p:pic>
        <p:pic>
          <p:nvPicPr>
            <p:cNvPr id="30" name="object 25"/>
            <p:cNvPicPr/>
            <p:nvPr userDrawn="1"/>
          </p:nvPicPr>
          <p:blipFill>
            <a:blip r:embed="rId15" cstate="print"/>
            <a:stretch>
              <a:fillRect/>
            </a:stretch>
          </p:blipFill>
          <p:spPr>
            <a:xfrm>
              <a:off x="17523452" y="10014683"/>
              <a:ext cx="85039" cy="133413"/>
            </a:xfrm>
            <a:prstGeom prst="rect">
              <a:avLst/>
            </a:prstGeom>
          </p:spPr>
        </p:pic>
        <p:sp>
          <p:nvSpPr>
            <p:cNvPr id="31" name="object 26"/>
            <p:cNvSpPr/>
            <p:nvPr userDrawn="1"/>
          </p:nvSpPr>
          <p:spPr>
            <a:xfrm>
              <a:off x="17742712" y="10014687"/>
              <a:ext cx="23495" cy="133985"/>
            </a:xfrm>
            <a:custGeom>
              <a:avLst/>
              <a:gdLst/>
              <a:ahLst/>
              <a:cxnLst/>
              <a:rect l="l" t="t" r="r" b="b"/>
              <a:pathLst>
                <a:path w="23494" h="133984">
                  <a:moveTo>
                    <a:pt x="2327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279" y="133413"/>
                  </a:lnTo>
                  <a:lnTo>
                    <a:pt x="2327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27"/>
            <p:cNvPicPr/>
            <p:nvPr userDrawn="1"/>
          </p:nvPicPr>
          <p:blipFill>
            <a:blip r:embed="rId16" cstate="print"/>
            <a:stretch>
              <a:fillRect/>
            </a:stretch>
          </p:blipFill>
          <p:spPr>
            <a:xfrm>
              <a:off x="16887559" y="10008003"/>
              <a:ext cx="152044" cy="141516"/>
            </a:xfrm>
            <a:prstGeom prst="rect">
              <a:avLst/>
            </a:prstGeom>
          </p:spPr>
        </p:pic>
        <p:pic>
          <p:nvPicPr>
            <p:cNvPr id="33" name="object 28"/>
            <p:cNvPicPr/>
            <p:nvPr userDrawn="1"/>
          </p:nvPicPr>
          <p:blipFill>
            <a:blip r:embed="rId17" cstate="print"/>
            <a:stretch>
              <a:fillRect/>
            </a:stretch>
          </p:blipFill>
          <p:spPr>
            <a:xfrm>
              <a:off x="16236275" y="10015091"/>
              <a:ext cx="118643" cy="134823"/>
            </a:xfrm>
            <a:prstGeom prst="rect">
              <a:avLst/>
            </a:prstGeom>
          </p:spPr>
        </p:pic>
      </p:grpSp>
      <p:sp>
        <p:nvSpPr>
          <p:cNvPr id="34" name="object 29"/>
          <p:cNvSpPr/>
          <p:nvPr userDrawn="1"/>
        </p:nvSpPr>
        <p:spPr>
          <a:xfrm>
            <a:off x="17850557" y="10021300"/>
            <a:ext cx="0" cy="374650"/>
          </a:xfrm>
          <a:custGeom>
            <a:avLst/>
            <a:gdLst/>
            <a:ahLst/>
            <a:cxnLst/>
            <a:rect l="l" t="t" r="r" b="b"/>
            <a:pathLst>
              <a:path h="374650">
                <a:moveTo>
                  <a:pt x="0" y="0"/>
                </a:moveTo>
                <a:lnTo>
                  <a:pt x="0" y="374395"/>
                </a:lnTo>
              </a:path>
            </a:pathLst>
          </a:custGeom>
          <a:ln w="25400">
            <a:solidFill>
              <a:srgbClr val="75707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7" r:id="rId5"/>
    <p:sldLayoutId id="2147483668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2400">
          <a:latin typeface="Circe" panose="020B0502020203020203" pitchFamily="34" charset="-52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0" userDrawn="1">
          <p15:clr>
            <a:srgbClr val="F26B43"/>
          </p15:clr>
        </p15:guide>
        <p15:guide id="2" pos="11699" userDrawn="1">
          <p15:clr>
            <a:srgbClr val="F26B43"/>
          </p15:clr>
        </p15:guide>
        <p15:guide id="3" orient="horz" pos="1256" userDrawn="1">
          <p15:clr>
            <a:srgbClr val="F26B43"/>
          </p15:clr>
        </p15:guide>
        <p15:guide id="4" orient="horz" pos="6104" userDrawn="1">
          <p15:clr>
            <a:srgbClr val="F26B43"/>
          </p15:clr>
        </p15:guide>
      </p15:sldGuideLst>
    </p:ext>
  </p:extLst>
</p:sldMaster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0" name="Номер слайда 2"/>
          <p:cNvSpPr>
            <a:spLocks noGrp="1"/>
          </p:cNvSpPr>
          <p:nvPr>
            <p:ph type="sldNum" sz="quarter" idx="4294967295"/>
          </p:nvPr>
        </p:nvSpPr>
        <p:spPr>
          <a:xfrm>
            <a:off x="18055888" y="10091361"/>
            <a:ext cx="462680" cy="256480"/>
          </a:xfrm>
          <a:prstGeom prst="rect">
            <a:avLst/>
          </a:prstGeom>
        </p:spPr>
        <p:txBody>
          <a:bodyPr/>
          <a:lstStyle/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>
                <a:latin typeface="Circe" panose="020B0502020203020203" pitchFamily="34" charset="-52"/>
              </a:rPr>
              <a:pPr marL="38102">
                <a:lnSpc>
                  <a:spcPts val="1980"/>
                </a:lnSpc>
              </a:pPr>
              <a:t>6</a:t>
            </a:fld>
            <a:endParaRPr lang="ru-RU" dirty="0">
              <a:latin typeface="Circe" panose="020B0502020203020203" pitchFamily="34" charset="-52"/>
            </a:endParaRPr>
          </a:p>
        </p:txBody>
      </p:sp>
      <p:sp>
        <p:nvSpPr>
          <p:cNvPr id="201" name="TextBox 1"/>
          <p:cNvSpPr txBox="1"/>
          <p:nvPr/>
        </p:nvSpPr>
        <p:spPr>
          <a:xfrm>
            <a:off x="1069330" y="784226"/>
            <a:ext cx="16871177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62D3F"/>
                </a:solidFill>
                <a:latin typeface="Circe Bold" panose="020B0602020203020203" pitchFamily="34" charset="-52"/>
              </a:rPr>
              <a:t>ОТ ДИАГНОСТИКИ К ВЫБОРУ СТРАТЕГИИ</a:t>
            </a:r>
            <a:endParaRPr lang="en-US" sz="4000" dirty="0">
              <a:solidFill>
                <a:srgbClr val="062D3F"/>
              </a:solidFill>
              <a:latin typeface="Circe Bold" panose="020B0602020203020203" pitchFamily="34" charset="-52"/>
            </a:endParaRPr>
          </a:p>
        </p:txBody>
      </p:sp>
      <p:sp>
        <p:nvSpPr>
          <p:cNvPr id="202" name="Rectangle 4"/>
          <p:cNvSpPr/>
          <p:nvPr/>
        </p:nvSpPr>
        <p:spPr>
          <a:xfrm>
            <a:off x="1069330" y="1600200"/>
            <a:ext cx="1687165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ru-RU" sz="2200" dirty="0">
                <a:solidFill>
                  <a:srgbClr val="062D3F"/>
                </a:solidFill>
                <a:latin typeface="Circe"/>
              </a:rPr>
              <a:t>Принципиальная схема. После диагностики и анализа среды открывается дерево возможностей</a:t>
            </a:r>
            <a:endParaRPr sz="2200" b="0" dirty="0">
              <a:solidFill>
                <a:srgbClr val="062D3F"/>
              </a:solidFill>
              <a:latin typeface="Circe"/>
            </a:endParaRPr>
          </a:p>
        </p:txBody>
      </p:sp>
      <p:sp>
        <p:nvSpPr>
          <p:cNvPr id="203" name="Шапка диагностики"/>
          <p:cNvSpPr/>
          <p:nvPr/>
        </p:nvSpPr>
        <p:spPr>
          <a:xfrm>
            <a:off x="1069848" y="2331720"/>
            <a:ext cx="4846320" cy="502920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l"/>
            <a:r>
              <a:rPr sz="1600" b="1">
                <a:solidFill>
                  <a:srgbClr val="FFFFFF"/>
                </a:solidFill>
                <a:latin typeface="Circe Bold"/>
              </a:rPr>
              <a:t>ДИАГНОСТИКА</a:t>
            </a:r>
          </a:p>
        </p:txBody>
      </p:sp>
      <p:sp>
        <p:nvSpPr>
          <p:cNvPr id="204" name="Основа данных"/>
          <p:cNvSpPr txBox="1"/>
          <p:nvPr/>
        </p:nvSpPr>
        <p:spPr>
          <a:xfrm>
            <a:off x="1069848" y="2880360"/>
            <a:ext cx="48463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E6B73"/>
                </a:solidFill>
                <a:latin typeface="Circe"/>
              </a:rPr>
              <a:t>по данным БД ПМО, переписей, ВСХП и Росреестра</a:t>
            </a:r>
          </a:p>
        </p:txBody>
      </p:sp>
      <p:sp>
        <p:nvSpPr>
          <p:cNvPr id="205" name="Номер 1"/>
          <p:cNvSpPr/>
          <p:nvPr/>
        </p:nvSpPr>
        <p:spPr>
          <a:xfrm>
            <a:off x="1115568" y="3410711"/>
            <a:ext cx="457200" cy="45720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062D3F"/>
                </a:solidFill>
                <a:latin typeface="Circe Bold"/>
              </a:rPr>
              <a:t>1</a:t>
            </a:r>
          </a:p>
        </p:txBody>
      </p:sp>
      <p:sp>
        <p:nvSpPr>
          <p:cNvPr id="206" name="Блок 1"/>
          <p:cNvSpPr txBox="1"/>
          <p:nvPr/>
        </p:nvSpPr>
        <p:spPr>
          <a:xfrm>
            <a:off x="1801368" y="3291839"/>
            <a:ext cx="41148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Типология сельских территорий</a:t>
            </a:r>
          </a:p>
        </p:txBody>
      </p:sp>
      <p:cxnSp>
        <p:nvCxnSpPr>
          <p:cNvPr id="207" name="Разделитель"/>
          <p:cNvCxnSpPr/>
          <p:nvPr/>
        </p:nvCxnSpPr>
        <p:spPr>
          <a:xfrm>
            <a:off x="1069848" y="3986783"/>
            <a:ext cx="4846320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208" name="Номер 2"/>
          <p:cNvSpPr/>
          <p:nvPr/>
        </p:nvSpPr>
        <p:spPr>
          <a:xfrm>
            <a:off x="1115568" y="4105655"/>
            <a:ext cx="457200" cy="45720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062D3F"/>
                </a:solidFill>
                <a:latin typeface="Circe Bold"/>
              </a:rPr>
              <a:t>2</a:t>
            </a:r>
          </a:p>
        </p:txBody>
      </p:sp>
      <p:sp>
        <p:nvSpPr>
          <p:cNvPr id="209" name="Блок 2"/>
          <p:cNvSpPr txBox="1"/>
          <p:nvPr/>
        </p:nvSpPr>
        <p:spPr>
          <a:xfrm>
            <a:off x="1801368" y="3986783"/>
            <a:ext cx="41148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Природно-ресурсный потенциал</a:t>
            </a:r>
          </a:p>
        </p:txBody>
      </p:sp>
      <p:cxnSp>
        <p:nvCxnSpPr>
          <p:cNvPr id="210" name="Разделитель"/>
          <p:cNvCxnSpPr/>
          <p:nvPr/>
        </p:nvCxnSpPr>
        <p:spPr>
          <a:xfrm>
            <a:off x="1069848" y="4681727"/>
            <a:ext cx="4846320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211" name="Номер 3"/>
          <p:cNvSpPr/>
          <p:nvPr/>
        </p:nvSpPr>
        <p:spPr>
          <a:xfrm>
            <a:off x="1115568" y="4800599"/>
            <a:ext cx="457200" cy="45720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062D3F"/>
                </a:solidFill>
                <a:latin typeface="Circe Bold"/>
              </a:rPr>
              <a:t>3</a:t>
            </a:r>
          </a:p>
        </p:txBody>
      </p:sp>
      <p:sp>
        <p:nvSpPr>
          <p:cNvPr id="212" name="Блок 3"/>
          <p:cNvSpPr txBox="1"/>
          <p:nvPr/>
        </p:nvSpPr>
        <p:spPr>
          <a:xfrm>
            <a:off x="1801368" y="4681727"/>
            <a:ext cx="41148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Население и человеческий потенциал</a:t>
            </a:r>
          </a:p>
        </p:txBody>
      </p:sp>
      <p:cxnSp>
        <p:nvCxnSpPr>
          <p:cNvPr id="213" name="Разделитель"/>
          <p:cNvCxnSpPr/>
          <p:nvPr/>
        </p:nvCxnSpPr>
        <p:spPr>
          <a:xfrm>
            <a:off x="1069848" y="5376671"/>
            <a:ext cx="4846320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214" name="Номер 4"/>
          <p:cNvSpPr/>
          <p:nvPr/>
        </p:nvSpPr>
        <p:spPr>
          <a:xfrm>
            <a:off x="1115568" y="5495543"/>
            <a:ext cx="457200" cy="45720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062D3F"/>
                </a:solidFill>
                <a:latin typeface="Circe Bold"/>
              </a:rPr>
              <a:t>4</a:t>
            </a:r>
          </a:p>
        </p:txBody>
      </p:sp>
      <p:sp>
        <p:nvSpPr>
          <p:cNvPr id="215" name="Блок 4"/>
          <p:cNvSpPr txBox="1"/>
          <p:nvPr/>
        </p:nvSpPr>
        <p:spPr>
          <a:xfrm>
            <a:off x="1801368" y="5376671"/>
            <a:ext cx="41148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Экономика, занятость и доходы населения</a:t>
            </a:r>
          </a:p>
        </p:txBody>
      </p:sp>
      <p:cxnSp>
        <p:nvCxnSpPr>
          <p:cNvPr id="216" name="Разделитель"/>
          <p:cNvCxnSpPr/>
          <p:nvPr/>
        </p:nvCxnSpPr>
        <p:spPr>
          <a:xfrm>
            <a:off x="1069848" y="6071615"/>
            <a:ext cx="4846320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217" name="Номер 5"/>
          <p:cNvSpPr/>
          <p:nvPr/>
        </p:nvSpPr>
        <p:spPr>
          <a:xfrm>
            <a:off x="1115568" y="6190487"/>
            <a:ext cx="457200" cy="45720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062D3F"/>
                </a:solidFill>
                <a:latin typeface="Circe Bold"/>
              </a:rPr>
              <a:t>5</a:t>
            </a:r>
          </a:p>
        </p:txBody>
      </p:sp>
      <p:sp>
        <p:nvSpPr>
          <p:cNvPr id="218" name="Блок 5"/>
          <p:cNvSpPr txBox="1"/>
          <p:nvPr/>
        </p:nvSpPr>
        <p:spPr>
          <a:xfrm>
            <a:off x="1801368" y="6071615"/>
            <a:ext cx="41148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Качество жизни и инфраструктура</a:t>
            </a:r>
          </a:p>
        </p:txBody>
      </p:sp>
      <p:cxnSp>
        <p:nvCxnSpPr>
          <p:cNvPr id="219" name="Разделитель"/>
          <p:cNvCxnSpPr/>
          <p:nvPr/>
        </p:nvCxnSpPr>
        <p:spPr>
          <a:xfrm>
            <a:off x="1069848" y="6766559"/>
            <a:ext cx="4846320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220" name="Номер 6"/>
          <p:cNvSpPr/>
          <p:nvPr/>
        </p:nvSpPr>
        <p:spPr>
          <a:xfrm>
            <a:off x="1115568" y="6885431"/>
            <a:ext cx="457200" cy="45720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062D3F"/>
                </a:solidFill>
                <a:latin typeface="Circe Bold"/>
              </a:rPr>
              <a:t>6</a:t>
            </a:r>
          </a:p>
        </p:txBody>
      </p:sp>
      <p:sp>
        <p:nvSpPr>
          <p:cNvPr id="221" name="Блок 6"/>
          <p:cNvSpPr txBox="1"/>
          <p:nvPr/>
        </p:nvSpPr>
        <p:spPr>
          <a:xfrm>
            <a:off x="1801368" y="6766559"/>
            <a:ext cx="41148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Пространственные ресурсы и ограничения</a:t>
            </a:r>
          </a:p>
        </p:txBody>
      </p:sp>
      <p:cxnSp>
        <p:nvCxnSpPr>
          <p:cNvPr id="222" name="Разделитель"/>
          <p:cNvCxnSpPr/>
          <p:nvPr/>
        </p:nvCxnSpPr>
        <p:spPr>
          <a:xfrm>
            <a:off x="1069848" y="7461503"/>
            <a:ext cx="4846320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223" name="Номер 7"/>
          <p:cNvSpPr/>
          <p:nvPr/>
        </p:nvSpPr>
        <p:spPr>
          <a:xfrm>
            <a:off x="1115568" y="7580375"/>
            <a:ext cx="457200" cy="45720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062D3F"/>
                </a:solidFill>
                <a:latin typeface="Circe Bold"/>
              </a:rPr>
              <a:t>7</a:t>
            </a:r>
          </a:p>
        </p:txBody>
      </p:sp>
      <p:sp>
        <p:nvSpPr>
          <p:cNvPr id="224" name="Блок 7"/>
          <p:cNvSpPr txBox="1"/>
          <p:nvPr/>
        </p:nvSpPr>
        <p:spPr>
          <a:xfrm>
            <a:off x="1801368" y="7461503"/>
            <a:ext cx="41148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Финансовые и управленческие возможности</a:t>
            </a:r>
          </a:p>
        </p:txBody>
      </p:sp>
      <p:cxnSp>
        <p:nvCxnSpPr>
          <p:cNvPr id="225" name="Разделитель"/>
          <p:cNvCxnSpPr/>
          <p:nvPr/>
        </p:nvCxnSpPr>
        <p:spPr>
          <a:xfrm>
            <a:off x="1069848" y="8156447"/>
            <a:ext cx="4846320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226" name="Стрелка к анализу среды"/>
          <p:cNvSpPr/>
          <p:nvPr/>
        </p:nvSpPr>
        <p:spPr>
          <a:xfrm>
            <a:off x="6126480" y="5468111"/>
            <a:ext cx="502920" cy="512064"/>
          </a:xfrm>
          <a:prstGeom prst="rightArrow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Шапка анализа"/>
          <p:cNvSpPr/>
          <p:nvPr/>
        </p:nvSpPr>
        <p:spPr>
          <a:xfrm>
            <a:off x="6812280" y="2331720"/>
            <a:ext cx="3108960" cy="502920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l"/>
            <a:r>
              <a:rPr sz="1600" b="1">
                <a:solidFill>
                  <a:srgbClr val="FFFFFF"/>
                </a:solidFill>
                <a:latin typeface="Circe Bold"/>
              </a:rPr>
              <a:t>АНАЛИЗ СРЕДЫ</a:t>
            </a:r>
          </a:p>
        </p:txBody>
      </p:sp>
      <p:sp>
        <p:nvSpPr>
          <p:cNvPr id="228" name="PEST"/>
          <p:cNvSpPr/>
          <p:nvPr/>
        </p:nvSpPr>
        <p:spPr>
          <a:xfrm>
            <a:off x="6812280" y="3291839"/>
            <a:ext cx="3108960" cy="2331720"/>
          </a:xfrm>
          <a:prstGeom prst="roundRect">
            <a:avLst>
              <a:gd name="adj" fmla="val 6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 wrap="square" lIns="228600" rIns="228600" tIns="0" bIns="0"/>
          <a:lstStyle/>
          <a:p>
            <a:pPr algn="l"/>
            <a:r>
              <a:rPr sz="3000" b="1">
                <a:solidFill>
                  <a:srgbClr val="062D3F"/>
                </a:solidFill>
                <a:latin typeface="Circe Bold"/>
              </a:rPr>
              <a:t>PEST</a:t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062D3F"/>
                </a:solidFill>
                <a:latin typeface="Circe"/>
              </a:rPr>
              <a:t>Политические, экономические, социальные и технологические факторы внешней среды</a:t>
            </a:r>
          </a:p>
        </p:txBody>
      </p:sp>
      <p:sp>
        <p:nvSpPr>
          <p:cNvPr id="229" name="SWOT"/>
          <p:cNvSpPr/>
          <p:nvPr/>
        </p:nvSpPr>
        <p:spPr>
          <a:xfrm>
            <a:off x="6812280" y="6263640"/>
            <a:ext cx="3108960" cy="2331720"/>
          </a:xfrm>
          <a:prstGeom prst="roundRect">
            <a:avLst>
              <a:gd name="adj" fmla="val 6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 wrap="square" lIns="228600" rIns="228600" tIns="0" bIns="0"/>
          <a:lstStyle/>
          <a:p>
            <a:pPr algn="l"/>
            <a:r>
              <a:rPr sz="3000" b="1">
                <a:solidFill>
                  <a:srgbClr val="062D3F"/>
                </a:solidFill>
                <a:latin typeface="Circe Bold"/>
              </a:rPr>
              <a:t>SWOT</a:t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062D3F"/>
                </a:solidFill>
                <a:latin typeface="Circe"/>
              </a:rPr>
              <a:t>Сильные и слабые стороны территории, внешние возможности и угрозы</a:t>
            </a:r>
          </a:p>
        </p:txBody>
      </p:sp>
      <p:sp>
        <p:nvSpPr>
          <p:cNvPr id="230" name="Стрелка к SWOT"/>
          <p:cNvSpPr/>
          <p:nvPr/>
        </p:nvSpPr>
        <p:spPr>
          <a:xfrm>
            <a:off x="8110728" y="5714999"/>
            <a:ext cx="512064" cy="502920"/>
          </a:xfrm>
          <a:prstGeom prst="downArrow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Стрелка к дереву"/>
          <p:cNvSpPr/>
          <p:nvPr/>
        </p:nvSpPr>
        <p:spPr>
          <a:xfrm>
            <a:off x="10012680" y="5468111"/>
            <a:ext cx="502920" cy="512064"/>
          </a:xfrm>
          <a:prstGeom prst="rightArrow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Шапка дерева"/>
          <p:cNvSpPr/>
          <p:nvPr/>
        </p:nvSpPr>
        <p:spPr>
          <a:xfrm>
            <a:off x="10744200" y="2331720"/>
            <a:ext cx="7205471" cy="502920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l"/>
            <a:r>
              <a:rPr sz="1600" b="1">
                <a:solidFill>
                  <a:srgbClr val="FFFFFF"/>
                </a:solidFill>
                <a:latin typeface="Circe Bold"/>
              </a:rPr>
              <a:t>ДЕРЕВО ВОЗМОЖНОСТЕЙ</a:t>
            </a:r>
          </a:p>
        </p:txBody>
      </p:sp>
      <p:sp>
        <p:nvSpPr>
          <p:cNvPr id="233" name="Выбор стратегии"/>
          <p:cNvSpPr/>
          <p:nvPr/>
        </p:nvSpPr>
        <p:spPr>
          <a:xfrm>
            <a:off x="10744200" y="5175503"/>
            <a:ext cx="1737360" cy="1097280"/>
          </a:xfrm>
          <a:prstGeom prst="roundRect">
            <a:avLst>
              <a:gd name="adj" fmla="val 15000"/>
            </a:avLst>
          </a:prstGeom>
          <a:solidFill>
            <a:srgbClr val="FFCC00"/>
          </a:solidFill>
          <a:ln>
            <a:noFill/>
          </a:ln>
        </p:spPr>
        <p:txBody>
          <a:bodyPr rtlCol="0" anchor="ctr" wrap="square" tIns="0" bIns="0"/>
          <a:lstStyle/>
          <a:p>
            <a:pPr algn="ctr"/>
            <a:r>
              <a:rPr sz="1600" b="1">
                <a:solidFill>
                  <a:srgbClr val="062D3F"/>
                </a:solidFill>
                <a:latin typeface="Circe Bold"/>
              </a:rPr>
              <a:t>Выбор стратегии</a:t>
            </a:r>
          </a:p>
        </p:txBody>
      </p:sp>
      <p:cxnSp>
        <p:nvCxnSpPr>
          <p:cNvPr id="234" name="Ствол"/>
          <p:cNvCxnSpPr/>
          <p:nvPr/>
        </p:nvCxnSpPr>
        <p:spPr>
          <a:xfrm>
            <a:off x="12481560" y="5724143"/>
            <a:ext cx="320040" cy="0"/>
          </a:xfrm>
          <a:prstGeom prst="line">
            <a:avLst/>
          </a:prstGeom>
          <a:ln w="25400">
            <a:solidFill>
              <a:srgbClr val="062D3F"/>
            </a:solidFill>
          </a:ln>
        </p:spPr>
      </p:cxnSp>
      <p:cxnSp>
        <p:nvCxnSpPr>
          <p:cNvPr id="235" name="Ствол"/>
          <p:cNvCxnSpPr/>
          <p:nvPr/>
        </p:nvCxnSpPr>
        <p:spPr>
          <a:xfrm>
            <a:off x="12801600" y="3909059"/>
            <a:ext cx="0" cy="4197097"/>
          </a:xfrm>
          <a:prstGeom prst="line">
            <a:avLst/>
          </a:prstGeom>
          <a:ln w="25400">
            <a:solidFill>
              <a:srgbClr val="062D3F"/>
            </a:solidFill>
          </a:ln>
        </p:spPr>
      </p:cxnSp>
      <p:cxnSp>
        <p:nvCxnSpPr>
          <p:cNvPr id="236" name="Ветвь 1"/>
          <p:cNvCxnSpPr/>
          <p:nvPr/>
        </p:nvCxnSpPr>
        <p:spPr>
          <a:xfrm>
            <a:off x="12801600" y="3909059"/>
            <a:ext cx="365760" cy="0"/>
          </a:xfrm>
          <a:prstGeom prst="line">
            <a:avLst/>
          </a:prstGeom>
          <a:ln w="25400">
            <a:solidFill>
              <a:srgbClr val="062D3F"/>
            </a:solidFill>
          </a:ln>
        </p:spPr>
      </p:cxnSp>
      <p:sp>
        <p:nvSpPr>
          <p:cNvPr id="237" name="Стратегия Рост"/>
          <p:cNvSpPr/>
          <p:nvPr/>
        </p:nvSpPr>
        <p:spPr>
          <a:xfrm>
            <a:off x="13167360" y="3291839"/>
            <a:ext cx="4782311" cy="1234440"/>
          </a:xfrm>
          <a:prstGeom prst="roundRect">
            <a:avLst>
              <a:gd name="adj" fmla="val 10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 wrap="square" lIns="274320" rIns="274320" tIns="0" bIns="0"/>
          <a:lstStyle/>
          <a:p>
            <a:pPr algn="l"/>
            <a:r>
              <a:rPr sz="1800" b="1">
                <a:solidFill>
                  <a:srgbClr val="062D3F"/>
                </a:solidFill>
                <a:latin typeface="Circe Bold"/>
              </a:rPr>
              <a:t>РОСТ</a:t>
            </a:r>
          </a:p>
          <a:p>
            <a:pPr algn="l">
              <a:spcBef>
                <a:spcPts val="300"/>
              </a:spcBef>
            </a:pPr>
            <a:r>
              <a:rPr sz="1350" b="0">
                <a:solidFill>
                  <a:srgbClr val="062D3F"/>
                </a:solidFill>
                <a:latin typeface="Circe"/>
              </a:rPr>
              <a:t>Развитие территорий с высоким потенциалом, пригородных и опорных, привлечение жителей и инвестиций, новое жильё и рабочие места</a:t>
            </a:r>
          </a:p>
        </p:txBody>
      </p:sp>
      <p:sp>
        <p:nvSpPr>
          <p:cNvPr id="238" name="Акцент"/>
          <p:cNvSpPr/>
          <p:nvPr/>
        </p:nvSpPr>
        <p:spPr>
          <a:xfrm>
            <a:off x="13167360" y="3428999"/>
            <a:ext cx="82296" cy="9601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9" name="Ветвь 2"/>
          <p:cNvCxnSpPr/>
          <p:nvPr/>
        </p:nvCxnSpPr>
        <p:spPr>
          <a:xfrm>
            <a:off x="12801600" y="5308092"/>
            <a:ext cx="365760" cy="0"/>
          </a:xfrm>
          <a:prstGeom prst="line">
            <a:avLst/>
          </a:prstGeom>
          <a:ln w="25400">
            <a:solidFill>
              <a:srgbClr val="062D3F"/>
            </a:solidFill>
          </a:ln>
        </p:spPr>
      </p:cxnSp>
      <p:sp>
        <p:nvSpPr>
          <p:cNvPr id="240" name="Стратегия Укрепление"/>
          <p:cNvSpPr/>
          <p:nvPr/>
        </p:nvSpPr>
        <p:spPr>
          <a:xfrm>
            <a:off x="13167360" y="4690872"/>
            <a:ext cx="4782311" cy="1234440"/>
          </a:xfrm>
          <a:prstGeom prst="roundRect">
            <a:avLst>
              <a:gd name="adj" fmla="val 10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 wrap="square" lIns="274320" rIns="274320" tIns="0" bIns="0"/>
          <a:lstStyle/>
          <a:p>
            <a:pPr algn="l"/>
            <a:r>
              <a:rPr sz="1800" b="1">
                <a:solidFill>
                  <a:srgbClr val="062D3F"/>
                </a:solidFill>
                <a:latin typeface="Circe Bold"/>
              </a:rPr>
              <a:t>УКРЕПЛЕНИЕ</a:t>
            </a:r>
          </a:p>
          <a:p>
            <a:pPr algn="l">
              <a:spcBef>
                <a:spcPts val="300"/>
              </a:spcBef>
            </a:pPr>
            <a:r>
              <a:rPr sz="1350" b="0">
                <a:solidFill>
                  <a:srgbClr val="062D3F"/>
                </a:solidFill>
                <a:latin typeface="Circe"/>
              </a:rPr>
              <a:t>Поддержка устойчивых территорий, модернизация инфраструктуры, диверсификация экономики, закрепление населения</a:t>
            </a:r>
          </a:p>
        </p:txBody>
      </p:sp>
      <p:sp>
        <p:nvSpPr>
          <p:cNvPr id="241" name="Акцент"/>
          <p:cNvSpPr/>
          <p:nvPr/>
        </p:nvSpPr>
        <p:spPr>
          <a:xfrm>
            <a:off x="13167360" y="4828032"/>
            <a:ext cx="82296" cy="9601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42" name="Ветвь 3"/>
          <p:cNvCxnSpPr/>
          <p:nvPr/>
        </p:nvCxnSpPr>
        <p:spPr>
          <a:xfrm>
            <a:off x="12801600" y="6707124"/>
            <a:ext cx="365760" cy="0"/>
          </a:xfrm>
          <a:prstGeom prst="line">
            <a:avLst/>
          </a:prstGeom>
          <a:ln w="25400">
            <a:solidFill>
              <a:srgbClr val="062D3F"/>
            </a:solidFill>
          </a:ln>
        </p:spPr>
      </p:cxnSp>
      <p:sp>
        <p:nvSpPr>
          <p:cNvPr id="243" name="Стратегия Сдерживание"/>
          <p:cNvSpPr/>
          <p:nvPr/>
        </p:nvSpPr>
        <p:spPr>
          <a:xfrm>
            <a:off x="13167360" y="6089904"/>
            <a:ext cx="4782311" cy="1234440"/>
          </a:xfrm>
          <a:prstGeom prst="roundRect">
            <a:avLst>
              <a:gd name="adj" fmla="val 10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 wrap="square" lIns="274320" rIns="274320" tIns="0" bIns="0"/>
          <a:lstStyle/>
          <a:p>
            <a:pPr algn="l"/>
            <a:r>
              <a:rPr sz="1800" b="1">
                <a:solidFill>
                  <a:srgbClr val="062D3F"/>
                </a:solidFill>
                <a:latin typeface="Circe Bold"/>
              </a:rPr>
              <a:t>СДЕРЖИВАНИЕ</a:t>
            </a:r>
          </a:p>
          <a:p>
            <a:pPr algn="l">
              <a:spcBef>
                <a:spcPts val="300"/>
              </a:spcBef>
            </a:pPr>
            <a:r>
              <a:rPr sz="1350" b="0">
                <a:solidFill>
                  <a:srgbClr val="062D3F"/>
                </a:solidFill>
                <a:latin typeface="Circe"/>
              </a:rPr>
              <a:t>Замедление депопуляции и старения, сохранение сети услуг, удержание кадров и хозяйств</a:t>
            </a:r>
          </a:p>
        </p:txBody>
      </p:sp>
      <p:sp>
        <p:nvSpPr>
          <p:cNvPr id="244" name="Акцент"/>
          <p:cNvSpPr/>
          <p:nvPr/>
        </p:nvSpPr>
        <p:spPr>
          <a:xfrm>
            <a:off x="13167360" y="6227064"/>
            <a:ext cx="82296" cy="9601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45" name="Ветвь 4"/>
          <p:cNvCxnSpPr/>
          <p:nvPr/>
        </p:nvCxnSpPr>
        <p:spPr>
          <a:xfrm>
            <a:off x="12801600" y="8106156"/>
            <a:ext cx="365760" cy="0"/>
          </a:xfrm>
          <a:prstGeom prst="line">
            <a:avLst/>
          </a:prstGeom>
          <a:ln w="25400">
            <a:solidFill>
              <a:srgbClr val="062D3F"/>
            </a:solidFill>
          </a:ln>
        </p:spPr>
      </p:cxnSp>
      <p:sp>
        <p:nvSpPr>
          <p:cNvPr id="246" name="Стратегия Сжатие"/>
          <p:cNvSpPr/>
          <p:nvPr/>
        </p:nvSpPr>
        <p:spPr>
          <a:xfrm>
            <a:off x="13167360" y="7488936"/>
            <a:ext cx="4782311" cy="1234440"/>
          </a:xfrm>
          <a:prstGeom prst="roundRect">
            <a:avLst>
              <a:gd name="adj" fmla="val 10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 wrap="square" lIns="274320" rIns="274320" tIns="0" bIns="0"/>
          <a:lstStyle/>
          <a:p>
            <a:pPr algn="l"/>
            <a:r>
              <a:rPr sz="1800" b="1">
                <a:solidFill>
                  <a:srgbClr val="062D3F"/>
                </a:solidFill>
                <a:latin typeface="Circe Bold"/>
              </a:rPr>
              <a:t>СЖАТИЕ</a:t>
            </a:r>
          </a:p>
          <a:p>
            <a:pPr algn="l">
              <a:spcBef>
                <a:spcPts val="300"/>
              </a:spcBef>
            </a:pPr>
            <a:r>
              <a:rPr sz="1350" b="0">
                <a:solidFill>
                  <a:srgbClr val="062D3F"/>
                </a:solidFill>
                <a:latin typeface="Circe"/>
              </a:rPr>
              <a:t>Управляемое сокращение сети расселения, концентрация услуг в опорных пунктах, вывод неэффективной инфраструктуры</a:t>
            </a:r>
          </a:p>
        </p:txBody>
      </p:sp>
      <p:sp>
        <p:nvSpPr>
          <p:cNvPr id="247" name="Акцент"/>
          <p:cNvSpPr/>
          <p:nvPr/>
        </p:nvSpPr>
        <p:spPr>
          <a:xfrm>
            <a:off x="13167360" y="7626096"/>
            <a:ext cx="82296" cy="9601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Решения"/>
          <p:cNvSpPr/>
          <p:nvPr/>
        </p:nvSpPr>
        <p:spPr>
          <a:xfrm>
            <a:off x="1069848" y="8924544"/>
            <a:ext cx="16879824" cy="731520"/>
          </a:xfrm>
          <a:prstGeom prst="roundRect">
            <a:avLst>
              <a:gd name="adj" fmla="val 20000"/>
            </a:avLst>
          </a:prstGeom>
          <a:solidFill>
            <a:srgbClr val="062D3F"/>
          </a:solidFill>
          <a:ln>
            <a:noFill/>
          </a:ln>
        </p:spPr>
        <p:txBody>
          <a:bodyPr rtlCol="0" anchor="ctr" wrap="square" lIns="274320" rIns="274320" tIns="0" bIns="0"/>
          <a:lstStyle/>
          <a:p>
            <a:pPr algn="l"/>
            <a:r>
              <a:rPr sz="1600" b="1">
                <a:solidFill>
                  <a:srgbClr val="FFCC00"/>
                </a:solidFill>
                <a:latin typeface="Circe Bold"/>
              </a:rPr>
              <a:t>РЕШЕНИЯ</a:t>
            </a:r>
          </a:p>
        </p:txBody>
      </p:sp>
      <p:sp>
        <p:nvSpPr>
          <p:cNvPr id="249" name="Решения текст"/>
          <p:cNvSpPr txBox="1"/>
          <p:nvPr/>
        </p:nvSpPr>
        <p:spPr>
          <a:xfrm>
            <a:off x="3566160" y="8924544"/>
            <a:ext cx="1417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irce"/>
              </a:rPr>
              <a:t>Приоритеты, проекты и меры, размещение опорных пунктов, закрепление в СТП, генплане и программах. Мониторинг целевых показателей и повторная диагностика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сновной слайд">
  <a:themeElements>
    <a:clrScheme name="ИГП ony">
      <a:dk1>
        <a:sysClr val="windowText" lastClr="000000"/>
      </a:dk1>
      <a:lt1>
        <a:sysClr val="window" lastClr="FFFFFF"/>
      </a:lt1>
      <a:dk2>
        <a:srgbClr val="25253B"/>
      </a:dk2>
      <a:lt2>
        <a:srgbClr val="EDEDED"/>
      </a:lt2>
      <a:accent1>
        <a:srgbClr val="1678E2"/>
      </a:accent1>
      <a:accent2>
        <a:srgbClr val="EDDAC4"/>
      </a:accent2>
      <a:accent3>
        <a:srgbClr val="F13D53"/>
      </a:accent3>
      <a:accent4>
        <a:srgbClr val="FFC000"/>
      </a:accent4>
      <a:accent5>
        <a:srgbClr val="66ABD6"/>
      </a:accent5>
      <a:accent6>
        <a:srgbClr val="DAE856"/>
      </a:accent6>
      <a:hlink>
        <a:srgbClr val="0563C1"/>
      </a:hlink>
      <a:folHlink>
        <a:srgbClr val="954F72"/>
      </a:folHlink>
    </a:clrScheme>
    <a:fontScheme name="Институт Генплана Москвы">
      <a:majorFont>
        <a:latin typeface="Circe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1334</TotalTime>
  <Words>9094</Words>
  <Application>Microsoft Office PowerPoint</Application>
  <PresentationFormat>Произвольный</PresentationFormat>
  <Paragraphs>2467</Paragraphs>
  <Slides>58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58</vt:i4>
      </vt:variant>
    </vt:vector>
  </HeadingPairs>
  <TitlesOfParts>
    <vt:vector size="68" baseType="lpstr">
      <vt:lpstr>Arial</vt:lpstr>
      <vt:lpstr>Arial Black</vt:lpstr>
      <vt:lpstr>Calibri</vt:lpstr>
      <vt:lpstr>Century Gothic</vt:lpstr>
      <vt:lpstr>Circe</vt:lpstr>
      <vt:lpstr>Circe Bold</vt:lpstr>
      <vt:lpstr>Circe Bold (Заголовки)</vt:lpstr>
      <vt:lpstr>Gramatika-Medium</vt:lpstr>
      <vt:lpstr>Wingdings</vt:lpstr>
      <vt:lpstr>Основной слайд</vt:lpstr>
      <vt:lpstr>Комплексная диагностика  социально-экономического состояния сельских территорий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ПОЛОВОЗРАСТНАЯ СТРУКТУРА НАСЕЛЕНИЯ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Субъекты градостроительных отношений</vt:lpstr>
      <vt:lpstr>Виды экономической эффективности</vt:lpstr>
      <vt:lpstr>Экономическое моделирование градостроительных решений</vt:lpstr>
      <vt:lpstr>Экономическое моделирование градостроительных решений</vt:lpstr>
      <vt:lpstr>Порядок планирования сбалансированной градостроительной и экономической политики</vt:lpstr>
      <vt:lpstr>Порядок подготовки заключения об экономической целесообразности реализации мероприятий градостроительного развития</vt:lpstr>
      <vt:lpstr>Порядок сбора, обработки и интерпретации первичных данных, необходимых для оценки удельных затрат на 1 жителя </vt:lpstr>
      <vt:lpstr>Порядок сбора и обработки и интерпретации первичных данных, необходимых для оценки удельных доходов с 1 рабочего места</vt:lpstr>
      <vt:lpstr>Пример расчета удельных показателей затрат и доходов в населенном пункте</vt:lpstr>
      <vt:lpstr>Прогноз бюджетного баланса с учетом принятых градостроительных решений</vt:lpstr>
      <vt:lpstr>Перспективы изменения отраслевой структуры экономики</vt:lpstr>
      <vt:lpstr>Презентация PowerPoint</vt:lpstr>
      <vt:lpstr>Презентация PowerPoint</vt:lpstr>
      <vt:lpstr>Презентация PowerPoint</vt:lpstr>
      <vt:lpstr>Презентация PowerPoint</vt:lpstr>
      <vt:lpstr>ВОЗМОЖНЫЕ ИНСТРУМЕНТЫ БЮДЖЕТНОЙ ПОДДЕРЖКИ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ПРЕЗЕНТАЦИИ</dc:title>
  <dc:creator>Шевцов Александр Александрович</dc:creator>
  <cp:lastModifiedBy>InkXiles</cp:lastModifiedBy>
  <cp:revision>114</cp:revision>
  <cp:lastPrinted>2026-10-05T13:20:42Z</cp:lastPrinted>
  <dcterms:created xsi:type="dcterms:W3CDTF">2022-11-22T08:46:48Z</dcterms:created>
  <dcterms:modified xsi:type="dcterms:W3CDTF">2026-10-12T08:06:42Z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2022-11-22T00:00:00Z</vt:filetime>
  </property>
  <property fmtid="{D5CDD505-2E9C-101B-9397-08002B2CF9AE}" pid="3" name="Creator">
    <vt:lpwstr>Adobe InDesign 17.0 (Windows)</vt:lpwstr>
  </property>
  <property fmtid="{D5CDD505-2E9C-101B-9397-08002B2CF9AE}" pid="4" name="LastSaved">
    <vt:filetime>2022-11-22T00:00:00Z</vt:filetime>
  </property>
  <property fmtid="{D5CDD505-2E9C-101B-9397-08002B2CF9AE}" pid="5" name="Producer">
    <vt:lpwstr>Adobe PDF Library 16.0.3</vt:lpwstr>
  </property>
</Properties>
</file>