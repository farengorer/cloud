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Схема построена по лекции про SWOT и PEST (слайды 3, 10 и 11). Названия и описания четырёх стратегий (рост, защита, укрепление, сжатие) взяты со слайда 11 лекции. Блоки диагностики соответствуют разделам основной лекции, тип территории вынесен в итог диагностики. Сильные и слабые стороны (S и W) выводятся из итогов диагностики, возможности и угрозы (O и T) из PEST.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ОТ ДИАГНОСТИКИ К ВЫБОРУ СТРАТЕГИИ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60020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Принципиальная схема. После диагностики стратегический анализ определяет одну из четырёх стратегий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Шапка диагностики"/>
          <p:cNvSpPr/>
          <p:nvPr/>
        </p:nvSpPr>
        <p:spPr>
          <a:xfrm>
            <a:off x="1069848" y="2331720"/>
            <a:ext cx="4572000" cy="502920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600" b="1">
                <a:solidFill>
                  <a:srgbClr val="FFFFFF"/>
                </a:solidFill>
                <a:latin typeface="Circe Bold"/>
              </a:rPr>
              <a:t>ДИАГНОСТИКА</a:t>
            </a:r>
          </a:p>
        </p:txBody>
      </p:sp>
      <p:sp>
        <p:nvSpPr>
          <p:cNvPr id="204" name="Основа данных"/>
          <p:cNvSpPr txBox="1"/>
          <p:nvPr/>
        </p:nvSpPr>
        <p:spPr>
          <a:xfrm>
            <a:off x="1069848" y="2880360"/>
            <a:ext cx="4572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5E6B73"/>
                </a:solidFill>
                <a:latin typeface="Circe"/>
              </a:rPr>
              <a:t>по данным БД ПМО, переписей, ВСХП и Росреестра</a:t>
            </a:r>
          </a:p>
        </p:txBody>
      </p:sp>
      <p:sp>
        <p:nvSpPr>
          <p:cNvPr id="205" name="Номер 1"/>
          <p:cNvSpPr/>
          <p:nvPr/>
        </p:nvSpPr>
        <p:spPr>
          <a:xfrm>
            <a:off x="1115568" y="3401568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1</a:t>
            </a:r>
          </a:p>
        </p:txBody>
      </p:sp>
      <p:sp>
        <p:nvSpPr>
          <p:cNvPr id="206" name="Блок 1"/>
          <p:cNvSpPr txBox="1"/>
          <p:nvPr/>
        </p:nvSpPr>
        <p:spPr>
          <a:xfrm>
            <a:off x="1801368" y="3291839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Природно-ресурсный потенциал</a:t>
            </a:r>
          </a:p>
        </p:txBody>
      </p:sp>
      <p:cxnSp>
        <p:nvCxnSpPr>
          <p:cNvPr id="207" name="Разделитель"/>
          <p:cNvCxnSpPr/>
          <p:nvPr/>
        </p:nvCxnSpPr>
        <p:spPr>
          <a:xfrm>
            <a:off x="1069848" y="3968496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08" name="Номер 2"/>
          <p:cNvSpPr/>
          <p:nvPr/>
        </p:nvSpPr>
        <p:spPr>
          <a:xfrm>
            <a:off x="1115568" y="4078224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2</a:t>
            </a:r>
          </a:p>
        </p:txBody>
      </p:sp>
      <p:sp>
        <p:nvSpPr>
          <p:cNvPr id="209" name="Блок 2"/>
          <p:cNvSpPr txBox="1"/>
          <p:nvPr/>
        </p:nvSpPr>
        <p:spPr>
          <a:xfrm>
            <a:off x="1801368" y="3968496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Население и человеческий потенциал</a:t>
            </a:r>
          </a:p>
        </p:txBody>
      </p:sp>
      <p:cxnSp>
        <p:nvCxnSpPr>
          <p:cNvPr id="210" name="Разделитель"/>
          <p:cNvCxnSpPr/>
          <p:nvPr/>
        </p:nvCxnSpPr>
        <p:spPr>
          <a:xfrm>
            <a:off x="1069848" y="4645152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1" name="Номер 3"/>
          <p:cNvSpPr/>
          <p:nvPr/>
        </p:nvSpPr>
        <p:spPr>
          <a:xfrm>
            <a:off x="1115568" y="4754880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3</a:t>
            </a:r>
          </a:p>
        </p:txBody>
      </p:sp>
      <p:sp>
        <p:nvSpPr>
          <p:cNvPr id="212" name="Блок 3"/>
          <p:cNvSpPr txBox="1"/>
          <p:nvPr/>
        </p:nvSpPr>
        <p:spPr>
          <a:xfrm>
            <a:off x="1801368" y="4645152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Экономика, занятость и доходы населения</a:t>
            </a:r>
          </a:p>
        </p:txBody>
      </p:sp>
      <p:cxnSp>
        <p:nvCxnSpPr>
          <p:cNvPr id="213" name="Разделитель"/>
          <p:cNvCxnSpPr/>
          <p:nvPr/>
        </p:nvCxnSpPr>
        <p:spPr>
          <a:xfrm>
            <a:off x="1069848" y="5321808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4" name="Номер 4"/>
          <p:cNvSpPr/>
          <p:nvPr/>
        </p:nvSpPr>
        <p:spPr>
          <a:xfrm>
            <a:off x="1115568" y="5431536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4</a:t>
            </a:r>
          </a:p>
        </p:txBody>
      </p:sp>
      <p:sp>
        <p:nvSpPr>
          <p:cNvPr id="215" name="Блок 4"/>
          <p:cNvSpPr txBox="1"/>
          <p:nvPr/>
        </p:nvSpPr>
        <p:spPr>
          <a:xfrm>
            <a:off x="1801368" y="5321808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Качество жизни и инфраструктура</a:t>
            </a:r>
          </a:p>
        </p:txBody>
      </p:sp>
      <p:cxnSp>
        <p:nvCxnSpPr>
          <p:cNvPr id="216" name="Разделитель"/>
          <p:cNvCxnSpPr/>
          <p:nvPr/>
        </p:nvCxnSpPr>
        <p:spPr>
          <a:xfrm>
            <a:off x="1069848" y="5998464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7" name="Номер 5"/>
          <p:cNvSpPr/>
          <p:nvPr/>
        </p:nvSpPr>
        <p:spPr>
          <a:xfrm>
            <a:off x="1115568" y="6108192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5</a:t>
            </a:r>
          </a:p>
        </p:txBody>
      </p:sp>
      <p:sp>
        <p:nvSpPr>
          <p:cNvPr id="218" name="Блок 5"/>
          <p:cNvSpPr txBox="1"/>
          <p:nvPr/>
        </p:nvSpPr>
        <p:spPr>
          <a:xfrm>
            <a:off x="1801368" y="5998464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Пространственные ресурсы и ограничения</a:t>
            </a:r>
          </a:p>
        </p:txBody>
      </p:sp>
      <p:cxnSp>
        <p:nvCxnSpPr>
          <p:cNvPr id="219" name="Разделитель"/>
          <p:cNvCxnSpPr/>
          <p:nvPr/>
        </p:nvCxnSpPr>
        <p:spPr>
          <a:xfrm>
            <a:off x="1069848" y="6675120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0" name="Номер 6"/>
          <p:cNvSpPr/>
          <p:nvPr/>
        </p:nvSpPr>
        <p:spPr>
          <a:xfrm>
            <a:off x="1115568" y="6784848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6</a:t>
            </a:r>
          </a:p>
        </p:txBody>
      </p:sp>
      <p:sp>
        <p:nvSpPr>
          <p:cNvPr id="221" name="Блок 6"/>
          <p:cNvSpPr txBox="1"/>
          <p:nvPr/>
        </p:nvSpPr>
        <p:spPr>
          <a:xfrm>
            <a:off x="1801368" y="6675120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Финансовые и управленческие возможности</a:t>
            </a:r>
          </a:p>
        </p:txBody>
      </p:sp>
      <p:cxnSp>
        <p:nvCxnSpPr>
          <p:cNvPr id="222" name="Разделитель"/>
          <p:cNvCxnSpPr/>
          <p:nvPr/>
        </p:nvCxnSpPr>
        <p:spPr>
          <a:xfrm>
            <a:off x="1069848" y="7351776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3" name="Итог диагностики"/>
          <p:cNvSpPr/>
          <p:nvPr/>
        </p:nvSpPr>
        <p:spPr>
          <a:xfrm>
            <a:off x="1069848" y="7488936"/>
            <a:ext cx="4572000" cy="1234439"/>
          </a:xfrm>
          <a:prstGeom prst="roundRect">
            <a:avLst>
              <a:gd name="adj" fmla="val 8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28600" rIns="228600" tIns="0" bIns="0"/>
          <a:lstStyle/>
          <a:p>
            <a:pPr algn="l"/>
            <a:r>
              <a:rPr sz="1400" b="1">
                <a:solidFill>
                  <a:srgbClr val="062D3F"/>
                </a:solidFill>
                <a:latin typeface="Circe Bold"/>
              </a:rPr>
              <a:t>ИТОГ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062D3F"/>
                </a:solidFill>
                <a:latin typeface="Circe Bold"/>
              </a:rPr>
              <a:t>Тип сельской территории, потенциалы, проблемы и ограничения</a:t>
            </a:r>
          </a:p>
        </p:txBody>
      </p:sp>
      <p:sp>
        <p:nvSpPr>
          <p:cNvPr id="224" name="Шапка стратегического анализа"/>
          <p:cNvSpPr/>
          <p:nvPr/>
        </p:nvSpPr>
        <p:spPr>
          <a:xfrm>
            <a:off x="6400800" y="2331720"/>
            <a:ext cx="4206240" cy="502920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600" b="1">
                <a:solidFill>
                  <a:srgbClr val="FFFFFF"/>
                </a:solidFill>
                <a:latin typeface="Circe Bold"/>
              </a:rPr>
              <a:t>СТРАТЕГИЧЕСКИЙ АНАЛИЗ</a:t>
            </a:r>
          </a:p>
        </p:txBody>
      </p:sp>
      <p:sp>
        <p:nvSpPr>
          <p:cNvPr id="225" name="PEST"/>
          <p:cNvSpPr/>
          <p:nvPr/>
        </p:nvSpPr>
        <p:spPr>
          <a:xfrm>
            <a:off x="6400800" y="3291839"/>
            <a:ext cx="4206240" cy="237286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2800" b="1">
                <a:solidFill>
                  <a:srgbClr val="062D3F"/>
                </a:solidFill>
                <a:latin typeface="Circe Bold"/>
              </a:rPr>
              <a:t>PEST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062D3F"/>
                </a:solidFill>
                <a:latin typeface="Circe"/>
              </a:rPr>
              <a:t>Политико-правовые, экономические, социокультурные и технологические факторы. Из них выводятся возможности и угрозы</a:t>
            </a:r>
          </a:p>
        </p:txBody>
      </p:sp>
      <p:sp>
        <p:nvSpPr>
          <p:cNvPr id="226" name="Стрелка к SWOT"/>
          <p:cNvSpPr/>
          <p:nvPr/>
        </p:nvSpPr>
        <p:spPr>
          <a:xfrm>
            <a:off x="8247888" y="5756147"/>
            <a:ext cx="512064" cy="502920"/>
          </a:xfrm>
          <a:prstGeom prst="downArrow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SWOT"/>
          <p:cNvSpPr/>
          <p:nvPr/>
        </p:nvSpPr>
        <p:spPr>
          <a:xfrm>
            <a:off x="6400800" y="6350507"/>
            <a:ext cx="4206240" cy="237286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2800" b="1">
                <a:solidFill>
                  <a:srgbClr val="062D3F"/>
                </a:solidFill>
                <a:latin typeface="Circe Bold"/>
              </a:rPr>
              <a:t>SWOT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062D3F"/>
                </a:solidFill>
                <a:latin typeface="Circe"/>
              </a:rPr>
              <a:t>Сильные и слабые стороны территории из итогов диагностики сводятся с возможностями и угрозами из PEST</a:t>
            </a:r>
          </a:p>
        </p:txBody>
      </p:sp>
      <p:sp>
        <p:nvSpPr>
          <p:cNvPr id="228" name="Стрелка от диагностики к SWOT"/>
          <p:cNvSpPr/>
          <p:nvPr/>
        </p:nvSpPr>
        <p:spPr>
          <a:xfrm>
            <a:off x="5852160" y="7299198"/>
            <a:ext cx="457200" cy="475488"/>
          </a:xfrm>
          <a:prstGeom prst="rightArrow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Шапка стратегии"/>
          <p:cNvSpPr/>
          <p:nvPr/>
        </p:nvSpPr>
        <p:spPr>
          <a:xfrm>
            <a:off x="11887200" y="2331720"/>
            <a:ext cx="6062471" cy="502920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600" b="1">
                <a:solidFill>
                  <a:srgbClr val="FFFFFF"/>
                </a:solidFill>
                <a:latin typeface="Circe Bold"/>
              </a:rPr>
              <a:t>СТРАТЕГИЯ</a:t>
            </a:r>
          </a:p>
        </p:txBody>
      </p:sp>
      <p:cxnSp>
        <p:nvCxnSpPr>
          <p:cNvPr id="230" name="Ствол"/>
          <p:cNvCxnSpPr/>
          <p:nvPr/>
        </p:nvCxnSpPr>
        <p:spPr>
          <a:xfrm>
            <a:off x="10607040" y="7536942"/>
            <a:ext cx="82296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cxnSp>
        <p:nvCxnSpPr>
          <p:cNvPr id="231" name="Ствол"/>
          <p:cNvCxnSpPr/>
          <p:nvPr/>
        </p:nvCxnSpPr>
        <p:spPr>
          <a:xfrm>
            <a:off x="11430000" y="3909059"/>
            <a:ext cx="0" cy="4197097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cxnSp>
        <p:nvCxnSpPr>
          <p:cNvPr id="232" name="Ветвь 1"/>
          <p:cNvCxnSpPr/>
          <p:nvPr/>
        </p:nvCxnSpPr>
        <p:spPr>
          <a:xfrm>
            <a:off x="11430000" y="3909059"/>
            <a:ext cx="45720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sp>
        <p:nvSpPr>
          <p:cNvPr id="233" name="Стратегия Рост"/>
          <p:cNvSpPr/>
          <p:nvPr/>
        </p:nvSpPr>
        <p:spPr>
          <a:xfrm>
            <a:off x="11887200" y="3291839"/>
            <a:ext cx="6062471" cy="1234439"/>
          </a:xfrm>
          <a:prstGeom prst="roundRect">
            <a:avLst>
              <a:gd name="adj" fmla="val 1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1800" b="1">
                <a:solidFill>
                  <a:srgbClr val="062D3F"/>
                </a:solidFill>
                <a:latin typeface="Circe Bold"/>
              </a:rPr>
              <a:t>РОСТ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062D3F"/>
                </a:solidFill>
                <a:latin typeface="Circe"/>
              </a:rPr>
              <a:t>Сильных сторон и возможностей больше. Наращивать то, что уже получается</a:t>
            </a:r>
          </a:p>
        </p:txBody>
      </p:sp>
      <p:sp>
        <p:nvSpPr>
          <p:cNvPr id="234" name="Акцент"/>
          <p:cNvSpPr/>
          <p:nvPr/>
        </p:nvSpPr>
        <p:spPr>
          <a:xfrm>
            <a:off x="11887200" y="3428999"/>
            <a:ext cx="82296" cy="960119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Сочетание S + O"/>
          <p:cNvSpPr txBox="1"/>
          <p:nvPr/>
        </p:nvSpPr>
        <p:spPr>
          <a:xfrm>
            <a:off x="16760951" y="3401568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5E6B73"/>
                </a:solidFill>
                <a:latin typeface="Circe Bold"/>
              </a:rPr>
              <a:t>S + O</a:t>
            </a:r>
          </a:p>
        </p:txBody>
      </p:sp>
      <p:cxnSp>
        <p:nvCxnSpPr>
          <p:cNvPr id="236" name="Ветвь 2"/>
          <p:cNvCxnSpPr/>
          <p:nvPr/>
        </p:nvCxnSpPr>
        <p:spPr>
          <a:xfrm>
            <a:off x="11430000" y="5308091"/>
            <a:ext cx="45720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sp>
        <p:nvSpPr>
          <p:cNvPr id="237" name="Стратегия Защита"/>
          <p:cNvSpPr/>
          <p:nvPr/>
        </p:nvSpPr>
        <p:spPr>
          <a:xfrm>
            <a:off x="11887200" y="4690871"/>
            <a:ext cx="6062471" cy="1234439"/>
          </a:xfrm>
          <a:prstGeom prst="roundRect">
            <a:avLst>
              <a:gd name="adj" fmla="val 1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1800" b="1">
                <a:solidFill>
                  <a:srgbClr val="062D3F"/>
                </a:solidFill>
                <a:latin typeface="Circe Bold"/>
              </a:rPr>
              <a:t>ЗАЩИТА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062D3F"/>
                </a:solidFill>
                <a:latin typeface="Circe"/>
              </a:rPr>
              <a:t>Сильные стороны есть, но внешняя среда угрожает. Опереться на них, чтобы удержать позиции</a:t>
            </a:r>
          </a:p>
        </p:txBody>
      </p:sp>
      <p:sp>
        <p:nvSpPr>
          <p:cNvPr id="238" name="Акцент"/>
          <p:cNvSpPr/>
          <p:nvPr/>
        </p:nvSpPr>
        <p:spPr>
          <a:xfrm>
            <a:off x="11887200" y="4828031"/>
            <a:ext cx="82296" cy="960119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Сочетание S + T"/>
          <p:cNvSpPr txBox="1"/>
          <p:nvPr/>
        </p:nvSpPr>
        <p:spPr>
          <a:xfrm>
            <a:off x="16760951" y="4800599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5E6B73"/>
                </a:solidFill>
                <a:latin typeface="Circe Bold"/>
              </a:rPr>
              <a:t>S + T</a:t>
            </a:r>
          </a:p>
        </p:txBody>
      </p:sp>
      <p:cxnSp>
        <p:nvCxnSpPr>
          <p:cNvPr id="240" name="Ветвь 3"/>
          <p:cNvCxnSpPr/>
          <p:nvPr/>
        </p:nvCxnSpPr>
        <p:spPr>
          <a:xfrm>
            <a:off x="11430000" y="6707123"/>
            <a:ext cx="45720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sp>
        <p:nvSpPr>
          <p:cNvPr id="241" name="Стратегия Укрепление"/>
          <p:cNvSpPr/>
          <p:nvPr/>
        </p:nvSpPr>
        <p:spPr>
          <a:xfrm>
            <a:off x="11887200" y="6089903"/>
            <a:ext cx="6062471" cy="1234439"/>
          </a:xfrm>
          <a:prstGeom prst="roundRect">
            <a:avLst>
              <a:gd name="adj" fmla="val 1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1800" b="1">
                <a:solidFill>
                  <a:srgbClr val="062D3F"/>
                </a:solidFill>
                <a:latin typeface="Circe Bold"/>
              </a:rPr>
              <a:t>УКРЕПЛЕНИЕ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062D3F"/>
                </a:solidFill>
                <a:latin typeface="Circe"/>
              </a:rPr>
              <a:t>Возможности есть, но мешают слабые стороны. Использовать внешние ресурсы, чтобы их устранить</a:t>
            </a:r>
          </a:p>
        </p:txBody>
      </p:sp>
      <p:sp>
        <p:nvSpPr>
          <p:cNvPr id="242" name="Акцент"/>
          <p:cNvSpPr/>
          <p:nvPr/>
        </p:nvSpPr>
        <p:spPr>
          <a:xfrm>
            <a:off x="11887200" y="6227064"/>
            <a:ext cx="82296" cy="960119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Сочетание W + O"/>
          <p:cNvSpPr txBox="1"/>
          <p:nvPr/>
        </p:nvSpPr>
        <p:spPr>
          <a:xfrm>
            <a:off x="16760951" y="6199631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5E6B73"/>
                </a:solidFill>
                <a:latin typeface="Circe Bold"/>
              </a:rPr>
              <a:t>W + O</a:t>
            </a:r>
          </a:p>
        </p:txBody>
      </p:sp>
      <p:cxnSp>
        <p:nvCxnSpPr>
          <p:cNvPr id="244" name="Ветвь 4"/>
          <p:cNvCxnSpPr/>
          <p:nvPr/>
        </p:nvCxnSpPr>
        <p:spPr>
          <a:xfrm>
            <a:off x="11430000" y="8106156"/>
            <a:ext cx="45720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sp>
        <p:nvSpPr>
          <p:cNvPr id="245" name="Стратегия Сжатие"/>
          <p:cNvSpPr/>
          <p:nvPr/>
        </p:nvSpPr>
        <p:spPr>
          <a:xfrm>
            <a:off x="11887200" y="7488936"/>
            <a:ext cx="6062471" cy="1234439"/>
          </a:xfrm>
          <a:prstGeom prst="roundRect">
            <a:avLst>
              <a:gd name="adj" fmla="val 1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1800" b="1">
                <a:solidFill>
                  <a:srgbClr val="062D3F"/>
                </a:solidFill>
                <a:latin typeface="Circe Bold"/>
              </a:rPr>
              <a:t>СЖАТИЕ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062D3F"/>
                </a:solidFill>
                <a:latin typeface="Circe"/>
              </a:rPr>
              <a:t>Преобладают слабости и угрозы. Сохранять главное и сокращать потери</a:t>
            </a:r>
          </a:p>
        </p:txBody>
      </p:sp>
      <p:sp>
        <p:nvSpPr>
          <p:cNvPr id="246" name="Акцент"/>
          <p:cNvSpPr/>
          <p:nvPr/>
        </p:nvSpPr>
        <p:spPr>
          <a:xfrm>
            <a:off x="11887200" y="7626096"/>
            <a:ext cx="82296" cy="960119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Сочетание W + T"/>
          <p:cNvSpPr txBox="1"/>
          <p:nvPr/>
        </p:nvSpPr>
        <p:spPr>
          <a:xfrm>
            <a:off x="16760951" y="7598663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5E6B73"/>
                </a:solidFill>
                <a:latin typeface="Circe Bold"/>
              </a:rPr>
              <a:t>W + T</a:t>
            </a:r>
          </a:p>
        </p:txBody>
      </p:sp>
      <p:sp>
        <p:nvSpPr>
          <p:cNvPr id="248" name="Решения"/>
          <p:cNvSpPr/>
          <p:nvPr/>
        </p:nvSpPr>
        <p:spPr>
          <a:xfrm>
            <a:off x="1069848" y="8924544"/>
            <a:ext cx="16879824" cy="731520"/>
          </a:xfrm>
          <a:prstGeom prst="roundRect">
            <a:avLst>
              <a:gd name="adj" fmla="val 20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1600" b="1">
                <a:solidFill>
                  <a:srgbClr val="FFCC00"/>
                </a:solidFill>
                <a:latin typeface="Circe Bold"/>
              </a:rPr>
              <a:t>РЕШЕНИЯ</a:t>
            </a:r>
          </a:p>
        </p:txBody>
      </p:sp>
      <p:sp>
        <p:nvSpPr>
          <p:cNvPr id="249" name="Решения текст"/>
          <p:cNvSpPr txBox="1"/>
          <p:nvPr/>
        </p:nvSpPr>
        <p:spPr>
          <a:xfrm>
            <a:off x="3566160" y="8924544"/>
            <a:ext cx="1417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irce"/>
              </a:rPr>
              <a:t>Цели и приоритеты, проекты и меры, размещение опорных пунктов, закрепление в СТП, генплане и программах. Мониторинг целевых показателей и повторная диагностика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