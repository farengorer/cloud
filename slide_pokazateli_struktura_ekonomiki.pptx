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вставляется перед диаграммой Севастополя и России. Перечень составлен по содержимому слайдов 25 и 26 презентации. Колонка источников данных не добавлена: в презентации они для этих слайдов не указаны, их нужно добавить после сверки (для Севастополя ВРП и занятость по видам деятельности обычно берутся из статистики Росстата).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ПОКАЗАТЕЛИ ДЛЯ АНАЛИЗА СТРУКТУРЫ ЭКОНОМИКИ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Из этих показателей построены диаграмма Севастополя и России и анализ экономики Ноябрьска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Заголовок колонки"/>
          <p:cNvSpPr txBox="1"/>
          <p:nvPr/>
        </p:nvSpPr>
        <p:spPr>
          <a:xfrm>
            <a:off x="1417320" y="2057400"/>
            <a:ext cx="6766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ПОКАЗАТЕЛЬ</a:t>
            </a:r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8412480" y="2057400"/>
            <a:ext cx="3566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ЕДИНИЦА</a:t>
            </a:r>
          </a:p>
        </p:txBody>
      </p:sp>
      <p:sp>
        <p:nvSpPr>
          <p:cNvPr id="205" name="Заголовок колонки"/>
          <p:cNvSpPr txBox="1"/>
          <p:nvPr/>
        </p:nvSpPr>
        <p:spPr>
          <a:xfrm>
            <a:off x="12252960" y="2057400"/>
            <a:ext cx="53035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ЧТО ПОКАЗЫВАЕТ</a:t>
            </a:r>
          </a:p>
        </p:txBody>
      </p:sp>
      <p:cxnSp>
        <p:nvCxnSpPr>
          <p:cNvPr id="206" name="Линия заголовка"/>
          <p:cNvCxnSpPr/>
          <p:nvPr/>
        </p:nvCxnSpPr>
        <p:spPr>
          <a:xfrm>
            <a:off x="1069848" y="2514600"/>
            <a:ext cx="16870679" cy="0"/>
          </a:xfrm>
          <a:prstGeom prst="line">
            <a:avLst/>
          </a:prstGeom>
          <a:ln w="19050">
            <a:solidFill>
              <a:srgbClr val="062D3F"/>
            </a:solidFill>
          </a:ln>
        </p:spPr>
      </p:cxnSp>
      <p:sp>
        <p:nvSpPr>
          <p:cNvPr id="207" name="Группа"/>
          <p:cNvSpPr/>
          <p:nvPr/>
        </p:nvSpPr>
        <p:spPr>
          <a:xfrm>
            <a:off x="1069848" y="2587752"/>
            <a:ext cx="16870680" cy="402336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Текст"/>
          <p:cNvSpPr txBox="1"/>
          <p:nvPr/>
        </p:nvSpPr>
        <p:spPr>
          <a:xfrm>
            <a:off x="1417320" y="2587752"/>
            <a:ext cx="1632203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СЕВАСТОПОЛЬ И РОССИЯ, ПО ВИДАМ ДЕЯТЕЛЬНОСТИ</a:t>
            </a:r>
          </a:p>
        </p:txBody>
      </p:sp>
      <p:sp>
        <p:nvSpPr>
          <p:cNvPr id="209" name="Текст"/>
          <p:cNvSpPr txBox="1"/>
          <p:nvPr/>
        </p:nvSpPr>
        <p:spPr>
          <a:xfrm>
            <a:off x="1417320" y="2990088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Занятость по видам деятельности</a:t>
            </a:r>
          </a:p>
        </p:txBody>
      </p:sp>
      <p:sp>
        <p:nvSpPr>
          <p:cNvPr id="210" name="Текст"/>
          <p:cNvSpPr txBox="1"/>
          <p:nvPr/>
        </p:nvSpPr>
        <p:spPr>
          <a:xfrm>
            <a:off x="8412480" y="2990088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% от числа занятых</a:t>
            </a:r>
          </a:p>
        </p:txBody>
      </p:sp>
      <p:sp>
        <p:nvSpPr>
          <p:cNvPr id="211" name="Текст"/>
          <p:cNvSpPr txBox="1"/>
          <p:nvPr/>
        </p:nvSpPr>
        <p:spPr>
          <a:xfrm>
            <a:off x="12252960" y="2990088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Структура занятости, 19 видов деятельности</a:t>
            </a:r>
          </a:p>
        </p:txBody>
      </p:sp>
      <p:cxnSp>
        <p:nvCxnSpPr>
          <p:cNvPr id="212" name="Разделитель"/>
          <p:cNvCxnSpPr/>
          <p:nvPr/>
        </p:nvCxnSpPr>
        <p:spPr>
          <a:xfrm>
            <a:off x="1069848" y="3438144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3" name="Текст"/>
          <p:cNvSpPr txBox="1"/>
          <p:nvPr/>
        </p:nvSpPr>
        <p:spPr>
          <a:xfrm>
            <a:off x="1417320" y="3438144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Валовой региональный продукт</a:t>
            </a:r>
          </a:p>
        </p:txBody>
      </p:sp>
      <p:sp>
        <p:nvSpPr>
          <p:cNvPr id="214" name="Текст"/>
          <p:cNvSpPr txBox="1"/>
          <p:nvPr/>
        </p:nvSpPr>
        <p:spPr>
          <a:xfrm>
            <a:off x="8412480" y="3438144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% от общего объёма</a:t>
            </a:r>
          </a:p>
        </p:txBody>
      </p:sp>
      <p:sp>
        <p:nvSpPr>
          <p:cNvPr id="215" name="Текст"/>
          <p:cNvSpPr txBox="1"/>
          <p:nvPr/>
        </p:nvSpPr>
        <p:spPr>
          <a:xfrm>
            <a:off x="12252960" y="3438144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Структура ВРП по тем же видам деятельности</a:t>
            </a:r>
          </a:p>
        </p:txBody>
      </p:sp>
      <p:cxnSp>
        <p:nvCxnSpPr>
          <p:cNvPr id="216" name="Разделитель"/>
          <p:cNvCxnSpPr/>
          <p:nvPr/>
        </p:nvCxnSpPr>
        <p:spPr>
          <a:xfrm>
            <a:off x="1069848" y="3886200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7" name="Текст"/>
          <p:cNvSpPr txBox="1"/>
          <p:nvPr/>
        </p:nvSpPr>
        <p:spPr>
          <a:xfrm>
            <a:off x="1417320" y="3886200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Производительность труда</a:t>
            </a:r>
          </a:p>
        </p:txBody>
      </p:sp>
      <p:sp>
        <p:nvSpPr>
          <p:cNvPr id="218" name="Текст"/>
          <p:cNvSpPr txBox="1"/>
          <p:nvPr/>
        </p:nvSpPr>
        <p:spPr>
          <a:xfrm>
            <a:off x="8412480" y="3886200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тыс. руб. на 1 занятого</a:t>
            </a:r>
          </a:p>
        </p:txBody>
      </p:sp>
      <p:sp>
        <p:nvSpPr>
          <p:cNvPr id="219" name="Текст"/>
          <p:cNvSpPr txBox="1"/>
          <p:nvPr/>
        </p:nvSpPr>
        <p:spPr>
          <a:xfrm>
            <a:off x="12252960" y="3886200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ВРП вида деятельности на одного занятого в нём</a:t>
            </a:r>
          </a:p>
        </p:txBody>
      </p:sp>
      <p:cxnSp>
        <p:nvCxnSpPr>
          <p:cNvPr id="220" name="Разделитель"/>
          <p:cNvCxnSpPr/>
          <p:nvPr/>
        </p:nvCxnSpPr>
        <p:spPr>
          <a:xfrm>
            <a:off x="1069848" y="4334256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1" name="Группа"/>
          <p:cNvSpPr/>
          <p:nvPr/>
        </p:nvSpPr>
        <p:spPr>
          <a:xfrm>
            <a:off x="1069848" y="4361688"/>
            <a:ext cx="16870680" cy="402336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Текст"/>
          <p:cNvSpPr txBox="1"/>
          <p:nvPr/>
        </p:nvSpPr>
        <p:spPr>
          <a:xfrm>
            <a:off x="1417320" y="4361688"/>
            <a:ext cx="1632203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СЕВАСТОПОЛЬ И РОССИЯ, ИТОГИ ПО ТЕРРИТОРИИ</a:t>
            </a:r>
          </a:p>
        </p:txBody>
      </p:sp>
      <p:sp>
        <p:nvSpPr>
          <p:cNvPr id="223" name="Текст"/>
          <p:cNvSpPr txBox="1"/>
          <p:nvPr/>
        </p:nvSpPr>
        <p:spPr>
          <a:xfrm>
            <a:off x="1417320" y="4764024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Число занятых в экономике</a:t>
            </a:r>
          </a:p>
        </p:txBody>
      </p:sp>
      <p:sp>
        <p:nvSpPr>
          <p:cNvPr id="224" name="Текст"/>
          <p:cNvSpPr txBox="1"/>
          <p:nvPr/>
        </p:nvSpPr>
        <p:spPr>
          <a:xfrm>
            <a:off x="8412480" y="4764024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тыс. чел.</a:t>
            </a:r>
          </a:p>
        </p:txBody>
      </p:sp>
      <p:sp>
        <p:nvSpPr>
          <p:cNvPr id="225" name="Текст"/>
          <p:cNvSpPr txBox="1"/>
          <p:nvPr/>
        </p:nvSpPr>
        <p:spPr>
          <a:xfrm>
            <a:off x="12252960" y="4764024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Значение за 2021 год и рост с 2015 года</a:t>
            </a:r>
          </a:p>
        </p:txBody>
      </p:sp>
      <p:cxnSp>
        <p:nvCxnSpPr>
          <p:cNvPr id="226" name="Разделитель"/>
          <p:cNvCxnSpPr/>
          <p:nvPr/>
        </p:nvCxnSpPr>
        <p:spPr>
          <a:xfrm>
            <a:off x="1069848" y="5212080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7" name="Текст"/>
          <p:cNvSpPr txBox="1"/>
          <p:nvPr/>
        </p:nvSpPr>
        <p:spPr>
          <a:xfrm>
            <a:off x="1417320" y="5212080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Уровень занятости</a:t>
            </a:r>
          </a:p>
        </p:txBody>
      </p:sp>
      <p:sp>
        <p:nvSpPr>
          <p:cNvPr id="228" name="Текст"/>
          <p:cNvSpPr txBox="1"/>
          <p:nvPr/>
        </p:nvSpPr>
        <p:spPr>
          <a:xfrm>
            <a:off x="8412480" y="5212080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%</a:t>
            </a:r>
          </a:p>
        </p:txBody>
      </p:sp>
      <p:sp>
        <p:nvSpPr>
          <p:cNvPr id="229" name="Текст"/>
          <p:cNvSpPr txBox="1"/>
          <p:nvPr/>
        </p:nvSpPr>
        <p:spPr>
          <a:xfrm>
            <a:off x="12252960" y="5212080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Сравнение с показателем России</a:t>
            </a:r>
          </a:p>
        </p:txBody>
      </p:sp>
      <p:cxnSp>
        <p:nvCxnSpPr>
          <p:cNvPr id="230" name="Разделитель"/>
          <p:cNvCxnSpPr/>
          <p:nvPr/>
        </p:nvCxnSpPr>
        <p:spPr>
          <a:xfrm>
            <a:off x="1069848" y="5660136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1" name="Текст"/>
          <p:cNvSpPr txBox="1"/>
          <p:nvPr/>
        </p:nvSpPr>
        <p:spPr>
          <a:xfrm>
            <a:off x="1417320" y="5660136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Средняя производительность труда</a:t>
            </a:r>
          </a:p>
        </p:txBody>
      </p:sp>
      <p:sp>
        <p:nvSpPr>
          <p:cNvPr id="232" name="Текст"/>
          <p:cNvSpPr txBox="1"/>
          <p:nvPr/>
        </p:nvSpPr>
        <p:spPr>
          <a:xfrm>
            <a:off x="8412480" y="5660136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тыс. руб. на 1 работника</a:t>
            </a:r>
          </a:p>
        </p:txBody>
      </p:sp>
      <p:sp>
        <p:nvSpPr>
          <p:cNvPr id="233" name="Текст"/>
          <p:cNvSpPr txBox="1"/>
          <p:nvPr/>
        </p:nvSpPr>
        <p:spPr>
          <a:xfrm>
            <a:off x="12252960" y="5660136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Сравнение с показателем России</a:t>
            </a:r>
          </a:p>
        </p:txBody>
      </p:sp>
      <p:cxnSp>
        <p:nvCxnSpPr>
          <p:cNvPr id="234" name="Разделитель"/>
          <p:cNvCxnSpPr/>
          <p:nvPr/>
        </p:nvCxnSpPr>
        <p:spPr>
          <a:xfrm>
            <a:off x="1069848" y="6108192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5" name="Текст"/>
          <p:cNvSpPr txBox="1"/>
          <p:nvPr/>
        </p:nvSpPr>
        <p:spPr>
          <a:xfrm>
            <a:off x="1417320" y="6108192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ВРП на душу населения</a:t>
            </a:r>
          </a:p>
        </p:txBody>
      </p:sp>
      <p:sp>
        <p:nvSpPr>
          <p:cNvPr id="236" name="Текст"/>
          <p:cNvSpPr txBox="1"/>
          <p:nvPr/>
        </p:nvSpPr>
        <p:spPr>
          <a:xfrm>
            <a:off x="8412480" y="6108192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тыс. руб.</a:t>
            </a:r>
          </a:p>
        </p:txBody>
      </p:sp>
      <p:sp>
        <p:nvSpPr>
          <p:cNvPr id="237" name="Текст"/>
          <p:cNvSpPr txBox="1"/>
          <p:nvPr/>
        </p:nvSpPr>
        <p:spPr>
          <a:xfrm>
            <a:off x="12252960" y="6108192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Сравнение с показателем России</a:t>
            </a:r>
          </a:p>
        </p:txBody>
      </p:sp>
      <p:cxnSp>
        <p:nvCxnSpPr>
          <p:cNvPr id="238" name="Разделитель"/>
          <p:cNvCxnSpPr/>
          <p:nvPr/>
        </p:nvCxnSpPr>
        <p:spPr>
          <a:xfrm>
            <a:off x="1069848" y="655624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39" name="Группа"/>
          <p:cNvSpPr/>
          <p:nvPr/>
        </p:nvSpPr>
        <p:spPr>
          <a:xfrm>
            <a:off x="1069848" y="6583680"/>
            <a:ext cx="16870680" cy="402336"/>
          </a:xfrm>
          <a:prstGeom prst="rect">
            <a:avLst/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Текст"/>
          <p:cNvSpPr txBox="1"/>
          <p:nvPr/>
        </p:nvSpPr>
        <p:spPr>
          <a:xfrm>
            <a:off x="1417320" y="6583680"/>
            <a:ext cx="1632203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062D3F"/>
                </a:solidFill>
                <a:latin typeface="Circe Bold"/>
              </a:rPr>
              <a:t>НОЯБРЬСК, СУЩЕСТВУЮЩЕЕ ПОЛОЖЕНИЕ И ПРОГНОЗ К 2035 ГОДУ</a:t>
            </a:r>
          </a:p>
        </p:txBody>
      </p:sp>
      <p:sp>
        <p:nvSpPr>
          <p:cNvPr id="241" name="Текст"/>
          <p:cNvSpPr txBox="1"/>
          <p:nvPr/>
        </p:nvSpPr>
        <p:spPr>
          <a:xfrm>
            <a:off x="1417320" y="6986016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Валовой городской продукт по видам деятельности</a:t>
            </a:r>
          </a:p>
        </p:txBody>
      </p:sp>
      <p:sp>
        <p:nvSpPr>
          <p:cNvPr id="242" name="Текст"/>
          <p:cNvSpPr txBox="1"/>
          <p:nvPr/>
        </p:nvSpPr>
        <p:spPr>
          <a:xfrm>
            <a:off x="8412480" y="6986016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млрд руб.</a:t>
            </a:r>
          </a:p>
        </p:txBody>
      </p:sp>
      <p:sp>
        <p:nvSpPr>
          <p:cNvPr id="243" name="Текст"/>
          <p:cNvSpPr txBox="1"/>
          <p:nvPr/>
        </p:nvSpPr>
        <p:spPr>
          <a:xfrm>
            <a:off x="12252960" y="6986016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Значение по каждому виду деятельности</a:t>
            </a:r>
          </a:p>
        </p:txBody>
      </p:sp>
      <p:cxnSp>
        <p:nvCxnSpPr>
          <p:cNvPr id="244" name="Разделитель"/>
          <p:cNvCxnSpPr/>
          <p:nvPr/>
        </p:nvCxnSpPr>
        <p:spPr>
          <a:xfrm>
            <a:off x="1069848" y="7434072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45" name="Текст"/>
          <p:cNvSpPr txBox="1"/>
          <p:nvPr/>
        </p:nvSpPr>
        <p:spPr>
          <a:xfrm>
            <a:off x="1417320" y="7434072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Занятость по видам деятельности</a:t>
            </a:r>
          </a:p>
        </p:txBody>
      </p:sp>
      <p:sp>
        <p:nvSpPr>
          <p:cNvPr id="246" name="Текст"/>
          <p:cNvSpPr txBox="1"/>
          <p:nvPr/>
        </p:nvSpPr>
        <p:spPr>
          <a:xfrm>
            <a:off x="8412480" y="7434072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тыс. чел.</a:t>
            </a:r>
          </a:p>
        </p:txBody>
      </p:sp>
      <p:sp>
        <p:nvSpPr>
          <p:cNvPr id="247" name="Текст"/>
          <p:cNvSpPr txBox="1"/>
          <p:nvPr/>
        </p:nvSpPr>
        <p:spPr>
          <a:xfrm>
            <a:off x="12252960" y="7434072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Значение по каждому виду деятельности</a:t>
            </a:r>
          </a:p>
        </p:txBody>
      </p:sp>
      <p:cxnSp>
        <p:nvCxnSpPr>
          <p:cNvPr id="248" name="Разделитель"/>
          <p:cNvCxnSpPr/>
          <p:nvPr/>
        </p:nvCxnSpPr>
        <p:spPr>
          <a:xfrm>
            <a:off x="1069848" y="7882128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49" name="Текст"/>
          <p:cNvSpPr txBox="1"/>
          <p:nvPr/>
        </p:nvSpPr>
        <p:spPr>
          <a:xfrm>
            <a:off x="1417320" y="7882128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Структура ВГП и структура занятости</a:t>
            </a:r>
          </a:p>
        </p:txBody>
      </p:sp>
      <p:sp>
        <p:nvSpPr>
          <p:cNvPr id="250" name="Текст"/>
          <p:cNvSpPr txBox="1"/>
          <p:nvPr/>
        </p:nvSpPr>
        <p:spPr>
          <a:xfrm>
            <a:off x="8412480" y="7882128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%</a:t>
            </a:r>
          </a:p>
        </p:txBody>
      </p:sp>
      <p:sp>
        <p:nvSpPr>
          <p:cNvPr id="251" name="Текст"/>
          <p:cNvSpPr txBox="1"/>
          <p:nvPr/>
        </p:nvSpPr>
        <p:spPr>
          <a:xfrm>
            <a:off x="12252960" y="7882128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Доля вида деятельности в ВГП и в занятости</a:t>
            </a:r>
          </a:p>
        </p:txBody>
      </p:sp>
      <p:cxnSp>
        <p:nvCxnSpPr>
          <p:cNvPr id="252" name="Разделитель"/>
          <p:cNvCxnSpPr/>
          <p:nvPr/>
        </p:nvCxnSpPr>
        <p:spPr>
          <a:xfrm>
            <a:off x="1069848" y="8330184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53" name="Текст"/>
          <p:cNvSpPr txBox="1"/>
          <p:nvPr/>
        </p:nvSpPr>
        <p:spPr>
          <a:xfrm>
            <a:off x="1417320" y="8330184"/>
            <a:ext cx="67665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Производительность труда</a:t>
            </a:r>
          </a:p>
        </p:txBody>
      </p:sp>
      <p:sp>
        <p:nvSpPr>
          <p:cNvPr id="254" name="Текст"/>
          <p:cNvSpPr txBox="1"/>
          <p:nvPr/>
        </p:nvSpPr>
        <p:spPr>
          <a:xfrm>
            <a:off x="8412480" y="8330184"/>
            <a:ext cx="356616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млн руб. на 1 занятого</a:t>
            </a:r>
          </a:p>
        </p:txBody>
      </p:sp>
      <p:sp>
        <p:nvSpPr>
          <p:cNvPr id="255" name="Текст"/>
          <p:cNvSpPr txBox="1"/>
          <p:nvPr/>
        </p:nvSpPr>
        <p:spPr>
          <a:xfrm>
            <a:off x="12252960" y="8330184"/>
            <a:ext cx="530352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ВГП вида деятельности на одного занятого в нём</a:t>
            </a:r>
          </a:p>
        </p:txBody>
      </p:sp>
      <p:cxnSp>
        <p:nvCxnSpPr>
          <p:cNvPr id="256" name="Разделитель"/>
          <p:cNvCxnSpPr/>
          <p:nvPr/>
        </p:nvCxnSpPr>
        <p:spPr>
          <a:xfrm>
            <a:off x="1069848" y="8778240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57" name="Текст"/>
          <p:cNvSpPr txBox="1"/>
          <p:nvPr/>
        </p:nvSpPr>
        <p:spPr>
          <a:xfrm>
            <a:off x="1417320" y="8778240"/>
            <a:ext cx="676656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062D3F"/>
                </a:solidFill>
                <a:latin typeface="Circe Bold"/>
              </a:rPr>
              <a:t>Численность занятых и населения, доходы бюджета, валовая добавленная стоимость</a:t>
            </a:r>
          </a:p>
        </p:txBody>
      </p:sp>
      <p:sp>
        <p:nvSpPr>
          <p:cNvPr id="258" name="Текст"/>
          <p:cNvSpPr txBox="1"/>
          <p:nvPr/>
        </p:nvSpPr>
        <p:spPr>
          <a:xfrm>
            <a:off x="8412480" y="8778240"/>
            <a:ext cx="356616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5E6B73"/>
                </a:solidFill>
                <a:latin typeface="Circe"/>
              </a:rPr>
              <a:t>чел., млн руб., млрд руб.</a:t>
            </a:r>
          </a:p>
        </p:txBody>
      </p:sp>
      <p:sp>
        <p:nvSpPr>
          <p:cNvPr id="259" name="Текст"/>
          <p:cNvSpPr txBox="1"/>
          <p:nvPr/>
        </p:nvSpPr>
        <p:spPr>
          <a:xfrm>
            <a:off x="12252960" y="8778240"/>
            <a:ext cx="5303520" cy="722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solidFill>
                  <a:srgbClr val="062D3F"/>
                </a:solidFill>
                <a:latin typeface="Circe"/>
              </a:rPr>
              <a:t>Итоговые показатели территории и их изменение к 2035 году</a:t>
            </a:r>
          </a:p>
        </p:txBody>
      </p:sp>
      <p:cxnSp>
        <p:nvCxnSpPr>
          <p:cNvPr id="260" name="Разделитель"/>
          <p:cNvCxnSpPr/>
          <p:nvPr/>
        </p:nvCxnSpPr>
        <p:spPr>
          <a:xfrm>
            <a:off x="1069848" y="9500616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