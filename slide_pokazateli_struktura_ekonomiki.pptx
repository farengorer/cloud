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Единый перечень составлен по содержимому слайдов 25 и 26 презентации (Севастополь, Ноябрьск), без привязки к конкретным слайдам. Колонка источников данных не добавлена: в презентации они для этих слайдов не указаны, их нужно добавить после сверки (для Севастополя ВРП и занятость по видам деятельности обычно берутся из статистики Росстата).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2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ПОКАЗАТЕЛИ ДЛЯ АНАЛИЗА СТРУКТУРЫ ЭКОНОМИКИ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69330" y="146304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Занятость, продукт и производительность труда по видам деятельности и итоги по территории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sp>
        <p:nvSpPr>
          <p:cNvPr id="203" name="Заголовок колонки"/>
          <p:cNvSpPr txBox="1"/>
          <p:nvPr/>
        </p:nvSpPr>
        <p:spPr>
          <a:xfrm>
            <a:off x="1417320" y="2057400"/>
            <a:ext cx="6766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062D3F"/>
                </a:solidFill>
                <a:latin typeface="Circe Bold"/>
              </a:rPr>
              <a:t>ПОКАЗАТЕЛЬ</a:t>
            </a:r>
          </a:p>
        </p:txBody>
      </p:sp>
      <p:sp>
        <p:nvSpPr>
          <p:cNvPr id="204" name="Заголовок колонки"/>
          <p:cNvSpPr txBox="1"/>
          <p:nvPr/>
        </p:nvSpPr>
        <p:spPr>
          <a:xfrm>
            <a:off x="8412480" y="2057400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062D3F"/>
                </a:solidFill>
                <a:latin typeface="Circe Bold"/>
              </a:rPr>
              <a:t>ЕДИНИЦА</a:t>
            </a:r>
          </a:p>
        </p:txBody>
      </p:sp>
      <p:sp>
        <p:nvSpPr>
          <p:cNvPr id="205" name="Заголовок колонки"/>
          <p:cNvSpPr txBox="1"/>
          <p:nvPr/>
        </p:nvSpPr>
        <p:spPr>
          <a:xfrm>
            <a:off x="12252960" y="2057400"/>
            <a:ext cx="5303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062D3F"/>
                </a:solidFill>
                <a:latin typeface="Circe Bold"/>
              </a:rPr>
              <a:t>ЧТО ПОКАЗЫВАЕТ</a:t>
            </a:r>
          </a:p>
        </p:txBody>
      </p:sp>
      <p:cxnSp>
        <p:nvCxnSpPr>
          <p:cNvPr id="206" name="Линия заголовка"/>
          <p:cNvCxnSpPr/>
          <p:nvPr/>
        </p:nvCxnSpPr>
        <p:spPr>
          <a:xfrm>
            <a:off x="1069848" y="2514600"/>
            <a:ext cx="16870679" cy="0"/>
          </a:xfrm>
          <a:prstGeom prst="line">
            <a:avLst/>
          </a:prstGeom>
          <a:ln w="19050">
            <a:solidFill>
              <a:srgbClr val="062D3F"/>
            </a:solidFill>
          </a:ln>
        </p:spPr>
      </p:cxnSp>
      <p:sp>
        <p:nvSpPr>
          <p:cNvPr id="207" name="Текст"/>
          <p:cNvSpPr txBox="1"/>
          <p:nvPr/>
        </p:nvSpPr>
        <p:spPr>
          <a:xfrm>
            <a:off x="1417320" y="2624328"/>
            <a:ext cx="6766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>
                <a:solidFill>
                  <a:srgbClr val="062D3F"/>
                </a:solidFill>
                <a:latin typeface="Circe Bold"/>
              </a:rPr>
              <a:t>Занятость по видам деятельности</a:t>
            </a:r>
          </a:p>
        </p:txBody>
      </p:sp>
      <p:sp>
        <p:nvSpPr>
          <p:cNvPr id="208" name="Текст"/>
          <p:cNvSpPr txBox="1"/>
          <p:nvPr/>
        </p:nvSpPr>
        <p:spPr>
          <a:xfrm>
            <a:off x="8412480" y="2624328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E6B73"/>
                </a:solidFill>
                <a:latin typeface="Circe"/>
              </a:rPr>
              <a:t>% от числа занятых, тыс. чел.</a:t>
            </a:r>
          </a:p>
        </p:txBody>
      </p:sp>
      <p:sp>
        <p:nvSpPr>
          <p:cNvPr id="209" name="Текст"/>
          <p:cNvSpPr txBox="1"/>
          <p:nvPr/>
        </p:nvSpPr>
        <p:spPr>
          <a:xfrm>
            <a:off x="12252960" y="2624328"/>
            <a:ext cx="5303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Структура занятости по видам деятельности</a:t>
            </a:r>
          </a:p>
        </p:txBody>
      </p:sp>
      <p:cxnSp>
        <p:nvCxnSpPr>
          <p:cNvPr id="210" name="Разделитель"/>
          <p:cNvCxnSpPr/>
          <p:nvPr/>
        </p:nvCxnSpPr>
        <p:spPr>
          <a:xfrm>
            <a:off x="1069848" y="3282696"/>
            <a:ext cx="1687067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11" name="Текст"/>
          <p:cNvSpPr txBox="1"/>
          <p:nvPr/>
        </p:nvSpPr>
        <p:spPr>
          <a:xfrm>
            <a:off x="1417320" y="3282696"/>
            <a:ext cx="6766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>
                <a:solidFill>
                  <a:srgbClr val="062D3F"/>
                </a:solidFill>
                <a:latin typeface="Circe Bold"/>
              </a:rPr>
              <a:t>Валовой региональный (городской) продукт по видам деятельности</a:t>
            </a:r>
          </a:p>
        </p:txBody>
      </p:sp>
      <p:sp>
        <p:nvSpPr>
          <p:cNvPr id="212" name="Текст"/>
          <p:cNvSpPr txBox="1"/>
          <p:nvPr/>
        </p:nvSpPr>
        <p:spPr>
          <a:xfrm>
            <a:off x="8412480" y="3282696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E6B73"/>
                </a:solidFill>
                <a:latin typeface="Circe"/>
              </a:rPr>
              <a:t>% от общего объёма, млрд руб.</a:t>
            </a:r>
          </a:p>
        </p:txBody>
      </p:sp>
      <p:sp>
        <p:nvSpPr>
          <p:cNvPr id="213" name="Текст"/>
          <p:cNvSpPr txBox="1"/>
          <p:nvPr/>
        </p:nvSpPr>
        <p:spPr>
          <a:xfrm>
            <a:off x="12252960" y="3282696"/>
            <a:ext cx="5303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Структура продукта по тем же видам деятельности</a:t>
            </a:r>
          </a:p>
        </p:txBody>
      </p:sp>
      <p:cxnSp>
        <p:nvCxnSpPr>
          <p:cNvPr id="214" name="Разделитель"/>
          <p:cNvCxnSpPr/>
          <p:nvPr/>
        </p:nvCxnSpPr>
        <p:spPr>
          <a:xfrm>
            <a:off x="1069848" y="3941063"/>
            <a:ext cx="1687067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15" name="Текст"/>
          <p:cNvSpPr txBox="1"/>
          <p:nvPr/>
        </p:nvSpPr>
        <p:spPr>
          <a:xfrm>
            <a:off x="1417320" y="3941063"/>
            <a:ext cx="6766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>
                <a:solidFill>
                  <a:srgbClr val="062D3F"/>
                </a:solidFill>
                <a:latin typeface="Circe Bold"/>
              </a:rPr>
              <a:t>Производительность труда по видам деятельности</a:t>
            </a:r>
          </a:p>
        </p:txBody>
      </p:sp>
      <p:sp>
        <p:nvSpPr>
          <p:cNvPr id="216" name="Текст"/>
          <p:cNvSpPr txBox="1"/>
          <p:nvPr/>
        </p:nvSpPr>
        <p:spPr>
          <a:xfrm>
            <a:off x="8412480" y="3941063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E6B73"/>
                </a:solidFill>
                <a:latin typeface="Circe"/>
              </a:rPr>
              <a:t>тыс. руб. на 1 занятого</a:t>
            </a:r>
          </a:p>
        </p:txBody>
      </p:sp>
      <p:sp>
        <p:nvSpPr>
          <p:cNvPr id="217" name="Текст"/>
          <p:cNvSpPr txBox="1"/>
          <p:nvPr/>
        </p:nvSpPr>
        <p:spPr>
          <a:xfrm>
            <a:off x="12252960" y="3941063"/>
            <a:ext cx="5303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Продукт вида деятельности на одного занятого в нём</a:t>
            </a:r>
          </a:p>
        </p:txBody>
      </p:sp>
      <p:cxnSp>
        <p:nvCxnSpPr>
          <p:cNvPr id="218" name="Разделитель"/>
          <p:cNvCxnSpPr/>
          <p:nvPr/>
        </p:nvCxnSpPr>
        <p:spPr>
          <a:xfrm>
            <a:off x="1069848" y="4599431"/>
            <a:ext cx="1687067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19" name="Текст"/>
          <p:cNvSpPr txBox="1"/>
          <p:nvPr/>
        </p:nvSpPr>
        <p:spPr>
          <a:xfrm>
            <a:off x="1417320" y="4599431"/>
            <a:ext cx="6766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>
                <a:solidFill>
                  <a:srgbClr val="062D3F"/>
                </a:solidFill>
                <a:latin typeface="Circe Bold"/>
              </a:rPr>
              <a:t>Число занятых в экономике</a:t>
            </a:r>
          </a:p>
        </p:txBody>
      </p:sp>
      <p:sp>
        <p:nvSpPr>
          <p:cNvPr id="220" name="Текст"/>
          <p:cNvSpPr txBox="1"/>
          <p:nvPr/>
        </p:nvSpPr>
        <p:spPr>
          <a:xfrm>
            <a:off x="8412480" y="4599431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E6B73"/>
                </a:solidFill>
                <a:latin typeface="Circe"/>
              </a:rPr>
              <a:t>тыс. чел.</a:t>
            </a:r>
          </a:p>
        </p:txBody>
      </p:sp>
      <p:sp>
        <p:nvSpPr>
          <p:cNvPr id="221" name="Текст"/>
          <p:cNvSpPr txBox="1"/>
          <p:nvPr/>
        </p:nvSpPr>
        <p:spPr>
          <a:xfrm>
            <a:off x="12252960" y="4599431"/>
            <a:ext cx="5303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Значение за год и рост за период</a:t>
            </a:r>
          </a:p>
        </p:txBody>
      </p:sp>
      <p:cxnSp>
        <p:nvCxnSpPr>
          <p:cNvPr id="222" name="Разделитель"/>
          <p:cNvCxnSpPr/>
          <p:nvPr/>
        </p:nvCxnSpPr>
        <p:spPr>
          <a:xfrm>
            <a:off x="1069848" y="5257799"/>
            <a:ext cx="1687067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23" name="Текст"/>
          <p:cNvSpPr txBox="1"/>
          <p:nvPr/>
        </p:nvSpPr>
        <p:spPr>
          <a:xfrm>
            <a:off x="1417320" y="5257799"/>
            <a:ext cx="6766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>
                <a:solidFill>
                  <a:srgbClr val="062D3F"/>
                </a:solidFill>
                <a:latin typeface="Circe Bold"/>
              </a:rPr>
              <a:t>Уровень занятости</a:t>
            </a:r>
          </a:p>
        </p:txBody>
      </p:sp>
      <p:sp>
        <p:nvSpPr>
          <p:cNvPr id="224" name="Текст"/>
          <p:cNvSpPr txBox="1"/>
          <p:nvPr/>
        </p:nvSpPr>
        <p:spPr>
          <a:xfrm>
            <a:off x="8412480" y="5257799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E6B73"/>
                </a:solidFill>
                <a:latin typeface="Circe"/>
              </a:rPr>
              <a:t>%</a:t>
            </a:r>
          </a:p>
        </p:txBody>
      </p:sp>
      <p:sp>
        <p:nvSpPr>
          <p:cNvPr id="225" name="Текст"/>
          <p:cNvSpPr txBox="1"/>
          <p:nvPr/>
        </p:nvSpPr>
        <p:spPr>
          <a:xfrm>
            <a:off x="12252960" y="5257799"/>
            <a:ext cx="5303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Сравнение с показателем России</a:t>
            </a:r>
          </a:p>
        </p:txBody>
      </p:sp>
      <p:cxnSp>
        <p:nvCxnSpPr>
          <p:cNvPr id="226" name="Разделитель"/>
          <p:cNvCxnSpPr/>
          <p:nvPr/>
        </p:nvCxnSpPr>
        <p:spPr>
          <a:xfrm>
            <a:off x="1069848" y="5916167"/>
            <a:ext cx="1687067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27" name="Текст"/>
          <p:cNvSpPr txBox="1"/>
          <p:nvPr/>
        </p:nvSpPr>
        <p:spPr>
          <a:xfrm>
            <a:off x="1417320" y="5916167"/>
            <a:ext cx="6766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>
                <a:solidFill>
                  <a:srgbClr val="062D3F"/>
                </a:solidFill>
                <a:latin typeface="Circe Bold"/>
              </a:rPr>
              <a:t>Средняя производительность труда</a:t>
            </a:r>
          </a:p>
        </p:txBody>
      </p:sp>
      <p:sp>
        <p:nvSpPr>
          <p:cNvPr id="228" name="Текст"/>
          <p:cNvSpPr txBox="1"/>
          <p:nvPr/>
        </p:nvSpPr>
        <p:spPr>
          <a:xfrm>
            <a:off x="8412480" y="5916167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E6B73"/>
                </a:solidFill>
                <a:latin typeface="Circe"/>
              </a:rPr>
              <a:t>тыс. руб. на 1 работника</a:t>
            </a:r>
          </a:p>
        </p:txBody>
      </p:sp>
      <p:sp>
        <p:nvSpPr>
          <p:cNvPr id="229" name="Текст"/>
          <p:cNvSpPr txBox="1"/>
          <p:nvPr/>
        </p:nvSpPr>
        <p:spPr>
          <a:xfrm>
            <a:off x="12252960" y="5916167"/>
            <a:ext cx="5303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Сравнение с показателем России</a:t>
            </a:r>
          </a:p>
        </p:txBody>
      </p:sp>
      <p:cxnSp>
        <p:nvCxnSpPr>
          <p:cNvPr id="230" name="Разделитель"/>
          <p:cNvCxnSpPr/>
          <p:nvPr/>
        </p:nvCxnSpPr>
        <p:spPr>
          <a:xfrm>
            <a:off x="1069848" y="6574535"/>
            <a:ext cx="1687067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31" name="Текст"/>
          <p:cNvSpPr txBox="1"/>
          <p:nvPr/>
        </p:nvSpPr>
        <p:spPr>
          <a:xfrm>
            <a:off x="1417320" y="6574535"/>
            <a:ext cx="6766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>
                <a:solidFill>
                  <a:srgbClr val="062D3F"/>
                </a:solidFill>
                <a:latin typeface="Circe Bold"/>
              </a:rPr>
              <a:t>ВРП на душу населения</a:t>
            </a:r>
          </a:p>
        </p:txBody>
      </p:sp>
      <p:sp>
        <p:nvSpPr>
          <p:cNvPr id="232" name="Текст"/>
          <p:cNvSpPr txBox="1"/>
          <p:nvPr/>
        </p:nvSpPr>
        <p:spPr>
          <a:xfrm>
            <a:off x="8412480" y="6574535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E6B73"/>
                </a:solidFill>
                <a:latin typeface="Circe"/>
              </a:rPr>
              <a:t>тыс. руб.</a:t>
            </a:r>
          </a:p>
        </p:txBody>
      </p:sp>
      <p:sp>
        <p:nvSpPr>
          <p:cNvPr id="233" name="Текст"/>
          <p:cNvSpPr txBox="1"/>
          <p:nvPr/>
        </p:nvSpPr>
        <p:spPr>
          <a:xfrm>
            <a:off x="12252960" y="6574535"/>
            <a:ext cx="5303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Сравнение с показателем России</a:t>
            </a:r>
          </a:p>
        </p:txBody>
      </p:sp>
      <p:cxnSp>
        <p:nvCxnSpPr>
          <p:cNvPr id="234" name="Разделитель"/>
          <p:cNvCxnSpPr/>
          <p:nvPr/>
        </p:nvCxnSpPr>
        <p:spPr>
          <a:xfrm>
            <a:off x="1069848" y="7232903"/>
            <a:ext cx="1687067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35" name="Текст"/>
          <p:cNvSpPr txBox="1"/>
          <p:nvPr/>
        </p:nvSpPr>
        <p:spPr>
          <a:xfrm>
            <a:off x="1417320" y="7232903"/>
            <a:ext cx="6766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>
                <a:solidFill>
                  <a:srgbClr val="062D3F"/>
                </a:solidFill>
                <a:latin typeface="Circe Bold"/>
              </a:rPr>
              <a:t>Численность населения</a:t>
            </a:r>
          </a:p>
        </p:txBody>
      </p:sp>
      <p:sp>
        <p:nvSpPr>
          <p:cNvPr id="236" name="Текст"/>
          <p:cNvSpPr txBox="1"/>
          <p:nvPr/>
        </p:nvSpPr>
        <p:spPr>
          <a:xfrm>
            <a:off x="8412480" y="7232903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E6B73"/>
                </a:solidFill>
                <a:latin typeface="Circe"/>
              </a:rPr>
              <a:t>чел.</a:t>
            </a:r>
          </a:p>
        </p:txBody>
      </p:sp>
      <p:sp>
        <p:nvSpPr>
          <p:cNvPr id="237" name="Текст"/>
          <p:cNvSpPr txBox="1"/>
          <p:nvPr/>
        </p:nvSpPr>
        <p:spPr>
          <a:xfrm>
            <a:off x="12252960" y="7232903"/>
            <a:ext cx="5303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Значение за год и изменение к прогнозу</a:t>
            </a:r>
          </a:p>
        </p:txBody>
      </p:sp>
      <p:cxnSp>
        <p:nvCxnSpPr>
          <p:cNvPr id="238" name="Разделитель"/>
          <p:cNvCxnSpPr/>
          <p:nvPr/>
        </p:nvCxnSpPr>
        <p:spPr>
          <a:xfrm>
            <a:off x="1069848" y="7891271"/>
            <a:ext cx="1687067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39" name="Текст"/>
          <p:cNvSpPr txBox="1"/>
          <p:nvPr/>
        </p:nvSpPr>
        <p:spPr>
          <a:xfrm>
            <a:off x="1417320" y="7891271"/>
            <a:ext cx="6766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>
                <a:solidFill>
                  <a:srgbClr val="062D3F"/>
                </a:solidFill>
                <a:latin typeface="Circe Bold"/>
              </a:rPr>
              <a:t>Доходы бюджета</a:t>
            </a:r>
          </a:p>
        </p:txBody>
      </p:sp>
      <p:sp>
        <p:nvSpPr>
          <p:cNvPr id="240" name="Текст"/>
          <p:cNvSpPr txBox="1"/>
          <p:nvPr/>
        </p:nvSpPr>
        <p:spPr>
          <a:xfrm>
            <a:off x="8412480" y="7891271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E6B73"/>
                </a:solidFill>
                <a:latin typeface="Circe"/>
              </a:rPr>
              <a:t>млн руб.</a:t>
            </a:r>
          </a:p>
        </p:txBody>
      </p:sp>
      <p:sp>
        <p:nvSpPr>
          <p:cNvPr id="241" name="Текст"/>
          <p:cNvSpPr txBox="1"/>
          <p:nvPr/>
        </p:nvSpPr>
        <p:spPr>
          <a:xfrm>
            <a:off x="12252960" y="7891271"/>
            <a:ext cx="5303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Значение за год и изменение к прогнозу</a:t>
            </a:r>
          </a:p>
        </p:txBody>
      </p:sp>
      <p:cxnSp>
        <p:nvCxnSpPr>
          <p:cNvPr id="242" name="Разделитель"/>
          <p:cNvCxnSpPr/>
          <p:nvPr/>
        </p:nvCxnSpPr>
        <p:spPr>
          <a:xfrm>
            <a:off x="1069848" y="8549640"/>
            <a:ext cx="1687067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43" name="Текст"/>
          <p:cNvSpPr txBox="1"/>
          <p:nvPr/>
        </p:nvSpPr>
        <p:spPr>
          <a:xfrm>
            <a:off x="1417320" y="8549640"/>
            <a:ext cx="6766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>
                <a:solidFill>
                  <a:srgbClr val="062D3F"/>
                </a:solidFill>
                <a:latin typeface="Circe Bold"/>
              </a:rPr>
              <a:t>Валовая добавленная стоимость</a:t>
            </a:r>
          </a:p>
        </p:txBody>
      </p:sp>
      <p:sp>
        <p:nvSpPr>
          <p:cNvPr id="244" name="Текст"/>
          <p:cNvSpPr txBox="1"/>
          <p:nvPr/>
        </p:nvSpPr>
        <p:spPr>
          <a:xfrm>
            <a:off x="8412480" y="8549640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E6B73"/>
                </a:solidFill>
                <a:latin typeface="Circe"/>
              </a:rPr>
              <a:t>млрд руб.</a:t>
            </a:r>
          </a:p>
        </p:txBody>
      </p:sp>
      <p:sp>
        <p:nvSpPr>
          <p:cNvPr id="245" name="Текст"/>
          <p:cNvSpPr txBox="1"/>
          <p:nvPr/>
        </p:nvSpPr>
        <p:spPr>
          <a:xfrm>
            <a:off x="12252960" y="8549640"/>
            <a:ext cx="5303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Значение за год и изменение к прогнозу</a:t>
            </a:r>
          </a:p>
        </p:txBody>
      </p:sp>
      <p:cxnSp>
        <p:nvCxnSpPr>
          <p:cNvPr id="246" name="Разделитель"/>
          <p:cNvCxnSpPr/>
          <p:nvPr/>
        </p:nvCxnSpPr>
        <p:spPr>
          <a:xfrm>
            <a:off x="1069848" y="9208008"/>
            <a:ext cx="1687067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