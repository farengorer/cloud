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377" r:id="rId1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2A504"/>
    <a:srgbClr val="062D3F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>
        <p:scale>
          <a:sx n="75" d="100"/>
          <a:sy n="75" d="100"/>
        </p:scale>
        <p:origin x="654" y="-132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63.png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ТИПЫ СЕЛЬСКОЙ МЕСТНОСТИ РОССИИ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14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2200" b="0">
                <a:solidFill>
                  <a:srgbClr val="062D3F"/>
                </a:solidFill>
                <a:latin typeface="Circe"/>
              </a:rPr>
              <a:t>Сельское хозяйство смещается на юг, юго-запад и в пригороды. Нечерноземье и северная периферия сжимаются.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0" y="2286000"/>
            <a:ext cx="7425383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10515600" y="2505456"/>
            <a:ext cx="256032" cy="256032"/>
          </a:xfrm>
          <a:prstGeom prst="rect">
            <a:avLst/>
          </a:prstGeom>
          <a:solidFill>
            <a:srgbClr val="E8EDF0"/>
          </a:solidFill>
          <a:ln w="9525">
            <a:solidFill>
              <a:srgbClr val="B7CA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0" y="2423160"/>
            <a:ext cx="6968183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Северная периферия</a:t>
            </a:r>
          </a:p>
          <a:p>
            <a:pPr algn="l">
              <a:spcBef>
                <a:spcPts val="300"/>
              </a:spcBef>
            </a:pPr>
            <a:r>
              <a:rPr sz="1600" b="0">
                <a:solidFill>
                  <a:srgbClr val="222222"/>
                </a:solidFill>
                <a:latin typeface="Circe"/>
              </a:rPr>
              <a:t>Север европейской части, большая часть Сибири и Дальнего Востока. Очаговое расселение, меньше 1 чел./км², земледелие почти невозможно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0" y="3730752"/>
            <a:ext cx="742538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10515600" y="3950208"/>
            <a:ext cx="256032" cy="256032"/>
          </a:xfrm>
          <a:prstGeom prst="rect">
            <a:avLst/>
          </a:prstGeom>
          <a:solidFill>
            <a:srgbClr val="9DB4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0" y="3867912"/>
            <a:ext cx="6968183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Таёжная полоса</a:t>
            </a:r>
          </a:p>
          <a:p>
            <a:pPr algn="l">
              <a:spcBef>
                <a:spcPts val="300"/>
              </a:spcBef>
            </a:pPr>
            <a:r>
              <a:rPr sz="1600" b="0">
                <a:solidFill>
                  <a:srgbClr val="222222"/>
                </a:solidFill>
                <a:latin typeface="Circe"/>
              </a:rPr>
              <a:t>От Карелии и Коми до Дальнего Востока. Поселения тянутся вдоль рек и дорог, живут лесом, земледелие очаговое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0" y="5175504"/>
            <a:ext cx="742538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0515600" y="5394960"/>
            <a:ext cx="256032" cy="256032"/>
          </a:xfrm>
          <a:prstGeom prst="rect">
            <a:avLst/>
          </a:prstGeom>
          <a:solidFill>
            <a:srgbClr val="FCD36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0" y="5312664"/>
            <a:ext cx="6968183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Нечерноземье</a:t>
            </a:r>
          </a:p>
          <a:p>
            <a:pPr algn="l">
              <a:spcBef>
                <a:spcPts val="300"/>
              </a:spcBef>
            </a:pPr>
            <a:r>
              <a:rPr sz="1600" b="0">
                <a:solidFill>
                  <a:srgbClr val="222222"/>
                </a:solidFill>
                <a:latin typeface="Circe"/>
              </a:rPr>
              <a:t>Староосвоенные Центр и Северо-Запад, часть юга Дальнего Востока. Бедные почвы, низкая рентабельность, сильная убыль населения, держатся пригороды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0" y="6620256"/>
            <a:ext cx="742538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10515600" y="6839712"/>
            <a:ext cx="256032" cy="25603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972800" y="6757416"/>
            <a:ext cx="6968183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Черноземная и степная полоса</a:t>
            </a:r>
          </a:p>
          <a:p>
            <a:pPr algn="l">
              <a:spcBef>
                <a:spcPts val="300"/>
              </a:spcBef>
            </a:pPr>
            <a:r>
              <a:rPr sz="1600" b="0">
                <a:solidFill>
                  <a:srgbClr val="222222"/>
                </a:solidFill>
                <a:latin typeface="Circe"/>
              </a:rPr>
              <a:t>От Центрального Черноземья и Юга до степей Урала и Западной Сибири. Лучшие почвы, основное производство зерна, агрохолдинги, риск засух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15600" y="8065008"/>
            <a:ext cx="742538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10515600" y="8284464"/>
            <a:ext cx="256032" cy="256032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0" y="8202168"/>
            <a:ext cx="6968183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Национальные республики</a:t>
            </a:r>
          </a:p>
          <a:p>
            <a:pPr algn="l">
              <a:spcBef>
                <a:spcPts val="300"/>
              </a:spcBef>
            </a:pPr>
            <a:r>
              <a:rPr sz="1600" b="0">
                <a:solidFill>
                  <a:srgbClr val="222222"/>
                </a:solidFill>
                <a:latin typeface="Circe"/>
              </a:rPr>
              <a:t>Северный Кавказ и юг Сибири (Алтай, Тыва, Бурятия). Население моложе, на Северном Кавказе и в Тыве сохраняется естественный прирост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0" y="9509760"/>
            <a:ext cx="742538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1069330" y="9601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Схема по Т.Г. Нефедовой («Основные типы сельской местности»), дополнено новыми регионами</a:t>
            </a:r>
          </a:p>
        </p:txBody>
      </p:sp>
      <p:pic>
        <p:nvPicPr>
          <p:cNvPr id="32" name="Карта типов сельской местности" descr="types_map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90" y="2761488"/>
            <a:ext cx="9692640" cy="5339724"/>
          </a:xfrm>
          <a:prstGeom prst="rect">
            <a:avLst/>
          </a:prstGeom>
        </p:spPr>
      </p:pic>
      <p:cxnSp>
        <p:nvCxnSpPr>
          <p:cNvPr id="29" name="Connector 6">
            <a:extLst>
              <a:ext uri="{FF2B5EF4-FFF2-40B4-BE49-F238E27FC236}">
                <a16:creationId xmlns:a16="http://schemas.microsoft.com/office/drawing/2014/main" id="{5DE804D1-1664-49BE-AC1C-237C72FAE4EE}"/>
              </a:ext>
            </a:extLst>
          </p:cNvPr>
          <p:cNvCxnSpPr/>
          <p:nvPr/>
        </p:nvCxnSpPr>
        <p:spPr>
          <a:xfrm flipH="1">
            <a:off x="1480085" y="4762513"/>
            <a:ext cx="877162" cy="1041630"/>
          </a:xfrm>
          <a:prstGeom prst="line">
            <a:avLst/>
          </a:prstGeom>
          <a:ln w="63500">
            <a:solidFill>
              <a:srgbClr val="062D3F"/>
            </a:solidFill>
            <a:tailEnd type="triangle" w="med" len="med"/>
          </a:ln>
        </p:spPr>
      </p:cxnSp>
      <p:cxnSp>
        <p:nvCxnSpPr>
          <p:cNvPr id="30" name="Connector 7">
            <a:extLst>
              <a:ext uri="{FF2B5EF4-FFF2-40B4-BE49-F238E27FC236}">
                <a16:creationId xmlns:a16="http://schemas.microsoft.com/office/drawing/2014/main" id="{DB03C0A9-17F7-4408-ABA7-C74998C4BC36}"/>
              </a:ext>
            </a:extLst>
          </p:cNvPr>
          <p:cNvCxnSpPr/>
          <p:nvPr/>
        </p:nvCxnSpPr>
        <p:spPr>
          <a:xfrm flipH="1">
            <a:off x="2960296" y="5338151"/>
            <a:ext cx="411170" cy="822339"/>
          </a:xfrm>
          <a:prstGeom prst="line">
            <a:avLst/>
          </a:prstGeom>
          <a:ln w="63500">
            <a:solidFill>
              <a:srgbClr val="062D3F"/>
            </a:solidFill>
            <a:tailEnd type="triangle" w="med" len="med"/>
          </a:ln>
        </p:spPr>
      </p:cxnSp>
      <p:cxnSp>
        <p:nvCxnSpPr>
          <p:cNvPr id="31" name="Connector 8">
            <a:extLst>
              <a:ext uri="{FF2B5EF4-FFF2-40B4-BE49-F238E27FC236}">
                <a16:creationId xmlns:a16="http://schemas.microsoft.com/office/drawing/2014/main" id="{1DCECB5E-9467-4A59-8969-EA7EB8B2F4B8}"/>
              </a:ext>
            </a:extLst>
          </p:cNvPr>
          <p:cNvCxnSpPr/>
          <p:nvPr/>
        </p:nvCxnSpPr>
        <p:spPr>
          <a:xfrm flipH="1">
            <a:off x="4604975" y="6105668"/>
            <a:ext cx="301524" cy="685282"/>
          </a:xfrm>
          <a:prstGeom prst="line">
            <a:avLst/>
          </a:prstGeom>
          <a:ln w="63500">
            <a:solidFill>
              <a:srgbClr val="062D3F"/>
            </a:solidFill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3088</TotalTime>
  <Words>7447</Words>
  <Application>Microsoft Office PowerPoint</Application>
  <PresentationFormat>Произвольный</PresentationFormat>
  <Paragraphs>1788</Paragraphs>
  <Slides>51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9" baseType="lpstr">
      <vt:lpstr>Arial</vt:lpstr>
      <vt:lpstr>Calibri</vt:lpstr>
      <vt:lpstr>Century Gothic</vt:lpstr>
      <vt:lpstr>Circe</vt:lpstr>
      <vt:lpstr>Circe Bold</vt:lpstr>
      <vt:lpstr>Inter V Extra Bold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Шевцов Александр Александрович</cp:lastModifiedBy>
  <cp:revision>131</cp:revision>
  <cp:lastPrinted>2026-10-05T13:20:42Z</cp:lastPrinted>
  <dcterms:created xsi:type="dcterms:W3CDTF">2022-11-22T08:46:48Z</dcterms:created>
  <dcterms:modified xsi:type="dcterms:W3CDTF">2026-10-13T13:22:34Z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