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Перечень по тексту Указа № 529 от 18.06.2024 (приложение). Пункты 17 и 19 сокращены знаком (…); в пункте 6 исправлен перенос слова «нейротехнологии». Жёлтым выделены 13 технологий со слайда «Критические и сквозные технологии для села»: 1, 5, 7, 8, 9, 10, 14, 15, 19, 21, 22, 25, 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КРИТИЧЕСКИЕ И СКВОЗНЫЕ ТЕХНОЛОГИИ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46304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Указ № 529 от 18.06.2024: перечень важнейших наукоёмких технологий; жёлтым выделены технологии для села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Заголовок"/>
          <p:cNvSpPr/>
          <p:nvPr/>
        </p:nvSpPr>
        <p:spPr>
          <a:xfrm>
            <a:off x="1069848" y="2103120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ctr"/>
            <a:r>
              <a:rPr sz="2000" b="1">
                <a:solidFill>
                  <a:srgbClr val="062D3F"/>
                </a:solidFill>
                <a:latin typeface="Circe Bold"/>
              </a:rPr>
              <a:t>КРИТИЧЕСКИЕ ТЕХНОЛОГИИ (1–21)</a:t>
            </a:r>
          </a:p>
        </p:txBody>
      </p:sp>
      <p:sp>
        <p:nvSpPr>
          <p:cNvPr id="204" name="Технология 1"/>
          <p:cNvSpPr/>
          <p:nvPr/>
        </p:nvSpPr>
        <p:spPr>
          <a:xfrm>
            <a:off x="1069848" y="2647188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Технологии создания высокоэффективных систем генерации, распределения и хранения энергии (в том числе атомной).</a:t>
            </a:r>
          </a:p>
        </p:txBody>
      </p:sp>
      <p:sp>
        <p:nvSpPr>
          <p:cNvPr id="205" name="Номер 1"/>
          <p:cNvSpPr/>
          <p:nvPr/>
        </p:nvSpPr>
        <p:spPr>
          <a:xfrm>
            <a:off x="1161288" y="2715768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1</a:t>
            </a:r>
          </a:p>
        </p:txBody>
      </p:sp>
      <p:sp>
        <p:nvSpPr>
          <p:cNvPr id="206" name="Технология 2"/>
          <p:cNvSpPr/>
          <p:nvPr/>
        </p:nvSpPr>
        <p:spPr>
          <a:xfrm>
            <a:off x="1069848" y="3191256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Технологии создания энергетических систем с замкнутым топливным циклом.</a:t>
            </a:r>
          </a:p>
        </p:txBody>
      </p:sp>
      <p:sp>
        <p:nvSpPr>
          <p:cNvPr id="207" name="Номер 2"/>
          <p:cNvSpPr/>
          <p:nvPr/>
        </p:nvSpPr>
        <p:spPr>
          <a:xfrm>
            <a:off x="1161288" y="3259836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2</a:t>
            </a:r>
          </a:p>
        </p:txBody>
      </p:sp>
      <p:sp>
        <p:nvSpPr>
          <p:cNvPr id="208" name="Технология 3"/>
          <p:cNvSpPr/>
          <p:nvPr/>
        </p:nvSpPr>
        <p:spPr>
          <a:xfrm>
            <a:off x="1069848" y="3735324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Биомедицинские и когнитивные технологии здорового и активного долголетия.</a:t>
            </a:r>
          </a:p>
        </p:txBody>
      </p:sp>
      <p:sp>
        <p:nvSpPr>
          <p:cNvPr id="209" name="Номер 3"/>
          <p:cNvSpPr/>
          <p:nvPr/>
        </p:nvSpPr>
        <p:spPr>
          <a:xfrm>
            <a:off x="1161288" y="3803904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3</a:t>
            </a:r>
          </a:p>
        </p:txBody>
      </p:sp>
      <p:sp>
        <p:nvSpPr>
          <p:cNvPr id="210" name="Технология 4"/>
          <p:cNvSpPr/>
          <p:nvPr/>
        </p:nvSpPr>
        <p:spPr>
          <a:xfrm>
            <a:off x="1069848" y="4279392"/>
            <a:ext cx="5440680" cy="886968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Технологии разработки лекарственных средств и платформ нового поколения (биотехнологических, высокотехнологичных и радиофармацевтических лекарственных препаратов).</a:t>
            </a:r>
          </a:p>
        </p:txBody>
      </p:sp>
      <p:sp>
        <p:nvSpPr>
          <p:cNvPr id="211" name="Номер 4"/>
          <p:cNvSpPr/>
          <p:nvPr/>
        </p:nvSpPr>
        <p:spPr>
          <a:xfrm>
            <a:off x="1161288" y="4539996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4</a:t>
            </a:r>
          </a:p>
        </p:txBody>
      </p:sp>
      <p:sp>
        <p:nvSpPr>
          <p:cNvPr id="212" name="Технология 5"/>
          <p:cNvSpPr/>
          <p:nvPr/>
        </p:nvSpPr>
        <p:spPr>
          <a:xfrm>
            <a:off x="1069848" y="5207507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Технологии персонализированного, лечебного и функционального питания для здоровьесбережения.</a:t>
            </a:r>
          </a:p>
        </p:txBody>
      </p:sp>
      <p:sp>
        <p:nvSpPr>
          <p:cNvPr id="213" name="Номер 5"/>
          <p:cNvSpPr/>
          <p:nvPr/>
        </p:nvSpPr>
        <p:spPr>
          <a:xfrm>
            <a:off x="1161288" y="5276088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5</a:t>
            </a:r>
          </a:p>
        </p:txBody>
      </p:sp>
      <p:sp>
        <p:nvSpPr>
          <p:cNvPr id="214" name="Технология 6"/>
          <p:cNvSpPr/>
          <p:nvPr/>
        </p:nvSpPr>
        <p:spPr>
          <a:xfrm>
            <a:off x="1069848" y="5751575"/>
            <a:ext cx="5440680" cy="694944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Технологии разработки медицинских изделий нового поколения, включая биогибридные, бионические технологии и нейротехнологии.</a:t>
            </a:r>
          </a:p>
        </p:txBody>
      </p:sp>
      <p:sp>
        <p:nvSpPr>
          <p:cNvPr id="215" name="Номер 6"/>
          <p:cNvSpPr/>
          <p:nvPr/>
        </p:nvSpPr>
        <p:spPr>
          <a:xfrm>
            <a:off x="1161288" y="5916167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6</a:t>
            </a:r>
          </a:p>
        </p:txBody>
      </p:sp>
      <p:sp>
        <p:nvSpPr>
          <p:cNvPr id="216" name="Технология 7"/>
          <p:cNvSpPr/>
          <p:nvPr/>
        </p:nvSpPr>
        <p:spPr>
          <a:xfrm>
            <a:off x="1069848" y="6487667"/>
            <a:ext cx="5440680" cy="694944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Технологии повышения продуктивности (в том числе с помощью селекции) сельскохозяйственных животных и их устойчивости к заболеваниям.</a:t>
            </a:r>
          </a:p>
        </p:txBody>
      </p:sp>
      <p:sp>
        <p:nvSpPr>
          <p:cNvPr id="217" name="Номер 7"/>
          <p:cNvSpPr/>
          <p:nvPr/>
        </p:nvSpPr>
        <p:spPr>
          <a:xfrm>
            <a:off x="1161288" y="6652259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7</a:t>
            </a:r>
          </a:p>
        </p:txBody>
      </p:sp>
      <p:sp>
        <p:nvSpPr>
          <p:cNvPr id="218" name="Технология 8"/>
          <p:cNvSpPr/>
          <p:nvPr/>
        </p:nvSpPr>
        <p:spPr>
          <a:xfrm>
            <a:off x="1069848" y="7223759"/>
            <a:ext cx="5440680" cy="886968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Технологии разработки ветеринарных лекарственных средств нового поколения, в том числе для профилактики и лечения инфекционных заболеваний у сельскохозяйственных животных.</a:t>
            </a:r>
          </a:p>
        </p:txBody>
      </p:sp>
      <p:sp>
        <p:nvSpPr>
          <p:cNvPr id="219" name="Номер 8"/>
          <p:cNvSpPr/>
          <p:nvPr/>
        </p:nvSpPr>
        <p:spPr>
          <a:xfrm>
            <a:off x="1161288" y="7484363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8</a:t>
            </a:r>
          </a:p>
        </p:txBody>
      </p:sp>
      <p:sp>
        <p:nvSpPr>
          <p:cNvPr id="220" name="Технология 9"/>
          <p:cNvSpPr/>
          <p:nvPr/>
        </p:nvSpPr>
        <p:spPr>
          <a:xfrm>
            <a:off x="1069848" y="8151875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Технологии получения устойчивых к изменениям природной среды новых сортов и гибридов растений.</a:t>
            </a:r>
          </a:p>
        </p:txBody>
      </p:sp>
      <p:sp>
        <p:nvSpPr>
          <p:cNvPr id="221" name="Номер 9"/>
          <p:cNvSpPr/>
          <p:nvPr/>
        </p:nvSpPr>
        <p:spPr>
          <a:xfrm>
            <a:off x="1161288" y="8220455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9</a:t>
            </a:r>
          </a:p>
        </p:txBody>
      </p:sp>
      <p:sp>
        <p:nvSpPr>
          <p:cNvPr id="222" name="Технология 10"/>
          <p:cNvSpPr/>
          <p:nvPr/>
        </p:nvSpPr>
        <p:spPr>
          <a:xfrm>
            <a:off x="6784848" y="2103120"/>
            <a:ext cx="5440680" cy="886968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Технологии создания биологических и химических средств для повышения урожайности сельскохозяйственных культур и их защиты от болезней и вредных организмов (природного или искусственного происхождения).</a:t>
            </a:r>
          </a:p>
        </p:txBody>
      </p:sp>
      <p:sp>
        <p:nvSpPr>
          <p:cNvPr id="223" name="Номер 10"/>
          <p:cNvSpPr/>
          <p:nvPr/>
        </p:nvSpPr>
        <p:spPr>
          <a:xfrm>
            <a:off x="6876288" y="2363724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10</a:t>
            </a:r>
          </a:p>
        </p:txBody>
      </p:sp>
      <p:sp>
        <p:nvSpPr>
          <p:cNvPr id="224" name="Технология 11"/>
          <p:cNvSpPr/>
          <p:nvPr/>
        </p:nvSpPr>
        <p:spPr>
          <a:xfrm>
            <a:off x="6784848" y="3031235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Технологии микроэлектроники и фотоники для систем хранения, обработки, передачи и защиты информации.</a:t>
            </a:r>
          </a:p>
        </p:txBody>
      </p:sp>
      <p:sp>
        <p:nvSpPr>
          <p:cNvPr id="225" name="Номер 11"/>
          <p:cNvSpPr/>
          <p:nvPr/>
        </p:nvSpPr>
        <p:spPr>
          <a:xfrm>
            <a:off x="6876288" y="3099815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11</a:t>
            </a:r>
          </a:p>
        </p:txBody>
      </p:sp>
      <p:sp>
        <p:nvSpPr>
          <p:cNvPr id="226" name="Технология 12"/>
          <p:cNvSpPr/>
          <p:nvPr/>
        </p:nvSpPr>
        <p:spPr>
          <a:xfrm>
            <a:off x="6784848" y="3575303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Технологии защищенных квантовых систем передачи данных.</a:t>
            </a:r>
          </a:p>
        </p:txBody>
      </p:sp>
      <p:sp>
        <p:nvSpPr>
          <p:cNvPr id="227" name="Номер 12"/>
          <p:cNvSpPr/>
          <p:nvPr/>
        </p:nvSpPr>
        <p:spPr>
          <a:xfrm>
            <a:off x="6876288" y="3621023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12</a:t>
            </a:r>
          </a:p>
        </p:txBody>
      </p:sp>
      <p:sp>
        <p:nvSpPr>
          <p:cNvPr id="228" name="Технология 13"/>
          <p:cNvSpPr/>
          <p:nvPr/>
        </p:nvSpPr>
        <p:spPr>
          <a:xfrm>
            <a:off x="6784848" y="4073652"/>
            <a:ext cx="5440680" cy="886968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Технологии создания доверенного и защищенного системного и прикладного программного обеспечения, в том числе для управления социальными и экономически значимыми системами.</a:t>
            </a:r>
          </a:p>
        </p:txBody>
      </p:sp>
      <p:sp>
        <p:nvSpPr>
          <p:cNvPr id="229" name="Номер 13"/>
          <p:cNvSpPr/>
          <p:nvPr/>
        </p:nvSpPr>
        <p:spPr>
          <a:xfrm>
            <a:off x="6876288" y="4334256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13</a:t>
            </a:r>
          </a:p>
        </p:txBody>
      </p:sp>
      <p:sp>
        <p:nvSpPr>
          <p:cNvPr id="230" name="Технология 14"/>
          <p:cNvSpPr/>
          <p:nvPr/>
        </p:nvSpPr>
        <p:spPr>
          <a:xfrm>
            <a:off x="6784848" y="5001768"/>
            <a:ext cx="5440680" cy="694944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Транспортные технологии для различных сфер применения (море, земля, воздух), в том числе беспилотные и автономные системы.</a:t>
            </a:r>
          </a:p>
        </p:txBody>
      </p:sp>
      <p:sp>
        <p:nvSpPr>
          <p:cNvPr id="231" name="Номер 14"/>
          <p:cNvSpPr/>
          <p:nvPr/>
        </p:nvSpPr>
        <p:spPr>
          <a:xfrm>
            <a:off x="6876288" y="5166359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14</a:t>
            </a:r>
          </a:p>
        </p:txBody>
      </p:sp>
      <p:sp>
        <p:nvSpPr>
          <p:cNvPr id="232" name="Технология 15"/>
          <p:cNvSpPr/>
          <p:nvPr/>
        </p:nvSpPr>
        <p:spPr>
          <a:xfrm>
            <a:off x="6784848" y="5737859"/>
            <a:ext cx="5440680" cy="694944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Технологии космического приборостроения для развития современных систем связи, навигации и дистанционного зондирования Земли.</a:t>
            </a:r>
          </a:p>
        </p:txBody>
      </p:sp>
      <p:sp>
        <p:nvSpPr>
          <p:cNvPr id="233" name="Номер 15"/>
          <p:cNvSpPr/>
          <p:nvPr/>
        </p:nvSpPr>
        <p:spPr>
          <a:xfrm>
            <a:off x="6876288" y="5902451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15</a:t>
            </a:r>
          </a:p>
        </p:txBody>
      </p:sp>
      <p:sp>
        <p:nvSpPr>
          <p:cNvPr id="234" name="Технология 16"/>
          <p:cNvSpPr/>
          <p:nvPr/>
        </p:nvSpPr>
        <p:spPr>
          <a:xfrm>
            <a:off x="6784848" y="6473951"/>
            <a:ext cx="5440680" cy="694944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Технологии системного анализа и прогноза социально-экономического развития и безопасности Российской Федерации в формирующемся миропорядке.</a:t>
            </a:r>
          </a:p>
        </p:txBody>
      </p:sp>
      <p:sp>
        <p:nvSpPr>
          <p:cNvPr id="235" name="Номер 16"/>
          <p:cNvSpPr/>
          <p:nvPr/>
        </p:nvSpPr>
        <p:spPr>
          <a:xfrm>
            <a:off x="6876288" y="6638543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16</a:t>
            </a:r>
          </a:p>
        </p:txBody>
      </p:sp>
      <p:sp>
        <p:nvSpPr>
          <p:cNvPr id="236" name="Технология 17"/>
          <p:cNvSpPr/>
          <p:nvPr/>
        </p:nvSpPr>
        <p:spPr>
          <a:xfrm>
            <a:off x="6784848" y="7210043"/>
            <a:ext cx="5440680" cy="694944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Современный инструментарий исследования и укрепления цивилизационных основ и традиционных духовно-нравственных ценностей российского общества (…).</a:t>
            </a:r>
          </a:p>
        </p:txBody>
      </p:sp>
      <p:sp>
        <p:nvSpPr>
          <p:cNvPr id="237" name="Номер 17"/>
          <p:cNvSpPr/>
          <p:nvPr/>
        </p:nvSpPr>
        <p:spPr>
          <a:xfrm>
            <a:off x="6876288" y="7374636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17</a:t>
            </a:r>
          </a:p>
        </p:txBody>
      </p:sp>
      <p:sp>
        <p:nvSpPr>
          <p:cNvPr id="238" name="Технология 18"/>
          <p:cNvSpPr/>
          <p:nvPr/>
        </p:nvSpPr>
        <p:spPr>
          <a:xfrm>
            <a:off x="6784848" y="7946136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Социально-психологические технологии формирования и развития общественных и межнациональных отношений.</a:t>
            </a:r>
          </a:p>
        </p:txBody>
      </p:sp>
      <p:sp>
        <p:nvSpPr>
          <p:cNvPr id="239" name="Номер 18"/>
          <p:cNvSpPr/>
          <p:nvPr/>
        </p:nvSpPr>
        <p:spPr>
          <a:xfrm>
            <a:off x="6876288" y="8014715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18</a:t>
            </a:r>
          </a:p>
        </p:txBody>
      </p:sp>
      <p:sp>
        <p:nvSpPr>
          <p:cNvPr id="240" name="Технология 19"/>
          <p:cNvSpPr/>
          <p:nvPr/>
        </p:nvSpPr>
        <p:spPr>
          <a:xfrm>
            <a:off x="12499848" y="2103120"/>
            <a:ext cx="5440680" cy="886968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Мониторинг и прогнозирование состояния окружающей среды и изменения климата (…), технологии предупреждения и снижения рисков чрезвычайных ситуаций природного и техногенного характера (…).</a:t>
            </a:r>
          </a:p>
        </p:txBody>
      </p:sp>
      <p:sp>
        <p:nvSpPr>
          <p:cNvPr id="241" name="Номер 19"/>
          <p:cNvSpPr/>
          <p:nvPr/>
        </p:nvSpPr>
        <p:spPr>
          <a:xfrm>
            <a:off x="12591288" y="2363724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19</a:t>
            </a:r>
          </a:p>
        </p:txBody>
      </p:sp>
      <p:sp>
        <p:nvSpPr>
          <p:cNvPr id="242" name="Технология 20"/>
          <p:cNvSpPr/>
          <p:nvPr/>
        </p:nvSpPr>
        <p:spPr>
          <a:xfrm>
            <a:off x="12499848" y="3031235"/>
            <a:ext cx="5440680" cy="694944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Экологически чистые технологии эффективной добычи и глубокой переработки стратегических и дефицитных видов полезных ископаемых.</a:t>
            </a:r>
          </a:p>
        </p:txBody>
      </p:sp>
      <p:sp>
        <p:nvSpPr>
          <p:cNvPr id="243" name="Номер 20"/>
          <p:cNvSpPr/>
          <p:nvPr/>
        </p:nvSpPr>
        <p:spPr>
          <a:xfrm>
            <a:off x="12591288" y="3195827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20</a:t>
            </a:r>
          </a:p>
        </p:txBody>
      </p:sp>
      <p:sp>
        <p:nvSpPr>
          <p:cNvPr id="244" name="Технология 21"/>
          <p:cNvSpPr/>
          <p:nvPr/>
        </p:nvSpPr>
        <p:spPr>
          <a:xfrm>
            <a:off x="12499848" y="3767327"/>
            <a:ext cx="5440680" cy="694944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Технологии сохранения биологического разнообразия и борьбы с чужеродными (инвазивными) видами животных, растений и микроорганизмов.</a:t>
            </a:r>
          </a:p>
        </p:txBody>
      </p:sp>
      <p:sp>
        <p:nvSpPr>
          <p:cNvPr id="245" name="Номер 21"/>
          <p:cNvSpPr/>
          <p:nvPr/>
        </p:nvSpPr>
        <p:spPr>
          <a:xfrm>
            <a:off x="12591288" y="3931919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21</a:t>
            </a:r>
          </a:p>
        </p:txBody>
      </p:sp>
      <p:sp>
        <p:nvSpPr>
          <p:cNvPr id="246" name="Заголовок"/>
          <p:cNvSpPr/>
          <p:nvPr/>
        </p:nvSpPr>
        <p:spPr>
          <a:xfrm>
            <a:off x="12499848" y="4503419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ctr"/>
            <a:r>
              <a:rPr sz="2000" b="1">
                <a:solidFill>
                  <a:srgbClr val="062D3F"/>
                </a:solidFill>
                <a:latin typeface="Circe Bold"/>
              </a:rPr>
              <a:t>СКВОЗНЫЕ ТЕХНОЛОГИИ (22–28)</a:t>
            </a:r>
          </a:p>
        </p:txBody>
      </p:sp>
      <p:sp>
        <p:nvSpPr>
          <p:cNvPr id="247" name="Технология 22"/>
          <p:cNvSpPr/>
          <p:nvPr/>
        </p:nvSpPr>
        <p:spPr>
          <a:xfrm>
            <a:off x="12499848" y="5047487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Технологии, основанные на методах синтетической биологии и генной инженерии.</a:t>
            </a:r>
          </a:p>
        </p:txBody>
      </p:sp>
      <p:sp>
        <p:nvSpPr>
          <p:cNvPr id="248" name="Номер 22"/>
          <p:cNvSpPr/>
          <p:nvPr/>
        </p:nvSpPr>
        <p:spPr>
          <a:xfrm>
            <a:off x="12591288" y="5116067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22</a:t>
            </a:r>
          </a:p>
        </p:txBody>
      </p:sp>
      <p:sp>
        <p:nvSpPr>
          <p:cNvPr id="249" name="Технология 23"/>
          <p:cNvSpPr/>
          <p:nvPr/>
        </p:nvSpPr>
        <p:spPr>
          <a:xfrm>
            <a:off x="12499848" y="5591555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Технологии создания новых материалов с заданными свойствами и эксплуатационными характеристиками.</a:t>
            </a:r>
          </a:p>
        </p:txBody>
      </p:sp>
      <p:sp>
        <p:nvSpPr>
          <p:cNvPr id="250" name="Номер 23"/>
          <p:cNvSpPr/>
          <p:nvPr/>
        </p:nvSpPr>
        <p:spPr>
          <a:xfrm>
            <a:off x="12591288" y="5660135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23</a:t>
            </a:r>
          </a:p>
        </p:txBody>
      </p:sp>
      <p:sp>
        <p:nvSpPr>
          <p:cNvPr id="251" name="Технология 24"/>
          <p:cNvSpPr/>
          <p:nvPr/>
        </p:nvSpPr>
        <p:spPr>
          <a:xfrm>
            <a:off x="12499848" y="6135623"/>
            <a:ext cx="5440680" cy="694944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Технологии производства малотоннажной химической продукции, включая особо чистые вещества, для фармацевтики, энергетики и микроэлектроники.</a:t>
            </a:r>
          </a:p>
        </p:txBody>
      </p:sp>
      <p:sp>
        <p:nvSpPr>
          <p:cNvPr id="252" name="Номер 24"/>
          <p:cNvSpPr/>
          <p:nvPr/>
        </p:nvSpPr>
        <p:spPr>
          <a:xfrm>
            <a:off x="12591288" y="6300215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24</a:t>
            </a:r>
          </a:p>
        </p:txBody>
      </p:sp>
      <p:sp>
        <p:nvSpPr>
          <p:cNvPr id="253" name="Технология 25"/>
          <p:cNvSpPr/>
          <p:nvPr/>
        </p:nvSpPr>
        <p:spPr>
          <a:xfrm>
            <a:off x="12499848" y="6871715"/>
            <a:ext cx="5440680" cy="694944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Технологии искусственного интеллекта в отраслях экономики, социальной сферы (включая сферу общественной безопасности) и в органах публичной власти.</a:t>
            </a:r>
          </a:p>
        </p:txBody>
      </p:sp>
      <p:sp>
        <p:nvSpPr>
          <p:cNvPr id="254" name="Номер 25"/>
          <p:cNvSpPr/>
          <p:nvPr/>
        </p:nvSpPr>
        <p:spPr>
          <a:xfrm>
            <a:off x="12591288" y="7036307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25</a:t>
            </a:r>
          </a:p>
        </p:txBody>
      </p:sp>
      <p:sp>
        <p:nvSpPr>
          <p:cNvPr id="255" name="Технология 26"/>
          <p:cNvSpPr/>
          <p:nvPr/>
        </p:nvSpPr>
        <p:spPr>
          <a:xfrm>
            <a:off x="12499848" y="7607807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Технологии создания отечественных средств производства и научного приборостроения.</a:t>
            </a:r>
          </a:p>
        </p:txBody>
      </p:sp>
      <p:sp>
        <p:nvSpPr>
          <p:cNvPr id="256" name="Номер 26"/>
          <p:cNvSpPr/>
          <p:nvPr/>
        </p:nvSpPr>
        <p:spPr>
          <a:xfrm>
            <a:off x="12591288" y="7676387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26</a:t>
            </a:r>
          </a:p>
        </p:txBody>
      </p:sp>
      <p:sp>
        <p:nvSpPr>
          <p:cNvPr id="257" name="Технология 27"/>
          <p:cNvSpPr/>
          <p:nvPr/>
        </p:nvSpPr>
        <p:spPr>
          <a:xfrm>
            <a:off x="12499848" y="8151875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Природоподобные технологии.</a:t>
            </a:r>
          </a:p>
        </p:txBody>
      </p:sp>
      <p:sp>
        <p:nvSpPr>
          <p:cNvPr id="258" name="Номер 27"/>
          <p:cNvSpPr/>
          <p:nvPr/>
        </p:nvSpPr>
        <p:spPr>
          <a:xfrm>
            <a:off x="12591288" y="8197596"/>
            <a:ext cx="365760" cy="365760"/>
          </a:xfrm>
          <a:prstGeom prst="ellipse">
            <a:avLst/>
          </a:prstGeom>
          <a:solidFill>
            <a:srgbClr val="D9DEE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5E6B73"/>
                </a:solidFill>
                <a:latin typeface="Circe Bold"/>
              </a:rPr>
              <a:t>27</a:t>
            </a:r>
          </a:p>
        </p:txBody>
      </p:sp>
      <p:sp>
        <p:nvSpPr>
          <p:cNvPr id="259" name="Технология 28"/>
          <p:cNvSpPr/>
          <p:nvPr/>
        </p:nvSpPr>
        <p:spPr>
          <a:xfrm>
            <a:off x="12499848" y="8650224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566928" rIns="137160" tIns="0" bIns="0"/>
          <a:lstStyle/>
          <a:p>
            <a:pPr algn="l"/>
            <a:r>
              <a:rPr sz="1300" b="0">
                <a:solidFill>
                  <a:srgbClr val="062D3F"/>
                </a:solidFill>
                <a:latin typeface="Circe"/>
              </a:rPr>
              <a:t>Биотехнологии в отраслях экономики.</a:t>
            </a:r>
          </a:p>
        </p:txBody>
      </p:sp>
      <p:sp>
        <p:nvSpPr>
          <p:cNvPr id="260" name="Номер 28"/>
          <p:cNvSpPr/>
          <p:nvPr/>
        </p:nvSpPr>
        <p:spPr>
          <a:xfrm>
            <a:off x="12591288" y="8695944"/>
            <a:ext cx="365760" cy="3657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28</a:t>
            </a:r>
          </a:p>
        </p:txBody>
      </p:sp>
      <p:sp>
        <p:nvSpPr>
          <p:cNvPr id="203" name="Rectangle 28"/>
          <p:cNvSpPr/>
          <p:nvPr/>
        </p:nvSpPr>
        <p:spPr>
          <a:xfrm>
            <a:off x="1069330" y="9217151"/>
            <a:ext cx="1687165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400" b="0" dirty="0" err="1">
                <a:solidFill>
                  <a:srgbClr val="5E6B73"/>
                </a:solidFill>
                <a:latin typeface="Circe"/>
              </a:rPr>
              <a:t>Источник: Указ Президента РФ от 18.06.2024 № 529, перечень важнейших наукоёмких технологий. (…) — формулировка сокращена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